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 sentence, then stop. Say: every agency in this country already has weather data. Nobody turns it into who gets sick, where, and when. That gap is the whole product.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number, not the adjective. 6.7 million cases, 11,635 deaths, one year, one country. Then turn it: all of it follows weather we can already see, and it arrives weeks late. That lag is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strongest slide. Read the left column flatly, the right column with weight. Then the line: we do not warn people about the weather, we warn them about what it is about to do to their children. If a judge calls it fear-mongering, the answer is already on the slide: fear without an action backfires, so every warning ends in one thing to do tonight.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doors, one engine. Then the bottom line, which is your credibility: deterministic rules from published thresholds, reproducible and explainable. The AI is a translator, not a decider. Say that sentence exactly.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51 of 260, then at the map, then at the second screenshot and say: same engine, same districts, different question. An air quality officer should not have to hunt for air quality.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said institutional integration was unproven. This is the answer: a named role, a permission model, an append-only trail, and the citizen sees it close. End on the line about trusting their own officer.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seconds. Point at the Twi screen last: it tells the reader that their phone cannot read Twi aloud yet and that the wording is awaiting review by a Twi speaker. Nobody else in this room will show a screen admitting its limits.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flagged USSD and SMS as not implemented. These are real screenshots of a real dial-through on Africa's Talking. Say the three-in-ten number, then point at the last screen: that is the same engine output, on a phone with no internet.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answers on one slide. First: cash removed, nothing to fund or regulate. Second, which is the adoption question every judge asks: 44% have no active cover, and the loop pays in exactly the thing they are going without. That is the wedge, not a gimmick.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each criticism out loud before its answer. Judges remember being listened to. Then the ask, and stop talking. Naming the one thing you cannot do alone reads as confidence and gives them something concrete to say yes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lines and stop. Let the numbers sit. Backup slide has every source if they ask where a figure came from.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this. It exists so that when a judge asks where a number came from you turn one page and answer. Volunteering the DHIMS2 gap before being asked reads as confident; being caught without it reads as careless.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10058400" cy="2560320"/>
          </a:xfrm>
          <a:prstGeom prst="rect">
            <a:avLst/>
          </a:prstGeom>
          <a:noFill/>
        </p:spPr>
        <p:txBody>
          <a:bodyPr wrap="square">
            <a:spAutoFit/>
          </a:bodyPr>
          <a:lstStyle/>
          <a:p>
            <a:pPr algn="l">
              <a:spcAft>
                <a:spcPts val="2000"/>
              </a:spcAft>
            </a:pPr>
            <a:r>
              <a:rPr sz="1200" b="1" spc="240">
                <a:solidFill>
                  <a:srgbClr val="0E6E63"/>
                </a:solidFill>
                <a:latin typeface="Helvetica Neue"/>
              </a:rPr>
              <a:t>CLIMAHEALTH PREDICT</a:t>
            </a:r>
          </a:p>
          <a:p>
            <a:pPr>
              <a:lnSpc>
                <a:spcPct val="106000"/>
              </a:lnSpc>
              <a:spcAft>
                <a:spcPts val="200"/>
              </a:spcAft>
            </a:pPr>
            <a:r>
              <a:rPr sz="4400" b="0">
                <a:solidFill>
                  <a:srgbClr val="1A1D1B"/>
                </a:solidFill>
                <a:latin typeface="Georgia"/>
              </a:rPr>
              <a:t>Ghana knows the weather.</a:t>
            </a:r>
          </a:p>
          <a:p>
            <a:pPr>
              <a:lnSpc>
                <a:spcPct val="106000"/>
              </a:lnSpc>
              <a:spcAft>
                <a:spcPts val="200"/>
              </a:spcAft>
            </a:pPr>
            <a:r>
              <a:rPr sz="4400" b="0">
                <a:solidFill>
                  <a:srgbClr val="1A1D1B"/>
                </a:solidFill>
                <a:latin typeface="Georgia"/>
              </a:rPr>
              <a:t>It does not yet know what the weather</a:t>
            </a:r>
          </a:p>
          <a:p>
            <a:pPr>
              <a:lnSpc>
                <a:spcPct val="106000"/>
              </a:lnSpc>
              <a:spcAft>
                <a:spcPts val="0"/>
              </a:spcAft>
            </a:pPr>
            <a:r>
              <a:rPr sz="4400" b="0">
                <a:solidFill>
                  <a:srgbClr val="0E6E63"/>
                </a:solidFill>
                <a:latin typeface="Georgia"/>
              </a:rPr>
              <a:t>is about to do to people.</a:t>
            </a:r>
          </a:p>
        </p:txBody>
      </p:sp>
      <p:sp>
        <p:nvSpPr>
          <p:cNvPr id="5" name="Rectangle 4"/>
          <p:cNvSpPr/>
          <p:nvPr/>
        </p:nvSpPr>
        <p:spPr>
          <a:xfrm>
            <a:off x="1188720" y="4800600"/>
            <a:ext cx="10058400"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5029200"/>
            <a:ext cx="10058400" cy="914400"/>
          </a:xfrm>
          <a:prstGeom prst="rect">
            <a:avLst/>
          </a:prstGeom>
          <a:noFill/>
        </p:spPr>
        <p:txBody>
          <a:bodyPr wrap="square">
            <a:spAutoFit/>
          </a:bodyPr>
          <a:lstStyle/>
          <a:p>
            <a:pPr algn="l">
              <a:spcAft>
                <a:spcPts val="800"/>
              </a:spcAft>
            </a:pPr>
            <a:r>
              <a:rPr sz="1500" b="0">
                <a:solidFill>
                  <a:srgbClr val="6F6D66"/>
                </a:solidFill>
                <a:latin typeface="Helvetica Neue"/>
              </a:rPr>
              <a:t>A climate-health early-warning platform. It turns today's climate into a ranked, explained health warning for the weeks ahead.</a:t>
            </a:r>
          </a:p>
          <a:p>
            <a:pPr>
              <a:spcAft>
                <a:spcPts val="0"/>
              </a:spcAft>
            </a:pPr>
            <a:r>
              <a:rPr sz="1100" b="1" spc="180">
                <a:solidFill>
                  <a:srgbClr val="A8A59E"/>
                </a:solidFill>
                <a:latin typeface="Helvetica Neue"/>
              </a:rPr>
              <a:t>GREENRES HACKATHON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02</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THE PROBLEM</a:t>
            </a:r>
          </a:p>
        </p:txBody>
      </p:sp>
      <p:sp>
        <p:nvSpPr>
          <p:cNvPr id="6" name="TextBox 5"/>
          <p:cNvSpPr txBox="1"/>
          <p:nvPr/>
        </p:nvSpPr>
        <p:spPr>
          <a:xfrm>
            <a:off x="777240" y="960120"/>
            <a:ext cx="10607040" cy="822960"/>
          </a:xfrm>
          <a:prstGeom prst="rect">
            <a:avLst/>
          </a:prstGeom>
          <a:noFill/>
        </p:spPr>
        <p:txBody>
          <a:bodyPr wrap="square">
            <a:spAutoFit/>
          </a:bodyPr>
          <a:lstStyle/>
          <a:p>
            <a:pPr algn="l">
              <a:spcAft>
                <a:spcPts val="800"/>
              </a:spcAft>
            </a:pPr>
            <a:r>
              <a:rPr sz="3000" b="0">
                <a:solidFill>
                  <a:srgbClr val="1A1D1B"/>
                </a:solidFill>
                <a:latin typeface="Georgia"/>
              </a:rPr>
              <a:t>Climate-driven disease is Ghana's largest health burden.</a:t>
            </a:r>
          </a:p>
          <a:p>
            <a:pPr>
              <a:lnSpc>
                <a:spcPct val="140000"/>
              </a:lnSpc>
              <a:spcAft>
                <a:spcPts val="0"/>
              </a:spcAft>
            </a:pPr>
            <a:r>
              <a:rPr sz="1500" b="0">
                <a:solidFill>
                  <a:srgbClr val="6F6D66"/>
                </a:solidFill>
                <a:latin typeface="Helvetica Neue"/>
              </a:rPr>
              <a:t>Ghana is one of the 15 highest-burden malaria countries in the world. Cholera, meningitis and heat illness track the weather just as closely.</a:t>
            </a:r>
          </a:p>
        </p:txBody>
      </p:sp>
      <p:sp>
        <p:nvSpPr>
          <p:cNvPr id="7" name="Rectangle 6"/>
          <p:cNvSpPr/>
          <p:nvPr/>
        </p:nvSpPr>
        <p:spPr>
          <a:xfrm>
            <a:off x="777240" y="2148840"/>
            <a:ext cx="5120640" cy="1828800"/>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377440"/>
            <a:ext cx="4572000" cy="1463040"/>
          </a:xfrm>
          <a:prstGeom prst="rect">
            <a:avLst/>
          </a:prstGeom>
          <a:noFill/>
        </p:spPr>
        <p:txBody>
          <a:bodyPr wrap="square">
            <a:spAutoFit/>
          </a:bodyPr>
          <a:lstStyle/>
          <a:p>
            <a:pPr algn="l">
              <a:spcAft>
                <a:spcPts val="400"/>
              </a:spcAft>
            </a:pPr>
            <a:r>
              <a:rPr sz="3600" b="0">
                <a:solidFill>
                  <a:srgbClr val="A32118"/>
                </a:solidFill>
                <a:latin typeface="Georgia"/>
              </a:rPr>
              <a:t>6.7 million</a:t>
            </a:r>
          </a:p>
          <a:p>
            <a:pPr>
              <a:lnSpc>
                <a:spcPct val="130000"/>
              </a:lnSpc>
              <a:spcAft>
                <a:spcPts val="400"/>
              </a:spcAft>
            </a:pPr>
            <a:r>
              <a:rPr sz="1500" b="1">
                <a:solidFill>
                  <a:srgbClr val="1A1D1B"/>
                </a:solidFill>
                <a:latin typeface="Helvetica Neue"/>
              </a:rPr>
              <a:t>malaria cases in Ghana in 2024, and 11,635 deaths.</a:t>
            </a:r>
          </a:p>
          <a:p>
            <a:pPr>
              <a:spcAft>
                <a:spcPts val="0"/>
              </a:spcAft>
            </a:pPr>
            <a:r>
              <a:rPr sz="1100" b="0">
                <a:solidFill>
                  <a:srgbClr val="A8A59E"/>
                </a:solidFill>
                <a:latin typeface="Helvetica Neue"/>
              </a:rPr>
              <a:t>WHO, World Malaria Report 2024</a:t>
            </a:r>
          </a:p>
        </p:txBody>
      </p:sp>
      <p:sp>
        <p:nvSpPr>
          <p:cNvPr id="9" name="TextBox 8"/>
          <p:cNvSpPr txBox="1"/>
          <p:nvPr/>
        </p:nvSpPr>
        <p:spPr>
          <a:xfrm>
            <a:off x="6492240" y="2103120"/>
            <a:ext cx="4937760" cy="365760"/>
          </a:xfrm>
          <a:prstGeom prst="rect">
            <a:avLst/>
          </a:prstGeom>
          <a:noFill/>
        </p:spPr>
        <p:txBody>
          <a:bodyPr wrap="square">
            <a:spAutoFit/>
          </a:bodyPr>
          <a:lstStyle/>
          <a:p>
            <a:pPr algn="l">
              <a:spcAft>
                <a:spcPts val="0"/>
              </a:spcAft>
            </a:pPr>
            <a:r>
              <a:rPr sz="1100" b="1" spc="160">
                <a:solidFill>
                  <a:srgbClr val="6F6D66"/>
                </a:solidFill>
                <a:latin typeface="Helvetica Neue"/>
              </a:rPr>
              <a:t>AND THE CASES ARRIVE LATE</a:t>
            </a:r>
          </a:p>
        </p:txBody>
      </p:sp>
      <p:sp>
        <p:nvSpPr>
          <p:cNvPr id="10" name="TextBox 9"/>
          <p:cNvSpPr txBox="1"/>
          <p:nvPr/>
        </p:nvSpPr>
        <p:spPr>
          <a:xfrm>
            <a:off x="6492240" y="2560320"/>
            <a:ext cx="4937760" cy="822960"/>
          </a:xfrm>
          <a:prstGeom prst="rect">
            <a:avLst/>
          </a:prstGeom>
          <a:noFill/>
        </p:spPr>
        <p:txBody>
          <a:bodyPr wrap="square">
            <a:spAutoFit/>
          </a:bodyPr>
          <a:lstStyle/>
          <a:p>
            <a:pPr algn="l">
              <a:spcAft>
                <a:spcPts val="200"/>
              </a:spcAft>
            </a:pPr>
            <a:r>
              <a:rPr sz="1700" b="0">
                <a:solidFill>
                  <a:srgbClr val="0E6E63"/>
                </a:solidFill>
                <a:latin typeface="Georgia"/>
              </a:rPr>
              <a:t>Malaria   2 to 6 weeks</a:t>
            </a:r>
          </a:p>
          <a:p>
            <a:pPr>
              <a:spcAft>
                <a:spcPts val="0"/>
              </a:spcAft>
            </a:pPr>
            <a:r>
              <a:rPr sz="1200" b="0">
                <a:solidFill>
                  <a:srgbClr val="6F6D66"/>
                </a:solidFill>
                <a:latin typeface="Helvetica Neue"/>
              </a:rPr>
              <a:t>after rainfall and standing water</a:t>
            </a:r>
          </a:p>
        </p:txBody>
      </p:sp>
      <p:sp>
        <p:nvSpPr>
          <p:cNvPr id="11" name="TextBox 10"/>
          <p:cNvSpPr txBox="1"/>
          <p:nvPr/>
        </p:nvSpPr>
        <p:spPr>
          <a:xfrm>
            <a:off x="6492240" y="3337560"/>
            <a:ext cx="4937760" cy="822960"/>
          </a:xfrm>
          <a:prstGeom prst="rect">
            <a:avLst/>
          </a:prstGeom>
          <a:noFill/>
        </p:spPr>
        <p:txBody>
          <a:bodyPr wrap="square">
            <a:spAutoFit/>
          </a:bodyPr>
          <a:lstStyle/>
          <a:p>
            <a:pPr algn="l">
              <a:spcAft>
                <a:spcPts val="200"/>
              </a:spcAft>
            </a:pPr>
            <a:r>
              <a:rPr sz="1700" b="0">
                <a:solidFill>
                  <a:srgbClr val="0E6E63"/>
                </a:solidFill>
                <a:latin typeface="Georgia"/>
              </a:rPr>
              <a:t>Cholera   1 to 3 weeks</a:t>
            </a:r>
          </a:p>
          <a:p>
            <a:pPr>
              <a:spcAft>
                <a:spcPts val="0"/>
              </a:spcAft>
            </a:pPr>
            <a:r>
              <a:rPr sz="1200" b="0">
                <a:solidFill>
                  <a:srgbClr val="6F6D66"/>
                </a:solidFill>
                <a:latin typeface="Helvetica Neue"/>
              </a:rPr>
              <a:t>after flooding and unsafe water</a:t>
            </a:r>
          </a:p>
        </p:txBody>
      </p:sp>
      <p:sp>
        <p:nvSpPr>
          <p:cNvPr id="12" name="TextBox 11"/>
          <p:cNvSpPr txBox="1"/>
          <p:nvPr/>
        </p:nvSpPr>
        <p:spPr>
          <a:xfrm>
            <a:off x="6492240" y="4114800"/>
            <a:ext cx="4937760" cy="822960"/>
          </a:xfrm>
          <a:prstGeom prst="rect">
            <a:avLst/>
          </a:prstGeom>
          <a:noFill/>
        </p:spPr>
        <p:txBody>
          <a:bodyPr wrap="square">
            <a:spAutoFit/>
          </a:bodyPr>
          <a:lstStyle/>
          <a:p>
            <a:pPr algn="l">
              <a:spcAft>
                <a:spcPts val="200"/>
              </a:spcAft>
            </a:pPr>
            <a:r>
              <a:rPr sz="1700" b="0">
                <a:solidFill>
                  <a:srgbClr val="0E6E63"/>
                </a:solidFill>
                <a:latin typeface="Georgia"/>
              </a:rPr>
              <a:t>Meningitis   2 to 8 weeks</a:t>
            </a:r>
          </a:p>
          <a:p>
            <a:pPr>
              <a:spcAft>
                <a:spcPts val="0"/>
              </a:spcAft>
            </a:pPr>
            <a:r>
              <a:rPr sz="1200" b="0">
                <a:solidFill>
                  <a:srgbClr val="6F6D66"/>
                </a:solidFill>
                <a:latin typeface="Helvetica Neue"/>
              </a:rPr>
              <a:t>after dry, dusty harmattan air</a:t>
            </a:r>
          </a:p>
        </p:txBody>
      </p:sp>
      <p:sp>
        <p:nvSpPr>
          <p:cNvPr id="13" name="Rectangle 12"/>
          <p:cNvSpPr/>
          <p:nvPr/>
        </p:nvSpPr>
        <p:spPr>
          <a:xfrm>
            <a:off x="777240" y="5074920"/>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303520"/>
            <a:ext cx="10637215" cy="1097280"/>
          </a:xfrm>
          <a:prstGeom prst="rect">
            <a:avLst/>
          </a:prstGeom>
          <a:noFill/>
        </p:spPr>
        <p:txBody>
          <a:bodyPr wrap="square">
            <a:spAutoFit/>
          </a:bodyPr>
          <a:lstStyle/>
          <a:p>
            <a:pPr algn="l">
              <a:spcAft>
                <a:spcPts val="800"/>
              </a:spcAft>
            </a:pPr>
            <a:r>
              <a:rPr sz="2000" b="0">
                <a:solidFill>
                  <a:srgbClr val="1A1D1B"/>
                </a:solidFill>
                <a:latin typeface="Georgia"/>
              </a:rPr>
              <a:t>That delay is not the problem. It is the opportunity.</a:t>
            </a:r>
          </a:p>
          <a:p>
            <a:pPr>
              <a:lnSpc>
                <a:spcPct val="145000"/>
              </a:lnSpc>
              <a:spcAft>
                <a:spcPts val="0"/>
              </a:spcAft>
            </a:pPr>
            <a:r>
              <a:rPr sz="1500" b="0">
                <a:solidFill>
                  <a:srgbClr val="6F6D66"/>
                </a:solidFill>
                <a:latin typeface="Helvetica Neue"/>
              </a:rPr>
              <a:t>It is the only window in which a district can still act before people fall ill. Ghana currently reacts when the cases appear, and the climate data that precedes them is free, public and updated daily.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03</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WHY ANYBODY ACTS</a:t>
            </a:r>
          </a:p>
        </p:txBody>
      </p:sp>
      <p:sp>
        <p:nvSpPr>
          <p:cNvPr id="6" name="TextBox 5"/>
          <p:cNvSpPr txBox="1"/>
          <p:nvPr/>
        </p:nvSpPr>
        <p:spPr>
          <a:xfrm>
            <a:off x="777240" y="914400"/>
            <a:ext cx="10607040" cy="822960"/>
          </a:xfrm>
          <a:prstGeom prst="rect">
            <a:avLst/>
          </a:prstGeom>
          <a:noFill/>
        </p:spPr>
        <p:txBody>
          <a:bodyPr wrap="square">
            <a:spAutoFit/>
          </a:bodyPr>
          <a:lstStyle/>
          <a:p>
            <a:pPr algn="l">
              <a:spcAft>
                <a:spcPts val="800"/>
              </a:spcAft>
            </a:pPr>
            <a:r>
              <a:rPr sz="3200" b="0">
                <a:solidFill>
                  <a:srgbClr val="1A1D1B"/>
                </a:solidFill>
                <a:latin typeface="Georgia"/>
              </a:rPr>
              <a:t>Nobody changes their day for a weather forecast.</a:t>
            </a:r>
          </a:p>
          <a:p>
            <a:pPr>
              <a:lnSpc>
                <a:spcPct val="140000"/>
              </a:lnSpc>
              <a:spcAft>
                <a:spcPts val="0"/>
              </a:spcAft>
            </a:pPr>
            <a:r>
              <a:rPr sz="1500" b="0">
                <a:solidFill>
                  <a:srgbClr val="6F6D66"/>
                </a:solidFill>
                <a:latin typeface="Helvetica Neue"/>
              </a:rPr>
              <a:t>Ghana already has weather warnings. People read them and carry on, because rain is not news and a forecast asks nothing of you.</a:t>
            </a:r>
          </a:p>
        </p:txBody>
      </p:sp>
      <p:sp>
        <p:nvSpPr>
          <p:cNvPr id="7" name="Rectangle 6"/>
          <p:cNvSpPr/>
          <p:nvPr/>
        </p:nvSpPr>
        <p:spPr>
          <a:xfrm>
            <a:off x="777240" y="2148840"/>
            <a:ext cx="5029200" cy="2788920"/>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377440"/>
            <a:ext cx="4480560" cy="2377440"/>
          </a:xfrm>
          <a:prstGeom prst="rect">
            <a:avLst/>
          </a:prstGeom>
          <a:noFill/>
        </p:spPr>
        <p:txBody>
          <a:bodyPr wrap="square">
            <a:spAutoFit/>
          </a:bodyPr>
          <a:lstStyle/>
          <a:p>
            <a:pPr algn="l">
              <a:spcAft>
                <a:spcPts val="1000"/>
              </a:spcAft>
            </a:pPr>
            <a:r>
              <a:rPr sz="1000" b="1" spc="160">
                <a:solidFill>
                  <a:srgbClr val="6F6D66"/>
                </a:solidFill>
                <a:latin typeface="Helvetica Neue"/>
              </a:rPr>
              <a:t>A WEATHER SERVICE SAYS</a:t>
            </a:r>
          </a:p>
          <a:p>
            <a:pPr>
              <a:lnSpc>
                <a:spcPct val="120000"/>
              </a:lnSpc>
              <a:spcAft>
                <a:spcPts val="1200"/>
              </a:spcAft>
            </a:pPr>
            <a:r>
              <a:rPr sz="1900" b="0">
                <a:solidFill>
                  <a:srgbClr val="6F6D66"/>
                </a:solidFill>
                <a:latin typeface="Georgia"/>
              </a:rPr>
              <a:t>“Heavy rain expected Thursday.”</a:t>
            </a:r>
          </a:p>
          <a:p>
            <a:pPr>
              <a:spcAft>
                <a:spcPts val="300"/>
              </a:spcAft>
            </a:pPr>
            <a:r>
              <a:rPr sz="1300" b="0">
                <a:solidFill>
                  <a:srgbClr val="6F6D66"/>
                </a:solidFill>
                <a:latin typeface="Helvetica Neue"/>
              </a:rPr>
              <a:t>Severity:  it rains every year</a:t>
            </a:r>
          </a:p>
          <a:p>
            <a:pPr>
              <a:spcAft>
                <a:spcPts val="300"/>
              </a:spcAft>
            </a:pPr>
            <a:r>
              <a:rPr sz="1300" b="0">
                <a:solidFill>
                  <a:srgbClr val="6F6D66"/>
                </a:solidFill>
                <a:latin typeface="Helvetica Neue"/>
              </a:rPr>
              <a:t>About me:  not obviously</a:t>
            </a:r>
          </a:p>
          <a:p>
            <a:pPr>
              <a:spcAft>
                <a:spcPts val="1000"/>
              </a:spcAft>
            </a:pPr>
            <a:r>
              <a:rPr sz="1300" b="0">
                <a:solidFill>
                  <a:srgbClr val="6F6D66"/>
                </a:solidFill>
                <a:latin typeface="Helvetica Neue"/>
              </a:rPr>
              <a:t>To do:  nothing is asked</a:t>
            </a:r>
          </a:p>
          <a:p>
            <a:pPr>
              <a:spcAft>
                <a:spcPts val="0"/>
              </a:spcAft>
            </a:pPr>
            <a:r>
              <a:rPr sz="1400" b="1">
                <a:solidFill>
                  <a:srgbClr val="6F6D66"/>
                </a:solidFill>
                <a:latin typeface="Helvetica Neue"/>
              </a:rPr>
              <a:t>Nothing changes.</a:t>
            </a:r>
          </a:p>
        </p:txBody>
      </p:sp>
      <p:sp>
        <p:nvSpPr>
          <p:cNvPr id="9" name="Rectangle 8"/>
          <p:cNvSpPr/>
          <p:nvPr/>
        </p:nvSpPr>
        <p:spPr>
          <a:xfrm>
            <a:off x="6172200" y="2148840"/>
            <a:ext cx="5257800" cy="2788920"/>
          </a:xfrm>
          <a:prstGeom prst="rect">
            <a:avLst/>
          </a:prstGeom>
          <a:solidFill>
            <a:srgbClr val="EF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377440"/>
            <a:ext cx="4709160" cy="2377440"/>
          </a:xfrm>
          <a:prstGeom prst="rect">
            <a:avLst/>
          </a:prstGeom>
          <a:noFill/>
        </p:spPr>
        <p:txBody>
          <a:bodyPr wrap="square">
            <a:spAutoFit/>
          </a:bodyPr>
          <a:lstStyle/>
          <a:p>
            <a:pPr algn="l">
              <a:spcAft>
                <a:spcPts val="1000"/>
              </a:spcAft>
            </a:pPr>
            <a:r>
              <a:rPr sz="1000" b="1" spc="160">
                <a:solidFill>
                  <a:srgbClr val="0E6E63"/>
                </a:solidFill>
                <a:latin typeface="Helvetica Neue"/>
              </a:rPr>
              <a:t>CLIMAHEALTH SAYS</a:t>
            </a:r>
          </a:p>
          <a:p>
            <a:pPr>
              <a:lnSpc>
                <a:spcPct val="125000"/>
              </a:lnSpc>
              <a:spcAft>
                <a:spcPts val="1200"/>
              </a:spcAft>
            </a:pPr>
            <a:r>
              <a:rPr sz="1600" b="0">
                <a:solidFill>
                  <a:srgbClr val="1A1D1B"/>
                </a:solidFill>
                <a:latin typeface="Georgia"/>
              </a:rPr>
              <a:t>“Malaria risk is rising here. Cases in 2 to 6 weeks. Children under five and pregnant women most at risk. Empty standing water tonight.”</a:t>
            </a:r>
          </a:p>
          <a:p>
            <a:pPr>
              <a:spcAft>
                <a:spcPts val="300"/>
              </a:spcAft>
            </a:pPr>
            <a:r>
              <a:rPr sz="1300" b="0">
                <a:solidFill>
                  <a:srgbClr val="1A1D1B"/>
                </a:solidFill>
                <a:latin typeface="Helvetica Neue"/>
              </a:rPr>
              <a:t>Severity:  a named disease</a:t>
            </a:r>
          </a:p>
          <a:p>
            <a:pPr>
              <a:spcAft>
                <a:spcPts val="300"/>
              </a:spcAft>
            </a:pPr>
            <a:r>
              <a:rPr sz="1300" b="0">
                <a:solidFill>
                  <a:srgbClr val="1A1D1B"/>
                </a:solidFill>
                <a:latin typeface="Helvetica Neue"/>
              </a:rPr>
              <a:t>About me:  my district, my children</a:t>
            </a:r>
          </a:p>
          <a:p>
            <a:pPr>
              <a:spcAft>
                <a:spcPts val="1000"/>
              </a:spcAft>
            </a:pPr>
            <a:r>
              <a:rPr sz="1300" b="0">
                <a:solidFill>
                  <a:srgbClr val="1A1D1B"/>
                </a:solidFill>
                <a:latin typeface="Helvetica Neue"/>
              </a:rPr>
              <a:t>To do:  one thing, tonight, free</a:t>
            </a:r>
          </a:p>
          <a:p>
            <a:pPr>
              <a:spcAft>
                <a:spcPts val="0"/>
              </a:spcAft>
            </a:pPr>
            <a:r>
              <a:rPr sz="1400" b="1">
                <a:solidFill>
                  <a:srgbClr val="0E6E63"/>
                </a:solidFill>
                <a:latin typeface="Helvetica Neue"/>
              </a:rPr>
              <a:t>Something to actually do.</a:t>
            </a:r>
          </a:p>
        </p:txBody>
      </p:sp>
      <p:sp>
        <p:nvSpPr>
          <p:cNvPr id="11" name="TextBox 10"/>
          <p:cNvSpPr txBox="1"/>
          <p:nvPr/>
        </p:nvSpPr>
        <p:spPr>
          <a:xfrm>
            <a:off x="777240" y="5120640"/>
            <a:ext cx="10637215" cy="1143000"/>
          </a:xfrm>
          <a:prstGeom prst="rect">
            <a:avLst/>
          </a:prstGeom>
          <a:noFill/>
        </p:spPr>
        <p:txBody>
          <a:bodyPr wrap="square">
            <a:spAutoFit/>
          </a:bodyPr>
          <a:lstStyle/>
          <a:p>
            <a:pPr algn="l">
              <a:lnSpc>
                <a:spcPct val="125000"/>
              </a:lnSpc>
              <a:spcAft>
                <a:spcPts val="800"/>
              </a:spcAft>
            </a:pPr>
            <a:r>
              <a:rPr sz="1800" b="0">
                <a:solidFill>
                  <a:srgbClr val="1A1D1B"/>
                </a:solidFill>
                <a:latin typeface="Georgia"/>
              </a:rPr>
              <a:t>We do not warn people about the weather. We warn them about what it is about to do to their children, and give them one thing to do about it.</a:t>
            </a:r>
          </a:p>
          <a:p>
            <a:pPr>
              <a:lnSpc>
                <a:spcPct val="135000"/>
              </a:lnSpc>
              <a:spcAft>
                <a:spcPts val="0"/>
              </a:spcAft>
            </a:pPr>
            <a:r>
              <a:rPr sz="1200" b="0">
                <a:solidFill>
                  <a:srgbClr val="A8A59E"/>
                </a:solidFill>
                <a:latin typeface="Helvetica Neue"/>
              </a:rPr>
              <a:t>Protection Motivation Theory: protective action needs severity, personal vulnerability, and a response the person believes they can carry out. Fear on its own produces avoidance, which is why every warning here ends in an 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04</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THE SOLUTION</a:t>
            </a:r>
          </a:p>
        </p:txBody>
      </p:sp>
      <p:sp>
        <p:nvSpPr>
          <p:cNvPr id="6" name="TextBox 5"/>
          <p:cNvSpPr txBox="1"/>
          <p:nvPr/>
        </p:nvSpPr>
        <p:spPr>
          <a:xfrm>
            <a:off x="777240" y="960120"/>
            <a:ext cx="10607040" cy="1188720"/>
          </a:xfrm>
          <a:prstGeom prst="rect">
            <a:avLst/>
          </a:prstGeom>
          <a:noFill/>
        </p:spPr>
        <p:txBody>
          <a:bodyPr wrap="square">
            <a:spAutoFit/>
          </a:bodyPr>
          <a:lstStyle/>
          <a:p>
            <a:pPr algn="l">
              <a:spcAft>
                <a:spcPts val="600"/>
              </a:spcAft>
            </a:pPr>
            <a:r>
              <a:rPr sz="3200" b="0">
                <a:solidFill>
                  <a:srgbClr val="1A1D1B"/>
                </a:solidFill>
                <a:latin typeface="Georgia"/>
              </a:rPr>
              <a:t>ClimaHealth Predict</a:t>
            </a:r>
          </a:p>
          <a:p>
            <a:pPr>
              <a:lnSpc>
                <a:spcPct val="140000"/>
              </a:lnSpc>
              <a:spcAft>
                <a:spcPts val="0"/>
              </a:spcAft>
            </a:pPr>
            <a:r>
              <a:rPr sz="1600" b="0">
                <a:solidFill>
                  <a:srgbClr val="6F6D66"/>
                </a:solidFill>
                <a:latin typeface="Helvetica Neue"/>
              </a:rPr>
              <a:t>Reads a district's climate today and says which health risks are rising, why, how long before cases appear, and who is most affected.</a:t>
            </a:r>
          </a:p>
        </p:txBody>
      </p:sp>
      <p:sp>
        <p:nvSpPr>
          <p:cNvPr id="7" name="Rectangle 6"/>
          <p:cNvSpPr/>
          <p:nvPr/>
        </p:nvSpPr>
        <p:spPr>
          <a:xfrm>
            <a:off x="777240" y="2514600"/>
            <a:ext cx="3383280" cy="2148840"/>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43200"/>
            <a:ext cx="2834640" cy="1828800"/>
          </a:xfrm>
          <a:prstGeom prst="rect">
            <a:avLst/>
          </a:prstGeom>
          <a:noFill/>
        </p:spPr>
        <p:txBody>
          <a:bodyPr wrap="square">
            <a:spAutoFit/>
          </a:bodyPr>
          <a:lstStyle/>
          <a:p>
            <a:pPr algn="l">
              <a:spcAft>
                <a:spcPts val="800"/>
              </a:spcAft>
            </a:pPr>
            <a:r>
              <a:rPr sz="1000" b="1" spc="160">
                <a:solidFill>
                  <a:srgbClr val="6F6D66"/>
                </a:solidFill>
                <a:latin typeface="Helvetica Neue"/>
              </a:rPr>
              <a:t>FOR THE PUBLIC</a:t>
            </a:r>
          </a:p>
          <a:p>
            <a:pPr>
              <a:spcAft>
                <a:spcPts val="800"/>
              </a:spcAft>
            </a:pPr>
            <a:r>
              <a:rPr sz="2100" b="0">
                <a:solidFill>
                  <a:srgbClr val="0E6E63"/>
                </a:solidFill>
                <a:latin typeface="Georgia"/>
              </a:rPr>
              <a:t>Dawuro</a:t>
            </a:r>
          </a:p>
          <a:p>
            <a:pPr>
              <a:lnSpc>
                <a:spcPct val="145000"/>
              </a:lnSpc>
              <a:spcAft>
                <a:spcPts val="0"/>
              </a:spcAft>
            </a:pPr>
            <a:r>
              <a:rPr sz="1300" b="0">
                <a:solidFill>
                  <a:srgbClr val="6F6D66"/>
                </a:solidFill>
                <a:latin typeface="Helvetica Neue"/>
              </a:rPr>
              <a:t>Forecast and weather, hazard reporting with a photo, and a daily lesson that pays in NHIS cover.</a:t>
            </a:r>
          </a:p>
        </p:txBody>
      </p:sp>
      <p:sp>
        <p:nvSpPr>
          <p:cNvPr id="9" name="Rectangle 8"/>
          <p:cNvSpPr/>
          <p:nvPr/>
        </p:nvSpPr>
        <p:spPr>
          <a:xfrm>
            <a:off x="4389120" y="2514600"/>
            <a:ext cx="3383280" cy="2148840"/>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2743200"/>
            <a:ext cx="2834640" cy="1828800"/>
          </a:xfrm>
          <a:prstGeom prst="rect">
            <a:avLst/>
          </a:prstGeom>
          <a:noFill/>
        </p:spPr>
        <p:txBody>
          <a:bodyPr wrap="square">
            <a:spAutoFit/>
          </a:bodyPr>
          <a:lstStyle/>
          <a:p>
            <a:pPr algn="l">
              <a:spcAft>
                <a:spcPts val="800"/>
              </a:spcAft>
            </a:pPr>
            <a:r>
              <a:rPr sz="1000" b="1" spc="160">
                <a:solidFill>
                  <a:srgbClr val="6F6D66"/>
                </a:solidFill>
                <a:latin typeface="Helvetica Neue"/>
              </a:rPr>
              <a:t>FOR THE AGENCIES</a:t>
            </a:r>
          </a:p>
          <a:p>
            <a:pPr>
              <a:spcAft>
                <a:spcPts val="800"/>
              </a:spcAft>
            </a:pPr>
            <a:r>
              <a:rPr sz="2100" b="0">
                <a:solidFill>
                  <a:srgbClr val="0E6E63"/>
                </a:solidFill>
                <a:latin typeface="Georgia"/>
              </a:rPr>
              <a:t>Command Platform</a:t>
            </a:r>
          </a:p>
          <a:p>
            <a:pPr>
              <a:lnSpc>
                <a:spcPct val="145000"/>
              </a:lnSpc>
              <a:spcAft>
                <a:spcPts val="0"/>
              </a:spcAft>
            </a:pPr>
            <a:r>
              <a:rPr sz="1300" b="0">
                <a:solidFill>
                  <a:srgbClr val="6F6D66"/>
                </a:solidFill>
                <a:latin typeface="Helvetica Neue"/>
              </a:rPr>
              <a:t>260 districts ranked and explained, alerts, an incident room, readiness, a view per mandate.</a:t>
            </a:r>
          </a:p>
        </p:txBody>
      </p:sp>
      <p:sp>
        <p:nvSpPr>
          <p:cNvPr id="11" name="Rectangle 10"/>
          <p:cNvSpPr/>
          <p:nvPr/>
        </p:nvSpPr>
        <p:spPr>
          <a:xfrm>
            <a:off x="8001000" y="2514600"/>
            <a:ext cx="3383280" cy="2148840"/>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2743200"/>
            <a:ext cx="2834640" cy="1828800"/>
          </a:xfrm>
          <a:prstGeom prst="rect">
            <a:avLst/>
          </a:prstGeom>
          <a:noFill/>
        </p:spPr>
        <p:txBody>
          <a:bodyPr wrap="square">
            <a:spAutoFit/>
          </a:bodyPr>
          <a:lstStyle/>
          <a:p>
            <a:pPr algn="l">
              <a:spcAft>
                <a:spcPts val="800"/>
              </a:spcAft>
            </a:pPr>
            <a:r>
              <a:rPr sz="1000" b="1" spc="160">
                <a:solidFill>
                  <a:srgbClr val="6F6D66"/>
                </a:solidFill>
                <a:latin typeface="Helvetica Neue"/>
              </a:rPr>
              <a:t>FOR EVERYONE ELSE</a:t>
            </a:r>
          </a:p>
          <a:p>
            <a:pPr>
              <a:spcAft>
                <a:spcPts val="800"/>
              </a:spcAft>
            </a:pPr>
            <a:r>
              <a:rPr sz="2100" b="0">
                <a:solidFill>
                  <a:srgbClr val="0E6E63"/>
                </a:solidFill>
                <a:latin typeface="Georgia"/>
              </a:rPr>
              <a:t>USSD and SMS</a:t>
            </a:r>
          </a:p>
          <a:p>
            <a:pPr>
              <a:lnSpc>
                <a:spcPct val="145000"/>
              </a:lnSpc>
              <a:spcAft>
                <a:spcPts val="0"/>
              </a:spcAft>
            </a:pPr>
            <a:r>
              <a:rPr sz="1300" b="0">
                <a:solidFill>
                  <a:srgbClr val="6F6D66"/>
                </a:solidFill>
                <a:latin typeface="Helvetica Neue"/>
              </a:rPr>
              <a:t>The same warning on any handset, with no data and no app, because a smartphone is not a requirement.</a:t>
            </a:r>
          </a:p>
        </p:txBody>
      </p:sp>
      <p:sp>
        <p:nvSpPr>
          <p:cNvPr id="13" name="Rectangle 12"/>
          <p:cNvSpPr/>
          <p:nvPr/>
        </p:nvSpPr>
        <p:spPr>
          <a:xfrm>
            <a:off x="777240" y="5029200"/>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257800"/>
            <a:ext cx="10637215" cy="1097280"/>
          </a:xfrm>
          <a:prstGeom prst="rect">
            <a:avLst/>
          </a:prstGeom>
          <a:noFill/>
        </p:spPr>
        <p:txBody>
          <a:bodyPr wrap="square">
            <a:spAutoFit/>
          </a:bodyPr>
          <a:lstStyle/>
          <a:p>
            <a:pPr algn="l">
              <a:spcAft>
                <a:spcPts val="800"/>
              </a:spcAft>
            </a:pPr>
            <a:r>
              <a:rPr sz="2000" b="0">
                <a:solidFill>
                  <a:srgbClr val="1A1D1B"/>
                </a:solidFill>
                <a:latin typeface="Georgia"/>
              </a:rPr>
              <a:t>The brain is a rules engine, not a guess.</a:t>
            </a:r>
          </a:p>
          <a:p>
            <a:pPr>
              <a:lnSpc>
                <a:spcPct val="145000"/>
              </a:lnSpc>
              <a:spcAft>
                <a:spcPts val="0"/>
              </a:spcAft>
            </a:pPr>
            <a:r>
              <a:rPr sz="1400" b="0">
                <a:solidFill>
                  <a:srgbClr val="6F6D66"/>
                </a:solidFill>
                <a:latin typeface="Helvetica Neue"/>
              </a:rPr>
              <a:t>Published epidemiological thresholds, evaluated the same way every time. Same inputs, same output, and every warning can name the conditions that caused it. AI never decides risk; it only phrases what the engine already decided, in English or Twi. That is what makes this defensible to a health ministry.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05</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THE AGENCY PLATFORM</a:t>
            </a:r>
          </a:p>
        </p:txBody>
      </p:sp>
      <p:sp>
        <p:nvSpPr>
          <p:cNvPr id="6" name="TextBox 5"/>
          <p:cNvSpPr txBox="1"/>
          <p:nvPr/>
        </p:nvSpPr>
        <p:spPr>
          <a:xfrm>
            <a:off x="777240" y="914400"/>
            <a:ext cx="10607040" cy="822960"/>
          </a:xfrm>
          <a:prstGeom prst="rect">
            <a:avLst/>
          </a:prstGeom>
          <a:noFill/>
        </p:spPr>
        <p:txBody>
          <a:bodyPr wrap="square">
            <a:spAutoFit/>
          </a:bodyPr>
          <a:lstStyle/>
          <a:p>
            <a:pPr algn="l">
              <a:spcAft>
                <a:spcPts val="800"/>
              </a:spcAft>
            </a:pPr>
            <a:r>
              <a:rPr sz="3000" b="0">
                <a:solidFill>
                  <a:srgbClr val="1A1D1B"/>
                </a:solidFill>
                <a:latin typeface="Georgia"/>
              </a:rPr>
              <a:t>260 districts, ranked and explained, every day.</a:t>
            </a:r>
          </a:p>
          <a:p>
            <a:pPr>
              <a:lnSpc>
                <a:spcPct val="140000"/>
              </a:lnSpc>
              <a:spcAft>
                <a:spcPts val="0"/>
              </a:spcAft>
            </a:pPr>
            <a:r>
              <a:rPr sz="1500" b="0">
                <a:solidFill>
                  <a:srgbClr val="6F6D66"/>
                </a:solidFill>
                <a:latin typeface="Helvetica Neue"/>
              </a:rPr>
              <a:t>Live engine output, not a mock. Each agency opens on the layer it is responsible for: health risk for GHS, dust and PM10 for EPA, rainfall for NADMO.</a:t>
            </a:r>
          </a:p>
        </p:txBody>
      </p:sp>
      <p:pic>
        <p:nvPicPr>
          <p:cNvPr id="7" name="Picture 6" descr="w1-national.png"/>
          <p:cNvPicPr>
            <a:picLocks noChangeAspect="1"/>
          </p:cNvPicPr>
          <p:nvPr/>
        </p:nvPicPr>
        <p:blipFill>
          <a:blip r:embed="rId2"/>
          <a:stretch>
            <a:fillRect/>
          </a:stretch>
        </p:blipFill>
        <p:spPr>
          <a:xfrm>
            <a:off x="982066" y="2240280"/>
            <a:ext cx="4710988" cy="2944368"/>
          </a:xfrm>
          <a:prstGeom prst="rect">
            <a:avLst/>
          </a:prstGeom>
        </p:spPr>
      </p:pic>
      <p:sp>
        <p:nvSpPr>
          <p:cNvPr id="8" name="Rectangle 7"/>
          <p:cNvSpPr/>
          <p:nvPr/>
        </p:nvSpPr>
        <p:spPr>
          <a:xfrm>
            <a:off x="982066" y="2240280"/>
            <a:ext cx="4710988" cy="2944368"/>
          </a:xfrm>
          <a:prstGeom prst="rect">
            <a:avLst/>
          </a:prstGeom>
          <a:noFill/>
          <a:ln>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294376"/>
            <a:ext cx="5120640" cy="411480"/>
          </a:xfrm>
          <a:prstGeom prst="rect">
            <a:avLst/>
          </a:prstGeom>
          <a:noFill/>
        </p:spPr>
        <p:txBody>
          <a:bodyPr wrap="square">
            <a:spAutoFit/>
          </a:bodyPr>
          <a:lstStyle/>
          <a:p>
            <a:pPr algn="ctr">
              <a:spcAft>
                <a:spcPts val="0"/>
              </a:spcAft>
            </a:pPr>
            <a:r>
              <a:rPr sz="1100" b="0">
                <a:solidFill>
                  <a:srgbClr val="6F6D66"/>
                </a:solidFill>
                <a:latin typeface="Helvetica Neue"/>
              </a:rPr>
              <a:t>Ghana Health Service · 51 of 260 districts at high risk or above</a:t>
            </a:r>
          </a:p>
        </p:txBody>
      </p:sp>
      <p:pic>
        <p:nvPicPr>
          <p:cNvPr id="10" name="Picture 9" descr="w3-epa.png"/>
          <p:cNvPicPr>
            <a:picLocks noChangeAspect="1"/>
          </p:cNvPicPr>
          <p:nvPr/>
        </p:nvPicPr>
        <p:blipFill>
          <a:blip r:embed="rId3"/>
          <a:stretch>
            <a:fillRect/>
          </a:stretch>
        </p:blipFill>
        <p:spPr>
          <a:xfrm>
            <a:off x="6514186" y="2240280"/>
            <a:ext cx="4710988" cy="2944368"/>
          </a:xfrm>
          <a:prstGeom prst="rect">
            <a:avLst/>
          </a:prstGeom>
        </p:spPr>
      </p:pic>
      <p:sp>
        <p:nvSpPr>
          <p:cNvPr id="11" name="Rectangle 10"/>
          <p:cNvSpPr/>
          <p:nvPr/>
        </p:nvSpPr>
        <p:spPr>
          <a:xfrm>
            <a:off x="6514186" y="2240280"/>
            <a:ext cx="4710988" cy="2944368"/>
          </a:xfrm>
          <a:prstGeom prst="rect">
            <a:avLst/>
          </a:prstGeom>
          <a:noFill/>
          <a:ln>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5294376"/>
            <a:ext cx="5120640" cy="411480"/>
          </a:xfrm>
          <a:prstGeom prst="rect">
            <a:avLst/>
          </a:prstGeom>
          <a:noFill/>
        </p:spPr>
        <p:txBody>
          <a:bodyPr wrap="square">
            <a:spAutoFit/>
          </a:bodyPr>
          <a:lstStyle/>
          <a:p>
            <a:pPr algn="ctr">
              <a:spcAft>
                <a:spcPts val="0"/>
              </a:spcAft>
            </a:pPr>
            <a:r>
              <a:rPr sz="1100" b="0">
                <a:solidFill>
                  <a:srgbClr val="6F6D66"/>
                </a:solidFill>
                <a:latin typeface="Helvetica Neue"/>
              </a:rPr>
              <a:t>Environmental Protection Agency · dust and PM10 layer active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06</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INSTITUTIONAL INTEGRATION</a:t>
            </a:r>
          </a:p>
        </p:txBody>
      </p:sp>
      <p:sp>
        <p:nvSpPr>
          <p:cNvPr id="6" name="TextBox 5"/>
          <p:cNvSpPr txBox="1"/>
          <p:nvPr/>
        </p:nvSpPr>
        <p:spPr>
          <a:xfrm>
            <a:off x="777240" y="914400"/>
            <a:ext cx="10607040" cy="822960"/>
          </a:xfrm>
          <a:prstGeom prst="rect">
            <a:avLst/>
          </a:prstGeom>
          <a:noFill/>
        </p:spPr>
        <p:txBody>
          <a:bodyPr wrap="square">
            <a:spAutoFit/>
          </a:bodyPr>
          <a:lstStyle/>
          <a:p>
            <a:pPr algn="l">
              <a:spcAft>
                <a:spcPts val="800"/>
              </a:spcAft>
            </a:pPr>
            <a:r>
              <a:rPr sz="3000" b="0">
                <a:solidFill>
                  <a:srgbClr val="1A1D1B"/>
                </a:solidFill>
                <a:latin typeface="Georgia"/>
              </a:rPr>
              <a:t>A report is a claim until somebody goes and looks.</a:t>
            </a:r>
          </a:p>
          <a:p>
            <a:pPr>
              <a:lnSpc>
                <a:spcPct val="140000"/>
              </a:lnSpc>
              <a:spcAft>
                <a:spcPts val="0"/>
              </a:spcAft>
            </a:pPr>
            <a:r>
              <a:rPr sz="1500" b="0">
                <a:solidFill>
                  <a:srgbClr val="6F6D66"/>
                </a:solidFill>
                <a:latin typeface="Helvetica Neue"/>
              </a:rPr>
              <a:t>Ɔhwɛfoɔ is an on-ground officer role in the platform. Validation and repair are different jobs held by different people, and neither can take the other's step.</a:t>
            </a:r>
          </a:p>
        </p:txBody>
      </p:sp>
      <p:sp>
        <p:nvSpPr>
          <p:cNvPr id="7" name="Rectangle 6"/>
          <p:cNvSpPr/>
          <p:nvPr/>
        </p:nvSpPr>
        <p:spPr>
          <a:xfrm>
            <a:off x="777240" y="2377440"/>
            <a:ext cx="2514600" cy="1783080"/>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60320"/>
            <a:ext cx="2103120" cy="1463040"/>
          </a:xfrm>
          <a:prstGeom prst="rect">
            <a:avLst/>
          </a:prstGeom>
          <a:noFill/>
        </p:spPr>
        <p:txBody>
          <a:bodyPr wrap="square">
            <a:spAutoFit/>
          </a:bodyPr>
          <a:lstStyle/>
          <a:p>
            <a:pPr algn="l">
              <a:spcAft>
                <a:spcPts val="600"/>
              </a:spcAft>
            </a:pPr>
            <a:r>
              <a:rPr sz="1200" b="1">
                <a:solidFill>
                  <a:srgbClr val="0E6E63"/>
                </a:solidFill>
                <a:latin typeface="Georgia"/>
              </a:rPr>
              <a:t>01</a:t>
            </a:r>
          </a:p>
          <a:p>
            <a:pPr>
              <a:spcAft>
                <a:spcPts val="400"/>
              </a:spcAft>
            </a:pPr>
            <a:r>
              <a:rPr sz="1600" b="1">
                <a:solidFill>
                  <a:srgbClr val="1A1D1B"/>
                </a:solidFill>
                <a:latin typeface="Helvetica Neue"/>
              </a:rPr>
              <a:t>Citizen reports</a:t>
            </a:r>
          </a:p>
          <a:p>
            <a:pPr>
              <a:lnSpc>
                <a:spcPct val="130000"/>
              </a:lnSpc>
              <a:spcAft>
                <a:spcPts val="600"/>
              </a:spcAft>
            </a:pPr>
            <a:r>
              <a:rPr sz="1200" b="0">
                <a:solidFill>
                  <a:srgbClr val="6F6D66"/>
                </a:solidFill>
                <a:latin typeface="Helvetica Neue"/>
              </a:rPr>
              <a:t>photo, location, note</a:t>
            </a:r>
          </a:p>
          <a:p>
            <a:pPr>
              <a:spcAft>
                <a:spcPts val="0"/>
              </a:spcAft>
            </a:pPr>
            <a:r>
              <a:rPr sz="1200" b="1">
                <a:solidFill>
                  <a:srgbClr val="0E6E63"/>
                </a:solidFill>
                <a:latin typeface="Helvetica Neue"/>
              </a:rPr>
              <a:t>Dawuro app</a:t>
            </a:r>
          </a:p>
        </p:txBody>
      </p:sp>
      <p:sp>
        <p:nvSpPr>
          <p:cNvPr id="9" name="Rectangle 8"/>
          <p:cNvSpPr/>
          <p:nvPr/>
        </p:nvSpPr>
        <p:spPr>
          <a:xfrm>
            <a:off x="3520440" y="2377440"/>
            <a:ext cx="2514600" cy="1783080"/>
          </a:xfrm>
          <a:prstGeom prst="rect">
            <a:avLst/>
          </a:prstGeom>
          <a:solidFill>
            <a:srgbClr val="EF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40" y="2560320"/>
            <a:ext cx="2103120" cy="1463040"/>
          </a:xfrm>
          <a:prstGeom prst="rect">
            <a:avLst/>
          </a:prstGeom>
          <a:noFill/>
        </p:spPr>
        <p:txBody>
          <a:bodyPr wrap="square">
            <a:spAutoFit/>
          </a:bodyPr>
          <a:lstStyle/>
          <a:p>
            <a:pPr algn="l">
              <a:spcAft>
                <a:spcPts val="600"/>
              </a:spcAft>
            </a:pPr>
            <a:r>
              <a:rPr sz="1200" b="1">
                <a:solidFill>
                  <a:srgbClr val="0E6E63"/>
                </a:solidFill>
                <a:latin typeface="Georgia"/>
              </a:rPr>
              <a:t>02</a:t>
            </a:r>
          </a:p>
          <a:p>
            <a:pPr>
              <a:spcAft>
                <a:spcPts val="400"/>
              </a:spcAft>
            </a:pPr>
            <a:r>
              <a:rPr sz="1600" b="1">
                <a:solidFill>
                  <a:srgbClr val="1A1D1B"/>
                </a:solidFill>
                <a:latin typeface="Helvetica Neue"/>
              </a:rPr>
              <a:t>Ɔhwɛfoɔ validates</a:t>
            </a:r>
          </a:p>
          <a:p>
            <a:pPr>
              <a:lnSpc>
                <a:spcPct val="130000"/>
              </a:lnSpc>
              <a:spcAft>
                <a:spcPts val="600"/>
              </a:spcAft>
            </a:pPr>
            <a:r>
              <a:rPr sz="1200" b="0">
                <a:solidFill>
                  <a:srgbClr val="6F6D66"/>
                </a:solidFill>
                <a:latin typeface="Helvetica Neue"/>
              </a:rPr>
              <a:t>goes to the site, confirms</a:t>
            </a:r>
          </a:p>
          <a:p>
            <a:pPr>
              <a:spcAft>
                <a:spcPts val="0"/>
              </a:spcAft>
            </a:pPr>
            <a:r>
              <a:rPr sz="1200" b="1">
                <a:solidFill>
                  <a:srgbClr val="0E6E63"/>
                </a:solidFill>
                <a:latin typeface="Helvetica Neue"/>
              </a:rPr>
              <a:t>25% → 50%</a:t>
            </a:r>
          </a:p>
        </p:txBody>
      </p:sp>
      <p:sp>
        <p:nvSpPr>
          <p:cNvPr id="11" name="Rectangle 10"/>
          <p:cNvSpPr/>
          <p:nvPr/>
        </p:nvSpPr>
        <p:spPr>
          <a:xfrm>
            <a:off x="6263640" y="2377440"/>
            <a:ext cx="2514600" cy="1783080"/>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560320"/>
            <a:ext cx="2103120" cy="1463040"/>
          </a:xfrm>
          <a:prstGeom prst="rect">
            <a:avLst/>
          </a:prstGeom>
          <a:noFill/>
        </p:spPr>
        <p:txBody>
          <a:bodyPr wrap="square">
            <a:spAutoFit/>
          </a:bodyPr>
          <a:lstStyle/>
          <a:p>
            <a:pPr algn="l">
              <a:spcAft>
                <a:spcPts val="600"/>
              </a:spcAft>
            </a:pPr>
            <a:r>
              <a:rPr sz="1200" b="1">
                <a:solidFill>
                  <a:srgbClr val="0E6E63"/>
                </a:solidFill>
                <a:latin typeface="Georgia"/>
              </a:rPr>
              <a:t>03</a:t>
            </a:r>
          </a:p>
          <a:p>
            <a:pPr>
              <a:spcAft>
                <a:spcPts val="400"/>
              </a:spcAft>
            </a:pPr>
            <a:r>
              <a:rPr sz="1600" b="1">
                <a:solidFill>
                  <a:srgbClr val="1A1D1B"/>
                </a:solidFill>
                <a:latin typeface="Helvetica Neue"/>
              </a:rPr>
              <a:t>Agency works</a:t>
            </a:r>
          </a:p>
          <a:p>
            <a:pPr>
              <a:lnSpc>
                <a:spcPct val="130000"/>
              </a:lnSpc>
              <a:spcAft>
                <a:spcPts val="600"/>
              </a:spcAft>
            </a:pPr>
            <a:r>
              <a:rPr sz="1200" b="0">
                <a:solidFill>
                  <a:srgbClr val="6F6D66"/>
                </a:solidFill>
                <a:latin typeface="Helvetica Neue"/>
              </a:rPr>
              <a:t>GHS, NADMO, EPA, Assembly</a:t>
            </a:r>
          </a:p>
          <a:p>
            <a:pPr>
              <a:spcAft>
                <a:spcPts val="0"/>
              </a:spcAft>
            </a:pPr>
            <a:r>
              <a:rPr sz="1200" b="1">
                <a:solidFill>
                  <a:srgbClr val="0E6E63"/>
                </a:solidFill>
                <a:latin typeface="Helvetica Neue"/>
              </a:rPr>
              <a:t>50% → 75%</a:t>
            </a:r>
          </a:p>
        </p:txBody>
      </p:sp>
      <p:sp>
        <p:nvSpPr>
          <p:cNvPr id="13" name="Rectangle 12"/>
          <p:cNvSpPr/>
          <p:nvPr/>
        </p:nvSpPr>
        <p:spPr>
          <a:xfrm>
            <a:off x="9006840" y="2377440"/>
            <a:ext cx="2514600" cy="1783080"/>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0" y="2560320"/>
            <a:ext cx="2103120" cy="1463040"/>
          </a:xfrm>
          <a:prstGeom prst="rect">
            <a:avLst/>
          </a:prstGeom>
          <a:noFill/>
        </p:spPr>
        <p:txBody>
          <a:bodyPr wrap="square">
            <a:spAutoFit/>
          </a:bodyPr>
          <a:lstStyle/>
          <a:p>
            <a:pPr algn="l">
              <a:spcAft>
                <a:spcPts val="600"/>
              </a:spcAft>
            </a:pPr>
            <a:r>
              <a:rPr sz="1200" b="1">
                <a:solidFill>
                  <a:srgbClr val="0E6E63"/>
                </a:solidFill>
                <a:latin typeface="Georgia"/>
              </a:rPr>
              <a:t>04</a:t>
            </a:r>
          </a:p>
          <a:p>
            <a:pPr>
              <a:spcAft>
                <a:spcPts val="400"/>
              </a:spcAft>
            </a:pPr>
            <a:r>
              <a:rPr sz="1600" b="1">
                <a:solidFill>
                  <a:srgbClr val="1A1D1B"/>
                </a:solidFill>
                <a:latin typeface="Helvetica Neue"/>
              </a:rPr>
              <a:t>Resolved</a:t>
            </a:r>
          </a:p>
          <a:p>
            <a:pPr>
              <a:lnSpc>
                <a:spcPct val="130000"/>
              </a:lnSpc>
              <a:spcAft>
                <a:spcPts val="600"/>
              </a:spcAft>
            </a:pPr>
            <a:r>
              <a:rPr sz="1200" b="0">
                <a:solidFill>
                  <a:srgbClr val="6F6D66"/>
                </a:solidFill>
                <a:latin typeface="Helvetica Neue"/>
              </a:rPr>
              <a:t>closed with what was done</a:t>
            </a:r>
          </a:p>
          <a:p>
            <a:pPr>
              <a:spcAft>
                <a:spcPts val="0"/>
              </a:spcAft>
            </a:pPr>
            <a:r>
              <a:rPr sz="1200" b="1">
                <a:solidFill>
                  <a:srgbClr val="0E6E63"/>
                </a:solidFill>
                <a:latin typeface="Helvetica Neue"/>
              </a:rPr>
              <a:t>100%</a:t>
            </a:r>
          </a:p>
        </p:txBody>
      </p:sp>
      <p:sp>
        <p:nvSpPr>
          <p:cNvPr id="15" name="Rectangle 14"/>
          <p:cNvSpPr/>
          <p:nvPr/>
        </p:nvSpPr>
        <p:spPr>
          <a:xfrm>
            <a:off x="777240" y="4526280"/>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754880"/>
            <a:ext cx="10637215" cy="1463040"/>
          </a:xfrm>
          <a:prstGeom prst="rect">
            <a:avLst/>
          </a:prstGeom>
          <a:noFill/>
        </p:spPr>
        <p:txBody>
          <a:bodyPr wrap="square">
            <a:spAutoFit/>
          </a:bodyPr>
          <a:lstStyle/>
          <a:p>
            <a:pPr algn="l">
              <a:spcAft>
                <a:spcPts val="800"/>
              </a:spcAft>
            </a:pPr>
            <a:r>
              <a:rPr sz="1900" b="0">
                <a:solidFill>
                  <a:srgbClr val="1A1D1B"/>
                </a:solidFill>
                <a:latin typeface="Georgia"/>
              </a:rPr>
              <a:t>Every step is written down: who moved it, when, and what they found.</a:t>
            </a:r>
          </a:p>
          <a:p>
            <a:pPr>
              <a:lnSpc>
                <a:spcPct val="145000"/>
              </a:lnSpc>
              <a:spcAft>
                <a:spcPts val="0"/>
              </a:spcAft>
            </a:pPr>
            <a:r>
              <a:rPr sz="1500" b="0">
                <a:solidFill>
                  <a:srgbClr val="6F6D66"/>
                </a:solidFill>
                <a:latin typeface="Helvetica Neue"/>
              </a:rPr>
              <a:t>The person who filed the report watches the same bar the officers do. Reporting a hazard into a form that never answers is how people learn not to bother. The agencies do not have to trust the app; they have to trust their own officer.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07</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THE APP, AND WHO IT IS FOR</a:t>
            </a:r>
          </a:p>
        </p:txBody>
      </p:sp>
      <p:sp>
        <p:nvSpPr>
          <p:cNvPr id="6" name="TextBox 5"/>
          <p:cNvSpPr txBox="1"/>
          <p:nvPr/>
        </p:nvSpPr>
        <p:spPr>
          <a:xfrm>
            <a:off x="777240" y="914400"/>
            <a:ext cx="5212080" cy="1737360"/>
          </a:xfrm>
          <a:prstGeom prst="rect">
            <a:avLst/>
          </a:prstGeom>
          <a:noFill/>
        </p:spPr>
        <p:txBody>
          <a:bodyPr wrap="square">
            <a:spAutoFit/>
          </a:bodyPr>
          <a:lstStyle/>
          <a:p>
            <a:pPr algn="l">
              <a:spcAft>
                <a:spcPts val="600"/>
              </a:spcAft>
            </a:pPr>
            <a:r>
              <a:rPr sz="3000" b="0">
                <a:solidFill>
                  <a:srgbClr val="1A1D1B"/>
                </a:solidFill>
                <a:latin typeface="Georgia"/>
              </a:rPr>
              <a:t>Dawuro</a:t>
            </a:r>
          </a:p>
          <a:p>
            <a:pPr>
              <a:lnSpc>
                <a:spcPct val="145000"/>
              </a:lnSpc>
              <a:spcAft>
                <a:spcPts val="0"/>
              </a:spcAft>
            </a:pPr>
            <a:r>
              <a:rPr sz="1400" b="0">
                <a:solidFill>
                  <a:srgbClr val="6F6D66"/>
                </a:solidFill>
                <a:latin typeface="Helvetica Neue"/>
              </a:rPr>
              <a:t>Named after the gong-gong that carried public warnings in Ghana for centuries. The people this must reach are the least likely to own a good phone, read fluently, or speak English at home. Each of those is designed for.</a:t>
            </a:r>
          </a:p>
        </p:txBody>
      </p:sp>
      <p:sp>
        <p:nvSpPr>
          <p:cNvPr id="7" name="TextBox 6"/>
          <p:cNvSpPr txBox="1"/>
          <p:nvPr/>
        </p:nvSpPr>
        <p:spPr>
          <a:xfrm>
            <a:off x="777240" y="2971800"/>
            <a:ext cx="5212080" cy="603504"/>
          </a:xfrm>
          <a:prstGeom prst="rect">
            <a:avLst/>
          </a:prstGeom>
          <a:noFill/>
        </p:spPr>
        <p:txBody>
          <a:bodyPr wrap="square">
            <a:spAutoFit/>
          </a:bodyPr>
          <a:lstStyle/>
          <a:p>
            <a:pPr algn="l">
              <a:spcAft>
                <a:spcPts val="200"/>
              </a:spcAft>
            </a:pPr>
            <a:r>
              <a:rPr sz="1400" b="1">
                <a:solidFill>
                  <a:srgbClr val="0E6E63"/>
                </a:solidFill>
                <a:latin typeface="Helvetica Neue"/>
              </a:rPr>
              <a:t>Five languages</a:t>
            </a:r>
          </a:p>
          <a:p>
            <a:pPr>
              <a:lnSpc>
                <a:spcPct val="130000"/>
              </a:lnSpc>
              <a:spcAft>
                <a:spcPts val="0"/>
              </a:spcAft>
            </a:pPr>
            <a:r>
              <a:rPr sz="1200" b="0">
                <a:solidFill>
                  <a:srgbClr val="6F6D66"/>
                </a:solidFill>
                <a:latin typeface="Helvetica Neue"/>
              </a:rPr>
              <a:t>English, Twi, Ga, Ewe, Dagbani</a:t>
            </a:r>
          </a:p>
        </p:txBody>
      </p:sp>
      <p:sp>
        <p:nvSpPr>
          <p:cNvPr id="8" name="TextBox 7"/>
          <p:cNvSpPr txBox="1"/>
          <p:nvPr/>
        </p:nvSpPr>
        <p:spPr>
          <a:xfrm>
            <a:off x="777240" y="3593592"/>
            <a:ext cx="5212080" cy="603504"/>
          </a:xfrm>
          <a:prstGeom prst="rect">
            <a:avLst/>
          </a:prstGeom>
          <a:noFill/>
        </p:spPr>
        <p:txBody>
          <a:bodyPr wrap="square">
            <a:spAutoFit/>
          </a:bodyPr>
          <a:lstStyle/>
          <a:p>
            <a:pPr algn="l">
              <a:spcAft>
                <a:spcPts val="200"/>
              </a:spcAft>
            </a:pPr>
            <a:r>
              <a:rPr sz="1400" b="1">
                <a:solidFill>
                  <a:srgbClr val="0E6E63"/>
                </a:solidFill>
                <a:latin typeface="Helvetica Neue"/>
              </a:rPr>
              <a:t>Read aloud</a:t>
            </a:r>
          </a:p>
          <a:p>
            <a:pPr>
              <a:lnSpc>
                <a:spcPct val="130000"/>
              </a:lnSpc>
              <a:spcAft>
                <a:spcPts val="0"/>
              </a:spcAft>
            </a:pPr>
            <a:r>
              <a:rPr sz="1200" b="0">
                <a:solidFill>
                  <a:srgbClr val="6F6D66"/>
                </a:solidFill>
                <a:latin typeface="Helvetica Neue"/>
              </a:rPr>
              <a:t>Forecasts, lessons and answers can be spoken</a:t>
            </a:r>
          </a:p>
        </p:txBody>
      </p:sp>
      <p:sp>
        <p:nvSpPr>
          <p:cNvPr id="9" name="TextBox 8"/>
          <p:cNvSpPr txBox="1"/>
          <p:nvPr/>
        </p:nvSpPr>
        <p:spPr>
          <a:xfrm>
            <a:off x="777240" y="4215384"/>
            <a:ext cx="5212080" cy="603504"/>
          </a:xfrm>
          <a:prstGeom prst="rect">
            <a:avLst/>
          </a:prstGeom>
          <a:noFill/>
        </p:spPr>
        <p:txBody>
          <a:bodyPr wrap="square">
            <a:spAutoFit/>
          </a:bodyPr>
          <a:lstStyle/>
          <a:p>
            <a:pPr algn="l">
              <a:spcAft>
                <a:spcPts val="200"/>
              </a:spcAft>
            </a:pPr>
            <a:r>
              <a:rPr sz="1400" b="1">
                <a:solidFill>
                  <a:srgbClr val="0E6E63"/>
                </a:solidFill>
                <a:latin typeface="Helvetica Neue"/>
              </a:rPr>
              <a:t>Never a wrong voice</a:t>
            </a:r>
          </a:p>
          <a:p>
            <a:pPr>
              <a:lnSpc>
                <a:spcPct val="130000"/>
              </a:lnSpc>
              <a:spcAft>
                <a:spcPts val="0"/>
              </a:spcAft>
            </a:pPr>
            <a:r>
              <a:rPr sz="1200" b="0">
                <a:solidFill>
                  <a:srgbClr val="6F6D66"/>
                </a:solidFill>
                <a:latin typeface="Helvetica Neue"/>
              </a:rPr>
              <a:t>No voice for a language, it says so and stays silent</a:t>
            </a:r>
          </a:p>
        </p:txBody>
      </p:sp>
      <p:sp>
        <p:nvSpPr>
          <p:cNvPr id="10" name="TextBox 9"/>
          <p:cNvSpPr txBox="1"/>
          <p:nvPr/>
        </p:nvSpPr>
        <p:spPr>
          <a:xfrm>
            <a:off x="777240" y="4837176"/>
            <a:ext cx="5212080" cy="603504"/>
          </a:xfrm>
          <a:prstGeom prst="rect">
            <a:avLst/>
          </a:prstGeom>
          <a:noFill/>
        </p:spPr>
        <p:txBody>
          <a:bodyPr wrap="square">
            <a:spAutoFit/>
          </a:bodyPr>
          <a:lstStyle/>
          <a:p>
            <a:pPr algn="l">
              <a:spcAft>
                <a:spcPts val="200"/>
              </a:spcAft>
            </a:pPr>
            <a:r>
              <a:rPr sz="1400" b="1">
                <a:solidFill>
                  <a:srgbClr val="0E6E63"/>
                </a:solidFill>
                <a:latin typeface="Helvetica Neue"/>
              </a:rPr>
              <a:t>Age-banded</a:t>
            </a:r>
          </a:p>
          <a:p>
            <a:pPr>
              <a:lnSpc>
                <a:spcPct val="130000"/>
              </a:lnSpc>
              <a:spcAft>
                <a:spcPts val="0"/>
              </a:spcAft>
            </a:pPr>
            <a:r>
              <a:rPr sz="1200" b="0">
                <a:solidFill>
                  <a:srgbClr val="6F6D66"/>
                </a:solidFill>
                <a:latin typeface="Helvetica Neue"/>
              </a:rPr>
              <a:t>A child and a grandmother get different wording</a:t>
            </a:r>
          </a:p>
        </p:txBody>
      </p:sp>
      <p:sp>
        <p:nvSpPr>
          <p:cNvPr id="11" name="TextBox 10"/>
          <p:cNvSpPr txBox="1"/>
          <p:nvPr/>
        </p:nvSpPr>
        <p:spPr>
          <a:xfrm>
            <a:off x="777240" y="5458968"/>
            <a:ext cx="5212080" cy="603504"/>
          </a:xfrm>
          <a:prstGeom prst="rect">
            <a:avLst/>
          </a:prstGeom>
          <a:noFill/>
        </p:spPr>
        <p:txBody>
          <a:bodyPr wrap="square">
            <a:spAutoFit/>
          </a:bodyPr>
          <a:lstStyle/>
          <a:p>
            <a:pPr algn="l">
              <a:spcAft>
                <a:spcPts val="200"/>
              </a:spcAft>
            </a:pPr>
            <a:r>
              <a:rPr sz="1400" b="1">
                <a:solidFill>
                  <a:srgbClr val="0E6E63"/>
                </a:solidFill>
                <a:latin typeface="Helvetica Neue"/>
              </a:rPr>
              <a:t>Works offline</a:t>
            </a:r>
          </a:p>
          <a:p>
            <a:pPr>
              <a:lnSpc>
                <a:spcPct val="130000"/>
              </a:lnSpc>
              <a:spcAft>
                <a:spcPts val="0"/>
              </a:spcAft>
            </a:pPr>
            <a:r>
              <a:rPr sz="1200" b="0">
                <a:solidFill>
                  <a:srgbClr val="6F6D66"/>
                </a:solidFill>
                <a:latin typeface="Helvetica Neue"/>
              </a:rPr>
              <a:t>Last forecast kept; reports queue and send themselves</a:t>
            </a:r>
          </a:p>
        </p:txBody>
      </p:sp>
      <p:pic>
        <p:nvPicPr>
          <p:cNvPr id="12" name="Picture 11" descr="m1-home.png"/>
          <p:cNvPicPr>
            <a:picLocks noChangeAspect="1"/>
          </p:cNvPicPr>
          <p:nvPr/>
        </p:nvPicPr>
        <p:blipFill>
          <a:blip r:embed="rId2"/>
          <a:stretch>
            <a:fillRect/>
          </a:stretch>
        </p:blipFill>
        <p:spPr>
          <a:xfrm>
            <a:off x="6241694" y="1051560"/>
            <a:ext cx="1598371" cy="3305194"/>
          </a:xfrm>
          <a:prstGeom prst="rect">
            <a:avLst/>
          </a:prstGeom>
        </p:spPr>
      </p:pic>
      <p:sp>
        <p:nvSpPr>
          <p:cNvPr id="13" name="Rectangle 12"/>
          <p:cNvSpPr/>
          <p:nvPr/>
        </p:nvSpPr>
        <p:spPr>
          <a:xfrm>
            <a:off x="6241694" y="1051560"/>
            <a:ext cx="1598371" cy="3305194"/>
          </a:xfrm>
          <a:prstGeom prst="rect">
            <a:avLst/>
          </a:prstGeom>
          <a:noFill/>
          <a:ln>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4466482"/>
            <a:ext cx="1737360" cy="411480"/>
          </a:xfrm>
          <a:prstGeom prst="rect">
            <a:avLst/>
          </a:prstGeom>
          <a:noFill/>
        </p:spPr>
        <p:txBody>
          <a:bodyPr wrap="square">
            <a:spAutoFit/>
          </a:bodyPr>
          <a:lstStyle/>
          <a:p>
            <a:pPr algn="ctr">
              <a:spcAft>
                <a:spcPts val="0"/>
              </a:spcAft>
            </a:pPr>
            <a:r>
              <a:rPr sz="1100" b="0">
                <a:solidFill>
                  <a:srgbClr val="6F6D66"/>
                </a:solidFill>
                <a:latin typeface="Helvetica Neue"/>
              </a:rPr>
              <a:t>Today's risk</a:t>
            </a:r>
          </a:p>
        </p:txBody>
      </p:sp>
      <p:pic>
        <p:nvPicPr>
          <p:cNvPr id="15" name="Picture 14" descr="m2-quiz.png"/>
          <p:cNvPicPr>
            <a:picLocks noChangeAspect="1"/>
          </p:cNvPicPr>
          <p:nvPr/>
        </p:nvPicPr>
        <p:blipFill>
          <a:blip r:embed="rId3"/>
          <a:stretch>
            <a:fillRect/>
          </a:stretch>
        </p:blipFill>
        <p:spPr>
          <a:xfrm>
            <a:off x="8024774" y="1051560"/>
            <a:ext cx="1598371" cy="3305194"/>
          </a:xfrm>
          <a:prstGeom prst="rect">
            <a:avLst/>
          </a:prstGeom>
        </p:spPr>
      </p:pic>
      <p:sp>
        <p:nvSpPr>
          <p:cNvPr id="16" name="Rectangle 15"/>
          <p:cNvSpPr/>
          <p:nvPr/>
        </p:nvSpPr>
        <p:spPr>
          <a:xfrm>
            <a:off x="8024774" y="1051560"/>
            <a:ext cx="1598371" cy="3305194"/>
          </a:xfrm>
          <a:prstGeom prst="rect">
            <a:avLst/>
          </a:prstGeom>
          <a:noFill/>
          <a:ln>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0" y="4466482"/>
            <a:ext cx="1737360" cy="411480"/>
          </a:xfrm>
          <a:prstGeom prst="rect">
            <a:avLst/>
          </a:prstGeom>
          <a:noFill/>
        </p:spPr>
        <p:txBody>
          <a:bodyPr wrap="square">
            <a:spAutoFit/>
          </a:bodyPr>
          <a:lstStyle/>
          <a:p>
            <a:pPr algn="ctr">
              <a:spcAft>
                <a:spcPts val="0"/>
              </a:spcAft>
            </a:pPr>
            <a:r>
              <a:rPr sz="1100" b="0">
                <a:solidFill>
                  <a:srgbClr val="6F6D66"/>
                </a:solidFill>
                <a:latin typeface="Helvetica Neue"/>
              </a:rPr>
              <a:t>Learn by answering</a:t>
            </a:r>
          </a:p>
        </p:txBody>
      </p:sp>
      <p:pic>
        <p:nvPicPr>
          <p:cNvPr id="18" name="Picture 17" descr="m5-twi.png"/>
          <p:cNvPicPr>
            <a:picLocks noChangeAspect="1"/>
          </p:cNvPicPr>
          <p:nvPr/>
        </p:nvPicPr>
        <p:blipFill>
          <a:blip r:embed="rId4"/>
          <a:stretch>
            <a:fillRect/>
          </a:stretch>
        </p:blipFill>
        <p:spPr>
          <a:xfrm>
            <a:off x="9807854" y="1051560"/>
            <a:ext cx="1598371" cy="3305194"/>
          </a:xfrm>
          <a:prstGeom prst="rect">
            <a:avLst/>
          </a:prstGeom>
        </p:spPr>
      </p:pic>
      <p:sp>
        <p:nvSpPr>
          <p:cNvPr id="19" name="Rectangle 18"/>
          <p:cNvSpPr/>
          <p:nvPr/>
        </p:nvSpPr>
        <p:spPr>
          <a:xfrm>
            <a:off x="9807854" y="1051560"/>
            <a:ext cx="1598371" cy="3305194"/>
          </a:xfrm>
          <a:prstGeom prst="rect">
            <a:avLst/>
          </a:prstGeom>
          <a:noFill/>
          <a:ln>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66482"/>
            <a:ext cx="1737360" cy="411480"/>
          </a:xfrm>
          <a:prstGeom prst="rect">
            <a:avLst/>
          </a:prstGeom>
          <a:noFill/>
        </p:spPr>
        <p:txBody>
          <a:bodyPr wrap="square">
            <a:spAutoFit/>
          </a:bodyPr>
          <a:lstStyle/>
          <a:p>
            <a:pPr algn="ctr">
              <a:spcAft>
                <a:spcPts val="0"/>
              </a:spcAft>
            </a:pPr>
            <a:r>
              <a:rPr sz="1100" b="0">
                <a:solidFill>
                  <a:srgbClr val="6F6D66"/>
                </a:solidFill>
                <a:latin typeface="Helvetica Neue"/>
              </a:rPr>
              <a:t>The same warning in Twi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08</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REACH</a:t>
            </a:r>
          </a:p>
        </p:txBody>
      </p:sp>
      <p:sp>
        <p:nvSpPr>
          <p:cNvPr id="6" name="TextBox 5"/>
          <p:cNvSpPr txBox="1"/>
          <p:nvPr/>
        </p:nvSpPr>
        <p:spPr>
          <a:xfrm>
            <a:off x="777240" y="914400"/>
            <a:ext cx="5303520" cy="1280160"/>
          </a:xfrm>
          <a:prstGeom prst="rect">
            <a:avLst/>
          </a:prstGeom>
          <a:noFill/>
        </p:spPr>
        <p:txBody>
          <a:bodyPr wrap="square">
            <a:spAutoFit/>
          </a:bodyPr>
          <a:lstStyle/>
          <a:p>
            <a:pPr algn="l">
              <a:spcAft>
                <a:spcPts val="800"/>
              </a:spcAft>
            </a:pPr>
            <a:r>
              <a:rPr sz="3000" b="0">
                <a:solidFill>
                  <a:srgbClr val="1A1D1B"/>
                </a:solidFill>
                <a:latin typeface="Georgia"/>
              </a:rPr>
              <a:t>A smartphone is not a requirement.</a:t>
            </a:r>
          </a:p>
          <a:p>
            <a:pPr>
              <a:lnSpc>
                <a:spcPct val="145000"/>
              </a:lnSpc>
              <a:spcAft>
                <a:spcPts val="0"/>
              </a:spcAft>
            </a:pPr>
            <a:r>
              <a:rPr sz="1500" b="0">
                <a:solidFill>
                  <a:srgbClr val="6F6D66"/>
                </a:solidFill>
                <a:latin typeface="Helvetica Neue"/>
              </a:rPr>
              <a:t>Ghana has more mobile connections than people, yet three in ten Ghanaians do not use the internet at all. An app alone never reaches them.</a:t>
            </a:r>
          </a:p>
        </p:txBody>
      </p:sp>
      <p:sp>
        <p:nvSpPr>
          <p:cNvPr id="7" name="Rectangle 6"/>
          <p:cNvSpPr/>
          <p:nvPr/>
        </p:nvSpPr>
        <p:spPr>
          <a:xfrm>
            <a:off x="777240" y="2697480"/>
            <a:ext cx="5303520" cy="1371600"/>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26080"/>
            <a:ext cx="2286000" cy="1005840"/>
          </a:xfrm>
          <a:prstGeom prst="rect">
            <a:avLst/>
          </a:prstGeom>
          <a:noFill/>
        </p:spPr>
        <p:txBody>
          <a:bodyPr wrap="square">
            <a:spAutoFit/>
          </a:bodyPr>
          <a:lstStyle/>
          <a:p>
            <a:pPr algn="l">
              <a:spcAft>
                <a:spcPts val="200"/>
              </a:spcAft>
            </a:pPr>
            <a:r>
              <a:rPr sz="2600" b="0">
                <a:solidFill>
                  <a:srgbClr val="0E6E63"/>
                </a:solidFill>
                <a:latin typeface="Georgia"/>
              </a:rPr>
              <a:t>38.3m</a:t>
            </a:r>
          </a:p>
          <a:p>
            <a:pPr>
              <a:lnSpc>
                <a:spcPct val="130000"/>
              </a:lnSpc>
              <a:spcAft>
                <a:spcPts val="0"/>
              </a:spcAft>
            </a:pPr>
            <a:r>
              <a:rPr sz="1200" b="0">
                <a:solidFill>
                  <a:srgbClr val="6F6D66"/>
                </a:solidFill>
                <a:latin typeface="Helvetica Neue"/>
              </a:rPr>
              <a:t>mobile connections</a:t>
            </a:r>
          </a:p>
        </p:txBody>
      </p:sp>
      <p:sp>
        <p:nvSpPr>
          <p:cNvPr id="9" name="TextBox 8"/>
          <p:cNvSpPr txBox="1"/>
          <p:nvPr/>
        </p:nvSpPr>
        <p:spPr>
          <a:xfrm>
            <a:off x="3566160" y="2926080"/>
            <a:ext cx="2286000" cy="1005840"/>
          </a:xfrm>
          <a:prstGeom prst="rect">
            <a:avLst/>
          </a:prstGeom>
          <a:noFill/>
        </p:spPr>
        <p:txBody>
          <a:bodyPr wrap="square">
            <a:spAutoFit/>
          </a:bodyPr>
          <a:lstStyle/>
          <a:p>
            <a:pPr algn="l">
              <a:spcAft>
                <a:spcPts val="200"/>
              </a:spcAft>
            </a:pPr>
            <a:r>
              <a:rPr sz="2600" b="0">
                <a:solidFill>
                  <a:srgbClr val="0E6E63"/>
                </a:solidFill>
                <a:latin typeface="Georgia"/>
              </a:rPr>
              <a:t>69.9%</a:t>
            </a:r>
          </a:p>
          <a:p>
            <a:pPr>
              <a:lnSpc>
                <a:spcPct val="130000"/>
              </a:lnSpc>
              <a:spcAft>
                <a:spcPts val="0"/>
              </a:spcAft>
            </a:pPr>
            <a:r>
              <a:rPr sz="1200" b="0">
                <a:solidFill>
                  <a:srgbClr val="6F6D66"/>
                </a:solidFill>
                <a:latin typeface="Helvetica Neue"/>
              </a:rPr>
              <a:t>use the internet</a:t>
            </a:r>
          </a:p>
        </p:txBody>
      </p:sp>
      <p:sp>
        <p:nvSpPr>
          <p:cNvPr id="10" name="TextBox 9"/>
          <p:cNvSpPr txBox="1"/>
          <p:nvPr/>
        </p:nvSpPr>
        <p:spPr>
          <a:xfrm>
            <a:off x="1051560" y="4224528"/>
            <a:ext cx="4754880" cy="274320"/>
          </a:xfrm>
          <a:prstGeom prst="rect">
            <a:avLst/>
          </a:prstGeom>
          <a:noFill/>
        </p:spPr>
        <p:txBody>
          <a:bodyPr wrap="square">
            <a:spAutoFit/>
          </a:bodyPr>
          <a:lstStyle/>
          <a:p>
            <a:pPr algn="l">
              <a:spcAft>
                <a:spcPts val="0"/>
              </a:spcAft>
            </a:pPr>
            <a:r>
              <a:rPr sz="1000" b="0">
                <a:solidFill>
                  <a:srgbClr val="A8A59E"/>
                </a:solidFill>
                <a:latin typeface="Helvetica Neue"/>
              </a:rPr>
              <a:t>GSMA Intelligence / DataReportal, Digital 2025 Ghana</a:t>
            </a:r>
          </a:p>
        </p:txBody>
      </p:sp>
      <p:sp>
        <p:nvSpPr>
          <p:cNvPr id="11" name="TextBox 10"/>
          <p:cNvSpPr txBox="1"/>
          <p:nvPr/>
        </p:nvSpPr>
        <p:spPr>
          <a:xfrm>
            <a:off x="777240" y="4709160"/>
            <a:ext cx="5303520" cy="1645920"/>
          </a:xfrm>
          <a:prstGeom prst="rect">
            <a:avLst/>
          </a:prstGeom>
          <a:noFill/>
        </p:spPr>
        <p:txBody>
          <a:bodyPr wrap="square">
            <a:spAutoFit/>
          </a:bodyPr>
          <a:lstStyle/>
          <a:p>
            <a:pPr algn="l">
              <a:spcAft>
                <a:spcPts val="800"/>
              </a:spcAft>
            </a:pPr>
            <a:r>
              <a:rPr sz="1900" b="0">
                <a:solidFill>
                  <a:srgbClr val="1A1D1B"/>
                </a:solidFill>
                <a:latin typeface="Georgia"/>
              </a:rPr>
              <a:t>Live on Africa's Talking.</a:t>
            </a:r>
          </a:p>
          <a:p>
            <a:pPr>
              <a:lnSpc>
                <a:spcPct val="145000"/>
              </a:lnSpc>
              <a:spcAft>
                <a:spcPts val="0"/>
              </a:spcAft>
            </a:pPr>
            <a:r>
              <a:rPr sz="1400" b="0">
                <a:solidFill>
                  <a:srgbClr val="6F6D66"/>
                </a:solidFill>
                <a:latin typeface="Helvetica Neue"/>
              </a:rPr>
              <a:t>Dial the shortcode, choose a language, choose a region, choose a district, get today's warning. No data, no app, no smartphone. SMS pushes the same warning to a district when risk crosses the threshold.</a:t>
            </a:r>
          </a:p>
        </p:txBody>
      </p:sp>
      <p:pic>
        <p:nvPicPr>
          <p:cNvPr id="12" name="Picture 11" descr="u1-region.png"/>
          <p:cNvPicPr>
            <a:picLocks noChangeAspect="1"/>
          </p:cNvPicPr>
          <p:nvPr/>
        </p:nvPicPr>
        <p:blipFill>
          <a:blip r:embed="rId2"/>
          <a:stretch>
            <a:fillRect/>
          </a:stretch>
        </p:blipFill>
        <p:spPr>
          <a:xfrm>
            <a:off x="6466637" y="1051560"/>
            <a:ext cx="1514246" cy="3009681"/>
          </a:xfrm>
          <a:prstGeom prst="rect">
            <a:avLst/>
          </a:prstGeom>
        </p:spPr>
      </p:pic>
      <p:sp>
        <p:nvSpPr>
          <p:cNvPr id="13" name="Rectangle 12"/>
          <p:cNvSpPr/>
          <p:nvPr/>
        </p:nvSpPr>
        <p:spPr>
          <a:xfrm>
            <a:off x="6466637" y="1051560"/>
            <a:ext cx="1514246" cy="3009681"/>
          </a:xfrm>
          <a:prstGeom prst="rect">
            <a:avLst/>
          </a:prstGeom>
          <a:noFill/>
          <a:ln>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4170969"/>
            <a:ext cx="1645920" cy="411480"/>
          </a:xfrm>
          <a:prstGeom prst="rect">
            <a:avLst/>
          </a:prstGeom>
          <a:noFill/>
        </p:spPr>
        <p:txBody>
          <a:bodyPr wrap="square">
            <a:spAutoFit/>
          </a:bodyPr>
          <a:lstStyle/>
          <a:p>
            <a:pPr algn="ctr">
              <a:spcAft>
                <a:spcPts val="0"/>
              </a:spcAft>
            </a:pPr>
            <a:r>
              <a:rPr sz="1100" b="0">
                <a:solidFill>
                  <a:srgbClr val="6F6D66"/>
                </a:solidFill>
                <a:latin typeface="Helvetica Neue"/>
              </a:rPr>
              <a:t>Choose region</a:t>
            </a:r>
          </a:p>
        </p:txBody>
      </p:sp>
      <p:pic>
        <p:nvPicPr>
          <p:cNvPr id="15" name="Picture 14" descr="u2-district.png"/>
          <p:cNvPicPr>
            <a:picLocks noChangeAspect="1"/>
          </p:cNvPicPr>
          <p:nvPr/>
        </p:nvPicPr>
        <p:blipFill>
          <a:blip r:embed="rId3"/>
          <a:stretch>
            <a:fillRect/>
          </a:stretch>
        </p:blipFill>
        <p:spPr>
          <a:xfrm>
            <a:off x="8158277" y="1051560"/>
            <a:ext cx="1514246" cy="3009681"/>
          </a:xfrm>
          <a:prstGeom prst="rect">
            <a:avLst/>
          </a:prstGeom>
        </p:spPr>
      </p:pic>
      <p:sp>
        <p:nvSpPr>
          <p:cNvPr id="16" name="Rectangle 15"/>
          <p:cNvSpPr/>
          <p:nvPr/>
        </p:nvSpPr>
        <p:spPr>
          <a:xfrm>
            <a:off x="8158277" y="1051560"/>
            <a:ext cx="1514246" cy="3009681"/>
          </a:xfrm>
          <a:prstGeom prst="rect">
            <a:avLst/>
          </a:prstGeom>
          <a:noFill/>
          <a:ln>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4170969"/>
            <a:ext cx="1645920" cy="411480"/>
          </a:xfrm>
          <a:prstGeom prst="rect">
            <a:avLst/>
          </a:prstGeom>
          <a:noFill/>
        </p:spPr>
        <p:txBody>
          <a:bodyPr wrap="square">
            <a:spAutoFit/>
          </a:bodyPr>
          <a:lstStyle/>
          <a:p>
            <a:pPr algn="ctr">
              <a:spcAft>
                <a:spcPts val="0"/>
              </a:spcAft>
            </a:pPr>
            <a:r>
              <a:rPr sz="1100" b="0">
                <a:solidFill>
                  <a:srgbClr val="6F6D66"/>
                </a:solidFill>
                <a:latin typeface="Helvetica Neue"/>
              </a:rPr>
              <a:t>Choose district</a:t>
            </a:r>
          </a:p>
        </p:txBody>
      </p:sp>
      <p:pic>
        <p:nvPicPr>
          <p:cNvPr id="18" name="Picture 17" descr="u3-warning.png"/>
          <p:cNvPicPr>
            <a:picLocks noChangeAspect="1"/>
          </p:cNvPicPr>
          <p:nvPr/>
        </p:nvPicPr>
        <p:blipFill>
          <a:blip r:embed="rId4"/>
          <a:stretch>
            <a:fillRect/>
          </a:stretch>
        </p:blipFill>
        <p:spPr>
          <a:xfrm>
            <a:off x="9849917" y="1051560"/>
            <a:ext cx="1514246" cy="3009681"/>
          </a:xfrm>
          <a:prstGeom prst="rect">
            <a:avLst/>
          </a:prstGeom>
        </p:spPr>
      </p:pic>
      <p:sp>
        <p:nvSpPr>
          <p:cNvPr id="19" name="Rectangle 18"/>
          <p:cNvSpPr/>
          <p:nvPr/>
        </p:nvSpPr>
        <p:spPr>
          <a:xfrm>
            <a:off x="9849917" y="1051560"/>
            <a:ext cx="1514246" cy="3009681"/>
          </a:xfrm>
          <a:prstGeom prst="rect">
            <a:avLst/>
          </a:prstGeom>
          <a:noFill/>
          <a:ln>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4170969"/>
            <a:ext cx="1645920" cy="411480"/>
          </a:xfrm>
          <a:prstGeom prst="rect">
            <a:avLst/>
          </a:prstGeom>
          <a:noFill/>
        </p:spPr>
        <p:txBody>
          <a:bodyPr wrap="square">
            <a:spAutoFit/>
          </a:bodyPr>
          <a:lstStyle/>
          <a:p>
            <a:pPr algn="ctr">
              <a:spcAft>
                <a:spcPts val="0"/>
              </a:spcAft>
            </a:pPr>
            <a:r>
              <a:rPr sz="1100" b="0">
                <a:solidFill>
                  <a:srgbClr val="6F6D66"/>
                </a:solidFill>
                <a:latin typeface="Helvetica Neue"/>
              </a:rPr>
              <a:t>Today's warning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09</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REWARDS THAT ARE FUNDABLE</a:t>
            </a:r>
          </a:p>
        </p:txBody>
      </p:sp>
      <p:sp>
        <p:nvSpPr>
          <p:cNvPr id="6" name="TextBox 5"/>
          <p:cNvSpPr txBox="1"/>
          <p:nvPr/>
        </p:nvSpPr>
        <p:spPr>
          <a:xfrm>
            <a:off x="777240" y="914400"/>
            <a:ext cx="10607040" cy="822960"/>
          </a:xfrm>
          <a:prstGeom prst="rect">
            <a:avLst/>
          </a:prstGeom>
          <a:noFill/>
        </p:spPr>
        <p:txBody>
          <a:bodyPr wrap="square">
            <a:spAutoFit/>
          </a:bodyPr>
          <a:lstStyle/>
          <a:p>
            <a:pPr algn="l">
              <a:spcAft>
                <a:spcPts val="800"/>
              </a:spcAft>
            </a:pPr>
            <a:r>
              <a:rPr sz="3000" b="0">
                <a:solidFill>
                  <a:srgbClr val="1A1D1B"/>
                </a:solidFill>
                <a:latin typeface="Georgia"/>
              </a:rPr>
              <a:t>Points buy health cover, not cash.</a:t>
            </a:r>
          </a:p>
          <a:p>
            <a:pPr>
              <a:lnSpc>
                <a:spcPct val="140000"/>
              </a:lnSpc>
              <a:spcAft>
                <a:spcPts val="0"/>
              </a:spcAft>
            </a:pPr>
            <a:r>
              <a:rPr sz="1500" b="0">
                <a:solidFill>
                  <a:srgbClr val="6F6D66"/>
                </a:solidFill>
                <a:latin typeface="Helvetica Neue"/>
              </a:rPr>
              <a:t>3,500 points is one year of NHIS cover. Derived, not chosen: the adult premium runs GHS 7.20 to 48 by income band, about GHS 30 to 50 for informal workers, and we price a point at one pesewa.</a:t>
            </a:r>
          </a:p>
        </p:txBody>
      </p:sp>
      <p:pic>
        <p:nvPicPr>
          <p:cNvPr id="7" name="Picture 6" descr="w2-renewals.png"/>
          <p:cNvPicPr>
            <a:picLocks noChangeAspect="1"/>
          </p:cNvPicPr>
          <p:nvPr/>
        </p:nvPicPr>
        <p:blipFill>
          <a:blip r:embed="rId2"/>
          <a:stretch>
            <a:fillRect/>
          </a:stretch>
        </p:blipFill>
        <p:spPr>
          <a:xfrm>
            <a:off x="1000354" y="2286000"/>
            <a:ext cx="5131612" cy="2886532"/>
          </a:xfrm>
          <a:prstGeom prst="rect">
            <a:avLst/>
          </a:prstGeom>
        </p:spPr>
      </p:pic>
      <p:sp>
        <p:nvSpPr>
          <p:cNvPr id="8" name="Rectangle 7"/>
          <p:cNvSpPr/>
          <p:nvPr/>
        </p:nvSpPr>
        <p:spPr>
          <a:xfrm>
            <a:off x="1000354" y="2286000"/>
            <a:ext cx="5131612" cy="2886532"/>
          </a:xfrm>
          <a:prstGeom prst="rect">
            <a:avLst/>
          </a:prstGeom>
          <a:noFill/>
          <a:ln>
            <a:solidFill>
              <a:srgbClr val="E4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282260"/>
            <a:ext cx="5577840" cy="411480"/>
          </a:xfrm>
          <a:prstGeom prst="rect">
            <a:avLst/>
          </a:prstGeom>
          <a:noFill/>
        </p:spPr>
        <p:txBody>
          <a:bodyPr wrap="square">
            <a:spAutoFit/>
          </a:bodyPr>
          <a:lstStyle/>
          <a:p>
            <a:pPr algn="ctr">
              <a:spcAft>
                <a:spcPts val="0"/>
              </a:spcAft>
            </a:pPr>
            <a:r>
              <a:rPr sz="1100" b="0">
                <a:solidFill>
                  <a:srgbClr val="6F6D66"/>
                </a:solidFill>
                <a:latin typeface="Helvetica Neue"/>
              </a:rPr>
              <a:t>The renewal queue · GHS only · seeded demonstration Guardians</a:t>
            </a:r>
          </a:p>
        </p:txBody>
      </p:sp>
      <p:sp>
        <p:nvSpPr>
          <p:cNvPr id="10" name="Rectangle 9"/>
          <p:cNvSpPr/>
          <p:nvPr/>
        </p:nvSpPr>
        <p:spPr>
          <a:xfrm>
            <a:off x="6720840" y="2286000"/>
            <a:ext cx="4709160" cy="3017520"/>
          </a:xfrm>
          <a:prstGeom prst="rect">
            <a:avLst/>
          </a:prstGeom>
          <a:solidFill>
            <a:srgbClr val="EF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0" y="2514600"/>
            <a:ext cx="4160520" cy="2651760"/>
          </a:xfrm>
          <a:prstGeom prst="rect">
            <a:avLst/>
          </a:prstGeom>
          <a:noFill/>
        </p:spPr>
        <p:txBody>
          <a:bodyPr wrap="square">
            <a:spAutoFit/>
          </a:bodyPr>
          <a:lstStyle/>
          <a:p>
            <a:pPr algn="l">
              <a:lnSpc>
                <a:spcPct val="125000"/>
              </a:lnSpc>
              <a:spcAft>
                <a:spcPts val="800"/>
              </a:spcAft>
            </a:pPr>
            <a:r>
              <a:rPr sz="1700" b="1">
                <a:solidFill>
                  <a:srgbClr val="1A1D1B"/>
                </a:solidFill>
                <a:latin typeface="Helvetica Neue"/>
              </a:rPr>
              <a:t>No money leaves the platform.</a:t>
            </a:r>
          </a:p>
          <a:p>
            <a:pPr>
              <a:lnSpc>
                <a:spcPct val="145000"/>
              </a:lnSpc>
              <a:spcAft>
                <a:spcPts val="1200"/>
              </a:spcAft>
            </a:pPr>
            <a:r>
              <a:rPr sz="1300" b="0">
                <a:solidFill>
                  <a:srgbClr val="6F6D66"/>
                </a:solidFill>
                <a:latin typeface="Helvetica Neue"/>
              </a:rPr>
              <a:t>No float to hold, no payout licence, no transfer that cannot be recalled. The platform never says a renewal happened: it records who earned one and hands that to Ghana Health Service, who renew and confirm.</a:t>
            </a:r>
          </a:p>
          <a:p>
            <a:pPr>
              <a:lnSpc>
                <a:spcPct val="130000"/>
              </a:lnSpc>
              <a:spcAft>
                <a:spcPts val="600"/>
              </a:spcAft>
            </a:pPr>
            <a:r>
              <a:rPr sz="1500" b="1">
                <a:solidFill>
                  <a:srgbClr val="0E6E63"/>
                </a:solidFill>
                <a:latin typeface="Helvetica Neue"/>
              </a:rPr>
              <a:t>About 44% of Ghanaians hold no active cover.</a:t>
            </a:r>
          </a:p>
          <a:p>
            <a:pPr>
              <a:lnSpc>
                <a:spcPct val="145000"/>
              </a:lnSpc>
              <a:spcAft>
                <a:spcPts val="0"/>
              </a:spcAft>
            </a:pPr>
            <a:r>
              <a:rPr sz="1300" b="0">
                <a:solidFill>
                  <a:srgbClr val="6F6D66"/>
                </a:solidFill>
                <a:latin typeface="Helvetica Neue"/>
              </a:rPr>
              <a:t>They are the same people most exposed to climate-driven illness. The reward removes the exact cost that kept them out, which is why they come back tomorrow. The streak forgives a missed day, and wrong answers still earn, so nobody is locked out of health information for getting one wrong.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10</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WHAT YOU ASKED US LAST TIME</a:t>
            </a:r>
          </a:p>
        </p:txBody>
      </p:sp>
      <p:sp>
        <p:nvSpPr>
          <p:cNvPr id="6" name="TextBox 5"/>
          <p:cNvSpPr txBox="1"/>
          <p:nvPr/>
        </p:nvSpPr>
        <p:spPr>
          <a:xfrm>
            <a:off x="777240" y="914400"/>
            <a:ext cx="10607040" cy="640080"/>
          </a:xfrm>
          <a:prstGeom prst="rect">
            <a:avLst/>
          </a:prstGeom>
          <a:noFill/>
        </p:spPr>
        <p:txBody>
          <a:bodyPr wrap="square">
            <a:spAutoFit/>
          </a:bodyPr>
          <a:lstStyle/>
          <a:p>
            <a:pPr algn="l">
              <a:spcAft>
                <a:spcPts val="0"/>
              </a:spcAft>
            </a:pPr>
            <a:r>
              <a:rPr sz="3000" b="0">
                <a:solidFill>
                  <a:srgbClr val="1A1D1B"/>
                </a:solidFill>
                <a:latin typeface="Georgia"/>
              </a:rPr>
              <a:t>Three criticisms, three answers.</a:t>
            </a:r>
          </a:p>
        </p:txBody>
      </p:sp>
      <p:sp>
        <p:nvSpPr>
          <p:cNvPr id="7" name="Rectangle 6"/>
          <p:cNvSpPr/>
          <p:nvPr/>
        </p:nvSpPr>
        <p:spPr>
          <a:xfrm>
            <a:off x="777240" y="1645920"/>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657600" cy="914400"/>
          </a:xfrm>
          <a:prstGeom prst="rect">
            <a:avLst/>
          </a:prstGeom>
          <a:noFill/>
        </p:spPr>
        <p:txBody>
          <a:bodyPr wrap="square">
            <a:spAutoFit/>
          </a:bodyPr>
          <a:lstStyle/>
          <a:p>
            <a:pPr algn="l">
              <a:lnSpc>
                <a:spcPct val="130000"/>
              </a:lnSpc>
              <a:spcAft>
                <a:spcPts val="0"/>
              </a:spcAft>
            </a:pPr>
            <a:r>
              <a:rPr sz="1600" b="1">
                <a:solidFill>
                  <a:srgbClr val="A32118"/>
                </a:solidFill>
                <a:latin typeface="Helvetica Neue"/>
              </a:rPr>
              <a:t>Field validation unproven</a:t>
            </a:r>
          </a:p>
        </p:txBody>
      </p:sp>
      <p:sp>
        <p:nvSpPr>
          <p:cNvPr id="9" name="TextBox 8"/>
          <p:cNvSpPr txBox="1"/>
          <p:nvPr/>
        </p:nvSpPr>
        <p:spPr>
          <a:xfrm>
            <a:off x="4754880" y="1828800"/>
            <a:ext cx="6675120" cy="914400"/>
          </a:xfrm>
          <a:prstGeom prst="rect">
            <a:avLst/>
          </a:prstGeom>
          <a:noFill/>
        </p:spPr>
        <p:txBody>
          <a:bodyPr wrap="square">
            <a:spAutoFit/>
          </a:bodyPr>
          <a:lstStyle/>
          <a:p>
            <a:pPr algn="l">
              <a:lnSpc>
                <a:spcPct val="145000"/>
              </a:lnSpc>
              <a:spcAft>
                <a:spcPts val="0"/>
              </a:spcAft>
            </a:pPr>
            <a:r>
              <a:rPr sz="1400" b="0">
                <a:solidFill>
                  <a:srgbClr val="1A1D1B"/>
                </a:solidFill>
                <a:latin typeface="Helvetica Neue"/>
              </a:rPr>
              <a:t>Ɔhwɛfoɔ: an officer stands where the report was filed and confirms it before any agency spends a truck. Every validation signed and timestamped.</a:t>
            </a:r>
          </a:p>
        </p:txBody>
      </p:sp>
      <p:sp>
        <p:nvSpPr>
          <p:cNvPr id="10" name="Rectangle 9"/>
          <p:cNvSpPr/>
          <p:nvPr/>
        </p:nvSpPr>
        <p:spPr>
          <a:xfrm>
            <a:off x="777240" y="2852928"/>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35808"/>
            <a:ext cx="3657600" cy="914400"/>
          </a:xfrm>
          <a:prstGeom prst="rect">
            <a:avLst/>
          </a:prstGeom>
          <a:noFill/>
        </p:spPr>
        <p:txBody>
          <a:bodyPr wrap="square">
            <a:spAutoFit/>
          </a:bodyPr>
          <a:lstStyle/>
          <a:p>
            <a:pPr algn="l">
              <a:lnSpc>
                <a:spcPct val="130000"/>
              </a:lnSpc>
              <a:spcAft>
                <a:spcPts val="0"/>
              </a:spcAft>
            </a:pPr>
            <a:r>
              <a:rPr sz="1600" b="1">
                <a:solidFill>
                  <a:srgbClr val="A32118"/>
                </a:solidFill>
                <a:latin typeface="Helvetica Neue"/>
              </a:rPr>
              <a:t>Institutional integration unproven</a:t>
            </a:r>
          </a:p>
        </p:txBody>
      </p:sp>
      <p:sp>
        <p:nvSpPr>
          <p:cNvPr id="12" name="TextBox 11"/>
          <p:cNvSpPr txBox="1"/>
          <p:nvPr/>
        </p:nvSpPr>
        <p:spPr>
          <a:xfrm>
            <a:off x="4754880" y="3035808"/>
            <a:ext cx="6675120" cy="914400"/>
          </a:xfrm>
          <a:prstGeom prst="rect">
            <a:avLst/>
          </a:prstGeom>
          <a:noFill/>
        </p:spPr>
        <p:txBody>
          <a:bodyPr wrap="square">
            <a:spAutoFit/>
          </a:bodyPr>
          <a:lstStyle/>
          <a:p>
            <a:pPr algn="l">
              <a:lnSpc>
                <a:spcPct val="145000"/>
              </a:lnSpc>
              <a:spcAft>
                <a:spcPts val="0"/>
              </a:spcAft>
            </a:pPr>
            <a:r>
              <a:rPr sz="1400" b="0">
                <a:solidFill>
                  <a:srgbClr val="1A1D1B"/>
                </a:solidFill>
                <a:latin typeface="Helvetica Neue"/>
              </a:rPr>
              <a:t>Reports move through named agency stages with a permission model, and every agency gets a view scoped to its own mandate.</a:t>
            </a:r>
          </a:p>
        </p:txBody>
      </p:sp>
      <p:sp>
        <p:nvSpPr>
          <p:cNvPr id="13" name="Rectangle 12"/>
          <p:cNvSpPr/>
          <p:nvPr/>
        </p:nvSpPr>
        <p:spPr>
          <a:xfrm>
            <a:off x="777240" y="4059936"/>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42816"/>
            <a:ext cx="3657600" cy="914400"/>
          </a:xfrm>
          <a:prstGeom prst="rect">
            <a:avLst/>
          </a:prstGeom>
          <a:noFill/>
        </p:spPr>
        <p:txBody>
          <a:bodyPr wrap="square">
            <a:spAutoFit/>
          </a:bodyPr>
          <a:lstStyle/>
          <a:p>
            <a:pPr algn="l">
              <a:lnSpc>
                <a:spcPct val="130000"/>
              </a:lnSpc>
              <a:spcAft>
                <a:spcPts val="0"/>
              </a:spcAft>
            </a:pPr>
            <a:r>
              <a:rPr sz="1600" b="1">
                <a:solidFill>
                  <a:srgbClr val="A32118"/>
                </a:solidFill>
                <a:latin typeface="Helvetica Neue"/>
              </a:rPr>
              <a:t>Reward feasibility unproven</a:t>
            </a:r>
          </a:p>
        </p:txBody>
      </p:sp>
      <p:sp>
        <p:nvSpPr>
          <p:cNvPr id="15" name="TextBox 14"/>
          <p:cNvSpPr txBox="1"/>
          <p:nvPr/>
        </p:nvSpPr>
        <p:spPr>
          <a:xfrm>
            <a:off x="4754880" y="4242816"/>
            <a:ext cx="6675120" cy="914400"/>
          </a:xfrm>
          <a:prstGeom prst="rect">
            <a:avLst/>
          </a:prstGeom>
          <a:noFill/>
        </p:spPr>
        <p:txBody>
          <a:bodyPr wrap="square">
            <a:spAutoFit/>
          </a:bodyPr>
          <a:lstStyle/>
          <a:p>
            <a:pPr algn="l">
              <a:lnSpc>
                <a:spcPct val="145000"/>
              </a:lnSpc>
              <a:spcAft>
                <a:spcPts val="0"/>
              </a:spcAft>
            </a:pPr>
            <a:r>
              <a:rPr sz="1400" b="0">
                <a:solidFill>
                  <a:srgbClr val="1A1D1B"/>
                </a:solidFill>
                <a:latin typeface="Helvetica Neue"/>
              </a:rPr>
              <a:t>Cash removed. Points buy NHIS cover priced against the real premium band, issued by Ghana Health Service, not by us.</a:t>
            </a:r>
          </a:p>
        </p:txBody>
      </p:sp>
      <p:sp>
        <p:nvSpPr>
          <p:cNvPr id="16" name="Rectangle 15"/>
          <p:cNvSpPr/>
          <p:nvPr/>
        </p:nvSpPr>
        <p:spPr>
          <a:xfrm>
            <a:off x="777240" y="5440680"/>
            <a:ext cx="10637215" cy="960120"/>
          </a:xfrm>
          <a:prstGeom prst="rect">
            <a:avLst/>
          </a:prstGeom>
          <a:solidFill>
            <a:srgbClr val="EF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577840"/>
            <a:ext cx="10058400" cy="777240"/>
          </a:xfrm>
          <a:prstGeom prst="rect">
            <a:avLst/>
          </a:prstGeom>
          <a:noFill/>
        </p:spPr>
        <p:txBody>
          <a:bodyPr wrap="square">
            <a:spAutoFit/>
          </a:bodyPr>
          <a:lstStyle/>
          <a:p>
            <a:pPr algn="l">
              <a:spcAft>
                <a:spcPts val="600"/>
              </a:spcAft>
            </a:pPr>
            <a:r>
              <a:rPr sz="1000" b="1" spc="160">
                <a:solidFill>
                  <a:srgbClr val="0E6E63"/>
                </a:solidFill>
                <a:latin typeface="Helvetica Neue"/>
              </a:rPr>
              <a:t>WHAT WE ARE ASKING FOR</a:t>
            </a:r>
          </a:p>
          <a:p>
            <a:pPr>
              <a:lnSpc>
                <a:spcPct val="140000"/>
              </a:lnSpc>
              <a:spcAft>
                <a:spcPts val="0"/>
              </a:spcAft>
            </a:pPr>
            <a:r>
              <a:rPr sz="1400" b="0">
                <a:solidFill>
                  <a:srgbClr val="1A1D1B"/>
                </a:solidFill>
                <a:latin typeface="Helvetica Neue"/>
              </a:rPr>
              <a:t>One district and one season. Give us Madina and a Ghana Health Service link, and we will run the engine against DHIMS2 case records to show how early the warning actually was. It is the only part we cannot build ourselves.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D1B"/>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11</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1188720" y="2103120"/>
            <a:ext cx="10058400" cy="2194560"/>
          </a:xfrm>
          <a:prstGeom prst="rect">
            <a:avLst/>
          </a:prstGeom>
          <a:noFill/>
        </p:spPr>
        <p:txBody>
          <a:bodyPr wrap="square">
            <a:spAutoFit/>
          </a:bodyPr>
          <a:lstStyle/>
          <a:p>
            <a:pPr algn="l">
              <a:spcAft>
                <a:spcPts val="2000"/>
              </a:spcAft>
            </a:pPr>
            <a:r>
              <a:rPr sz="1200" b="1" spc="240">
                <a:solidFill>
                  <a:srgbClr val="5FB5A8"/>
                </a:solidFill>
                <a:latin typeface="Helvetica Neue"/>
              </a:rPr>
              <a:t>CLIMAHEALTH PREDICT</a:t>
            </a:r>
          </a:p>
          <a:p>
            <a:pPr>
              <a:lnSpc>
                <a:spcPct val="108000"/>
              </a:lnSpc>
              <a:spcAft>
                <a:spcPts val="200"/>
              </a:spcAft>
            </a:pPr>
            <a:r>
              <a:rPr sz="3600" b="0">
                <a:solidFill>
                  <a:srgbClr val="FFFFFF"/>
                </a:solidFill>
                <a:latin typeface="Georgia"/>
              </a:rPr>
              <a:t>The climate signal is already there.</a:t>
            </a:r>
          </a:p>
          <a:p>
            <a:pPr>
              <a:lnSpc>
                <a:spcPct val="108000"/>
              </a:lnSpc>
              <a:spcAft>
                <a:spcPts val="200"/>
              </a:spcAft>
            </a:pPr>
            <a:r>
              <a:rPr sz="3600" b="0">
                <a:solidFill>
                  <a:srgbClr val="FFFFFF"/>
                </a:solidFill>
                <a:latin typeface="Georgia"/>
              </a:rPr>
              <a:t>We turn it into a warning</a:t>
            </a:r>
          </a:p>
          <a:p>
            <a:pPr>
              <a:lnSpc>
                <a:spcPct val="108000"/>
              </a:lnSpc>
              <a:spcAft>
                <a:spcPts val="0"/>
              </a:spcAft>
            </a:pPr>
            <a:r>
              <a:rPr sz="3600" b="0">
                <a:solidFill>
                  <a:srgbClr val="5FB5A8"/>
                </a:solidFill>
                <a:latin typeface="Georgia"/>
              </a:rPr>
              <a:t>somebody can act on.</a:t>
            </a:r>
          </a:p>
        </p:txBody>
      </p:sp>
      <p:sp>
        <p:nvSpPr>
          <p:cNvPr id="6" name="Rectangle 5"/>
          <p:cNvSpPr/>
          <p:nvPr/>
        </p:nvSpPr>
        <p:spPr>
          <a:xfrm>
            <a:off x="1188720" y="4754880"/>
            <a:ext cx="10058400" cy="9525"/>
          </a:xfrm>
          <a:prstGeom prst="rect">
            <a:avLst/>
          </a:prstGeom>
          <a:solidFill>
            <a:srgbClr val="3A3F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983480"/>
            <a:ext cx="2286000" cy="914400"/>
          </a:xfrm>
          <a:prstGeom prst="rect">
            <a:avLst/>
          </a:prstGeom>
          <a:noFill/>
        </p:spPr>
        <p:txBody>
          <a:bodyPr wrap="square">
            <a:spAutoFit/>
          </a:bodyPr>
          <a:lstStyle/>
          <a:p>
            <a:pPr algn="l">
              <a:spcAft>
                <a:spcPts val="200"/>
              </a:spcAft>
            </a:pPr>
            <a:r>
              <a:rPr sz="2800" b="0">
                <a:solidFill>
                  <a:srgbClr val="5FB5A8"/>
                </a:solidFill>
                <a:latin typeface="Georgia"/>
              </a:rPr>
              <a:t>260</a:t>
            </a:r>
          </a:p>
          <a:p>
            <a:pPr>
              <a:spcAft>
                <a:spcPts val="0"/>
              </a:spcAft>
            </a:pPr>
            <a:r>
              <a:rPr sz="1200" b="0">
                <a:solidFill>
                  <a:srgbClr val="9A9E9A"/>
                </a:solidFill>
                <a:latin typeface="Helvetica Neue"/>
              </a:rPr>
              <a:t>districts, daily</a:t>
            </a:r>
          </a:p>
        </p:txBody>
      </p:sp>
      <p:sp>
        <p:nvSpPr>
          <p:cNvPr id="8" name="TextBox 7"/>
          <p:cNvSpPr txBox="1"/>
          <p:nvPr/>
        </p:nvSpPr>
        <p:spPr>
          <a:xfrm>
            <a:off x="3703320" y="4983480"/>
            <a:ext cx="2286000" cy="914400"/>
          </a:xfrm>
          <a:prstGeom prst="rect">
            <a:avLst/>
          </a:prstGeom>
          <a:noFill/>
        </p:spPr>
        <p:txBody>
          <a:bodyPr wrap="square">
            <a:spAutoFit/>
          </a:bodyPr>
          <a:lstStyle/>
          <a:p>
            <a:pPr algn="l">
              <a:spcAft>
                <a:spcPts val="200"/>
              </a:spcAft>
            </a:pPr>
            <a:r>
              <a:rPr sz="2800" b="0">
                <a:solidFill>
                  <a:srgbClr val="5FB5A8"/>
                </a:solidFill>
                <a:latin typeface="Georgia"/>
              </a:rPr>
              <a:t>5</a:t>
            </a:r>
          </a:p>
          <a:p>
            <a:pPr>
              <a:spcAft>
                <a:spcPts val="0"/>
              </a:spcAft>
            </a:pPr>
            <a:r>
              <a:rPr sz="1200" b="0">
                <a:solidFill>
                  <a:srgbClr val="9A9E9A"/>
                </a:solidFill>
                <a:latin typeface="Helvetica Neue"/>
              </a:rPr>
              <a:t>disease pathways</a:t>
            </a:r>
          </a:p>
        </p:txBody>
      </p:sp>
      <p:sp>
        <p:nvSpPr>
          <p:cNvPr id="9" name="TextBox 8"/>
          <p:cNvSpPr txBox="1"/>
          <p:nvPr/>
        </p:nvSpPr>
        <p:spPr>
          <a:xfrm>
            <a:off x="6217920" y="4983480"/>
            <a:ext cx="2286000" cy="914400"/>
          </a:xfrm>
          <a:prstGeom prst="rect">
            <a:avLst/>
          </a:prstGeom>
          <a:noFill/>
        </p:spPr>
        <p:txBody>
          <a:bodyPr wrap="square">
            <a:spAutoFit/>
          </a:bodyPr>
          <a:lstStyle/>
          <a:p>
            <a:pPr algn="l">
              <a:spcAft>
                <a:spcPts val="200"/>
              </a:spcAft>
            </a:pPr>
            <a:r>
              <a:rPr sz="2800" b="0">
                <a:solidFill>
                  <a:srgbClr val="5FB5A8"/>
                </a:solidFill>
                <a:latin typeface="Georgia"/>
              </a:rPr>
              <a:t>3</a:t>
            </a:r>
          </a:p>
          <a:p>
            <a:pPr>
              <a:spcAft>
                <a:spcPts val="0"/>
              </a:spcAft>
            </a:pPr>
            <a:r>
              <a:rPr sz="1200" b="0">
                <a:solidFill>
                  <a:srgbClr val="9A9E9A"/>
                </a:solidFill>
                <a:latin typeface="Helvetica Neue"/>
              </a:rPr>
              <a:t>ways in</a:t>
            </a:r>
          </a:p>
        </p:txBody>
      </p:sp>
      <p:sp>
        <p:nvSpPr>
          <p:cNvPr id="10" name="TextBox 9"/>
          <p:cNvSpPr txBox="1"/>
          <p:nvPr/>
        </p:nvSpPr>
        <p:spPr>
          <a:xfrm>
            <a:off x="8732520" y="4983480"/>
            <a:ext cx="2286000" cy="914400"/>
          </a:xfrm>
          <a:prstGeom prst="rect">
            <a:avLst/>
          </a:prstGeom>
          <a:noFill/>
        </p:spPr>
        <p:txBody>
          <a:bodyPr wrap="square">
            <a:spAutoFit/>
          </a:bodyPr>
          <a:lstStyle/>
          <a:p>
            <a:pPr algn="l">
              <a:spcAft>
                <a:spcPts val="200"/>
              </a:spcAft>
            </a:pPr>
            <a:r>
              <a:rPr sz="2800" b="0">
                <a:solidFill>
                  <a:srgbClr val="5FB5A8"/>
                </a:solidFill>
                <a:latin typeface="Georgia"/>
              </a:rPr>
              <a:t>963</a:t>
            </a:r>
          </a:p>
          <a:p>
            <a:pPr>
              <a:spcAft>
                <a:spcPts val="0"/>
              </a:spcAft>
            </a:pPr>
            <a:r>
              <a:rPr sz="1200" b="0">
                <a:solidFill>
                  <a:srgbClr val="9A9E9A"/>
                </a:solidFill>
                <a:latin typeface="Helvetica Neue"/>
              </a:rPr>
              <a:t>tests passing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77240" y="310896"/>
            <a:ext cx="566928" cy="28575"/>
          </a:xfrm>
          <a:prstGeom prst="rect">
            <a:avLst/>
          </a:prstGeom>
          <a:solidFill>
            <a:srgbClr val="0E6E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20095" y="6291072"/>
            <a:ext cx="594360" cy="274320"/>
          </a:xfrm>
          <a:prstGeom prst="rect">
            <a:avLst/>
          </a:prstGeom>
          <a:noFill/>
        </p:spPr>
        <p:txBody>
          <a:bodyPr wrap="square">
            <a:spAutoFit/>
          </a:bodyPr>
          <a:lstStyle/>
          <a:p>
            <a:pPr algn="r">
              <a:spcAft>
                <a:spcPts val="0"/>
              </a:spcAft>
            </a:pPr>
            <a:r>
              <a:rPr sz="1000" b="1" spc="120">
                <a:solidFill>
                  <a:srgbClr val="A8A59E"/>
                </a:solidFill>
                <a:latin typeface="Helvetica Neue"/>
              </a:rPr>
              <a:t>12</a:t>
            </a:r>
          </a:p>
        </p:txBody>
      </p:sp>
      <p:sp>
        <p:nvSpPr>
          <p:cNvPr id="4" name="TextBox 3"/>
          <p:cNvSpPr txBox="1"/>
          <p:nvPr/>
        </p:nvSpPr>
        <p:spPr>
          <a:xfrm>
            <a:off x="777240" y="6291072"/>
            <a:ext cx="3657600" cy="274320"/>
          </a:xfrm>
          <a:prstGeom prst="rect">
            <a:avLst/>
          </a:prstGeom>
          <a:noFill/>
        </p:spPr>
        <p:txBody>
          <a:bodyPr wrap="square">
            <a:spAutoFit/>
          </a:bodyPr>
          <a:lstStyle/>
          <a:p>
            <a:pPr algn="l">
              <a:spcAft>
                <a:spcPts val="0"/>
              </a:spcAft>
            </a:pPr>
            <a:r>
              <a:rPr sz="900" b="1" spc="180">
                <a:solidFill>
                  <a:srgbClr val="A8A59E"/>
                </a:solidFill>
                <a:latin typeface="Helvetica Neue"/>
              </a:rPr>
              <a:t>CLIMAHEALTH PREDICT</a:t>
            </a:r>
          </a:p>
        </p:txBody>
      </p:sp>
      <p:sp>
        <p:nvSpPr>
          <p:cNvPr id="5" name="TextBox 4"/>
          <p:cNvSpPr txBox="1"/>
          <p:nvPr/>
        </p:nvSpPr>
        <p:spPr>
          <a:xfrm>
            <a:off x="777240" y="603504"/>
            <a:ext cx="10637215" cy="274320"/>
          </a:xfrm>
          <a:prstGeom prst="rect">
            <a:avLst/>
          </a:prstGeom>
          <a:noFill/>
        </p:spPr>
        <p:txBody>
          <a:bodyPr wrap="square">
            <a:spAutoFit/>
          </a:bodyPr>
          <a:lstStyle/>
          <a:p>
            <a:pPr algn="l">
              <a:spcAft>
                <a:spcPts val="0"/>
              </a:spcAft>
            </a:pPr>
            <a:r>
              <a:rPr sz="1100" b="1" spc="180">
                <a:solidFill>
                  <a:srgbClr val="0E6E63"/>
                </a:solidFill>
                <a:latin typeface="Helvetica Neue"/>
              </a:rPr>
              <a:t>BACKUP · SOURCES AND LIMITS</a:t>
            </a:r>
          </a:p>
        </p:txBody>
      </p:sp>
      <p:sp>
        <p:nvSpPr>
          <p:cNvPr id="6" name="TextBox 5"/>
          <p:cNvSpPr txBox="1"/>
          <p:nvPr/>
        </p:nvSpPr>
        <p:spPr>
          <a:xfrm>
            <a:off x="777240" y="914400"/>
            <a:ext cx="10607040" cy="548640"/>
          </a:xfrm>
          <a:prstGeom prst="rect">
            <a:avLst/>
          </a:prstGeom>
          <a:noFill/>
        </p:spPr>
        <p:txBody>
          <a:bodyPr wrap="square">
            <a:spAutoFit/>
          </a:bodyPr>
          <a:lstStyle/>
          <a:p>
            <a:pPr algn="l">
              <a:spcAft>
                <a:spcPts val="0"/>
              </a:spcAft>
            </a:pPr>
            <a:r>
              <a:rPr sz="2800" b="0">
                <a:solidFill>
                  <a:srgbClr val="1A1D1B"/>
                </a:solidFill>
                <a:latin typeface="Georgia"/>
              </a:rPr>
              <a:t>Where the numbers come from.</a:t>
            </a:r>
          </a:p>
        </p:txBody>
      </p:sp>
      <p:sp>
        <p:nvSpPr>
          <p:cNvPr id="7" name="Rectangle 6"/>
          <p:cNvSpPr/>
          <p:nvPr/>
        </p:nvSpPr>
        <p:spPr>
          <a:xfrm>
            <a:off x="777240" y="1600200"/>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2560320" cy="502920"/>
          </a:xfrm>
          <a:prstGeom prst="rect">
            <a:avLst/>
          </a:prstGeom>
          <a:noFill/>
        </p:spPr>
        <p:txBody>
          <a:bodyPr wrap="square">
            <a:spAutoFit/>
          </a:bodyPr>
          <a:lstStyle/>
          <a:p>
            <a:pPr algn="l">
              <a:spcAft>
                <a:spcPts val="0"/>
              </a:spcAft>
            </a:pPr>
            <a:r>
              <a:rPr sz="1300" b="1">
                <a:solidFill>
                  <a:srgbClr val="1A1D1B"/>
                </a:solidFill>
                <a:latin typeface="Helvetica Neue"/>
              </a:rPr>
              <a:t>Malaria burden</a:t>
            </a:r>
          </a:p>
        </p:txBody>
      </p:sp>
      <p:sp>
        <p:nvSpPr>
          <p:cNvPr id="9" name="TextBox 8"/>
          <p:cNvSpPr txBox="1"/>
          <p:nvPr/>
        </p:nvSpPr>
        <p:spPr>
          <a:xfrm>
            <a:off x="3474720" y="1691640"/>
            <a:ext cx="4754880" cy="502920"/>
          </a:xfrm>
          <a:prstGeom prst="rect">
            <a:avLst/>
          </a:prstGeom>
          <a:noFill/>
        </p:spPr>
        <p:txBody>
          <a:bodyPr wrap="square">
            <a:spAutoFit/>
          </a:bodyPr>
          <a:lstStyle/>
          <a:p>
            <a:pPr algn="l">
              <a:lnSpc>
                <a:spcPct val="130000"/>
              </a:lnSpc>
              <a:spcAft>
                <a:spcPts val="0"/>
              </a:spcAft>
            </a:pPr>
            <a:r>
              <a:rPr sz="1200" b="0">
                <a:solidFill>
                  <a:srgbClr val="6F6D66"/>
                </a:solidFill>
                <a:latin typeface="Helvetica Neue"/>
              </a:rPr>
              <a:t>6.7m cases, 11,635 deaths in Ghana, 2024</a:t>
            </a:r>
          </a:p>
        </p:txBody>
      </p:sp>
      <p:sp>
        <p:nvSpPr>
          <p:cNvPr id="10" name="TextBox 9"/>
          <p:cNvSpPr txBox="1"/>
          <p:nvPr/>
        </p:nvSpPr>
        <p:spPr>
          <a:xfrm>
            <a:off x="8503920" y="1691640"/>
            <a:ext cx="3017520" cy="502920"/>
          </a:xfrm>
          <a:prstGeom prst="rect">
            <a:avLst/>
          </a:prstGeom>
          <a:noFill/>
        </p:spPr>
        <p:txBody>
          <a:bodyPr wrap="square">
            <a:spAutoFit/>
          </a:bodyPr>
          <a:lstStyle/>
          <a:p>
            <a:pPr algn="l">
              <a:lnSpc>
                <a:spcPct val="130000"/>
              </a:lnSpc>
              <a:spcAft>
                <a:spcPts val="0"/>
              </a:spcAft>
            </a:pPr>
            <a:r>
              <a:rPr sz="1100" b="0">
                <a:solidFill>
                  <a:srgbClr val="0E6E63"/>
                </a:solidFill>
                <a:latin typeface="Helvetica Neue"/>
              </a:rPr>
              <a:t>WHO, World Malaria Report 2024</a:t>
            </a:r>
          </a:p>
        </p:txBody>
      </p:sp>
      <p:sp>
        <p:nvSpPr>
          <p:cNvPr id="11" name="Rectangle 10"/>
          <p:cNvSpPr/>
          <p:nvPr/>
        </p:nvSpPr>
        <p:spPr>
          <a:xfrm>
            <a:off x="777240" y="2203704"/>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295144"/>
            <a:ext cx="2560320" cy="502920"/>
          </a:xfrm>
          <a:prstGeom prst="rect">
            <a:avLst/>
          </a:prstGeom>
          <a:noFill/>
        </p:spPr>
        <p:txBody>
          <a:bodyPr wrap="square">
            <a:spAutoFit/>
          </a:bodyPr>
          <a:lstStyle/>
          <a:p>
            <a:pPr algn="l">
              <a:spcAft>
                <a:spcPts val="0"/>
              </a:spcAft>
            </a:pPr>
            <a:r>
              <a:rPr sz="1300" b="1">
                <a:solidFill>
                  <a:srgbClr val="1A1D1B"/>
                </a:solidFill>
                <a:latin typeface="Helvetica Neue"/>
              </a:rPr>
              <a:t>NHIS coverage</a:t>
            </a:r>
          </a:p>
        </p:txBody>
      </p:sp>
      <p:sp>
        <p:nvSpPr>
          <p:cNvPr id="13" name="TextBox 12"/>
          <p:cNvSpPr txBox="1"/>
          <p:nvPr/>
        </p:nvSpPr>
        <p:spPr>
          <a:xfrm>
            <a:off x="3474720" y="2295144"/>
            <a:ext cx="4754880" cy="502920"/>
          </a:xfrm>
          <a:prstGeom prst="rect">
            <a:avLst/>
          </a:prstGeom>
          <a:noFill/>
        </p:spPr>
        <p:txBody>
          <a:bodyPr wrap="square">
            <a:spAutoFit/>
          </a:bodyPr>
          <a:lstStyle/>
          <a:p>
            <a:pPr algn="l">
              <a:lnSpc>
                <a:spcPct val="130000"/>
              </a:lnSpc>
              <a:spcAft>
                <a:spcPts val="0"/>
              </a:spcAft>
            </a:pPr>
            <a:r>
              <a:rPr sz="1200" b="0">
                <a:solidFill>
                  <a:srgbClr val="6F6D66"/>
                </a:solidFill>
                <a:latin typeface="Helvetica Neue"/>
              </a:rPr>
              <a:t>18.5m active members, about 56% of the population</a:t>
            </a:r>
          </a:p>
        </p:txBody>
      </p:sp>
      <p:sp>
        <p:nvSpPr>
          <p:cNvPr id="14" name="TextBox 13"/>
          <p:cNvSpPr txBox="1"/>
          <p:nvPr/>
        </p:nvSpPr>
        <p:spPr>
          <a:xfrm>
            <a:off x="8503920" y="2295144"/>
            <a:ext cx="3017520" cy="502920"/>
          </a:xfrm>
          <a:prstGeom prst="rect">
            <a:avLst/>
          </a:prstGeom>
          <a:noFill/>
        </p:spPr>
        <p:txBody>
          <a:bodyPr wrap="square">
            <a:spAutoFit/>
          </a:bodyPr>
          <a:lstStyle/>
          <a:p>
            <a:pPr algn="l">
              <a:lnSpc>
                <a:spcPct val="130000"/>
              </a:lnSpc>
              <a:spcAft>
                <a:spcPts val="0"/>
              </a:spcAft>
            </a:pPr>
            <a:r>
              <a:rPr sz="1100" b="0">
                <a:solidFill>
                  <a:srgbClr val="0E6E63"/>
                </a:solidFill>
                <a:latin typeface="Helvetica Neue"/>
              </a:rPr>
              <a:t>National Health Insurance Authority, 2025</a:t>
            </a:r>
          </a:p>
        </p:txBody>
      </p:sp>
      <p:sp>
        <p:nvSpPr>
          <p:cNvPr id="15" name="Rectangle 14"/>
          <p:cNvSpPr/>
          <p:nvPr/>
        </p:nvSpPr>
        <p:spPr>
          <a:xfrm>
            <a:off x="777240" y="2807208"/>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898648"/>
            <a:ext cx="2560320" cy="502920"/>
          </a:xfrm>
          <a:prstGeom prst="rect">
            <a:avLst/>
          </a:prstGeom>
          <a:noFill/>
        </p:spPr>
        <p:txBody>
          <a:bodyPr wrap="square">
            <a:spAutoFit/>
          </a:bodyPr>
          <a:lstStyle/>
          <a:p>
            <a:pPr algn="l">
              <a:spcAft>
                <a:spcPts val="0"/>
              </a:spcAft>
            </a:pPr>
            <a:r>
              <a:rPr sz="1300" b="1">
                <a:solidFill>
                  <a:srgbClr val="1A1D1B"/>
                </a:solidFill>
                <a:latin typeface="Helvetica Neue"/>
              </a:rPr>
              <a:t>NHIS premium</a:t>
            </a:r>
          </a:p>
        </p:txBody>
      </p:sp>
      <p:sp>
        <p:nvSpPr>
          <p:cNvPr id="17" name="TextBox 16"/>
          <p:cNvSpPr txBox="1"/>
          <p:nvPr/>
        </p:nvSpPr>
        <p:spPr>
          <a:xfrm>
            <a:off x="3474720" y="2898648"/>
            <a:ext cx="4754880" cy="502920"/>
          </a:xfrm>
          <a:prstGeom prst="rect">
            <a:avLst/>
          </a:prstGeom>
          <a:noFill/>
        </p:spPr>
        <p:txBody>
          <a:bodyPr wrap="square">
            <a:spAutoFit/>
          </a:bodyPr>
          <a:lstStyle/>
          <a:p>
            <a:pPr algn="l">
              <a:lnSpc>
                <a:spcPct val="130000"/>
              </a:lnSpc>
              <a:spcAft>
                <a:spcPts val="0"/>
              </a:spcAft>
            </a:pPr>
            <a:r>
              <a:rPr sz="1200" b="0">
                <a:solidFill>
                  <a:srgbClr val="6F6D66"/>
                </a:solidFill>
                <a:latin typeface="Helvetica Neue"/>
              </a:rPr>
              <a:t>GHS 7.20 to 48 a year; GHS 30 to 50 informal</a:t>
            </a:r>
          </a:p>
        </p:txBody>
      </p:sp>
      <p:sp>
        <p:nvSpPr>
          <p:cNvPr id="18" name="TextBox 17"/>
          <p:cNvSpPr txBox="1"/>
          <p:nvPr/>
        </p:nvSpPr>
        <p:spPr>
          <a:xfrm>
            <a:off x="8503920" y="2898648"/>
            <a:ext cx="3017520" cy="502920"/>
          </a:xfrm>
          <a:prstGeom prst="rect">
            <a:avLst/>
          </a:prstGeom>
          <a:noFill/>
        </p:spPr>
        <p:txBody>
          <a:bodyPr wrap="square">
            <a:spAutoFit/>
          </a:bodyPr>
          <a:lstStyle/>
          <a:p>
            <a:pPr algn="l">
              <a:lnSpc>
                <a:spcPct val="130000"/>
              </a:lnSpc>
              <a:spcAft>
                <a:spcPts val="0"/>
              </a:spcAft>
            </a:pPr>
            <a:r>
              <a:rPr sz="1100" b="0">
                <a:solidFill>
                  <a:srgbClr val="0E6E63"/>
                </a:solidFill>
                <a:latin typeface="Helvetica Neue"/>
              </a:rPr>
              <a:t>NHIA scheme documentation</a:t>
            </a:r>
          </a:p>
        </p:txBody>
      </p:sp>
      <p:sp>
        <p:nvSpPr>
          <p:cNvPr id="19" name="Rectangle 18"/>
          <p:cNvSpPr/>
          <p:nvPr/>
        </p:nvSpPr>
        <p:spPr>
          <a:xfrm>
            <a:off x="777240" y="3410712"/>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502152"/>
            <a:ext cx="2560320" cy="502920"/>
          </a:xfrm>
          <a:prstGeom prst="rect">
            <a:avLst/>
          </a:prstGeom>
          <a:noFill/>
        </p:spPr>
        <p:txBody>
          <a:bodyPr wrap="square">
            <a:spAutoFit/>
          </a:bodyPr>
          <a:lstStyle/>
          <a:p>
            <a:pPr algn="l">
              <a:spcAft>
                <a:spcPts val="0"/>
              </a:spcAft>
            </a:pPr>
            <a:r>
              <a:rPr sz="1300" b="1">
                <a:solidFill>
                  <a:srgbClr val="1A1D1B"/>
                </a:solidFill>
                <a:latin typeface="Helvetica Neue"/>
              </a:rPr>
              <a:t>Mobile reach</a:t>
            </a:r>
          </a:p>
        </p:txBody>
      </p:sp>
      <p:sp>
        <p:nvSpPr>
          <p:cNvPr id="21" name="TextBox 20"/>
          <p:cNvSpPr txBox="1"/>
          <p:nvPr/>
        </p:nvSpPr>
        <p:spPr>
          <a:xfrm>
            <a:off x="3474720" y="3502152"/>
            <a:ext cx="4754880" cy="502920"/>
          </a:xfrm>
          <a:prstGeom prst="rect">
            <a:avLst/>
          </a:prstGeom>
          <a:noFill/>
        </p:spPr>
        <p:txBody>
          <a:bodyPr wrap="square">
            <a:spAutoFit/>
          </a:bodyPr>
          <a:lstStyle/>
          <a:p>
            <a:pPr algn="l">
              <a:lnSpc>
                <a:spcPct val="130000"/>
              </a:lnSpc>
              <a:spcAft>
                <a:spcPts val="0"/>
              </a:spcAft>
            </a:pPr>
            <a:r>
              <a:rPr sz="1200" b="0">
                <a:solidFill>
                  <a:srgbClr val="6F6D66"/>
                </a:solidFill>
                <a:latin typeface="Helvetica Neue"/>
              </a:rPr>
              <a:t>38.3m connections; 69.9% use the internet</a:t>
            </a:r>
          </a:p>
        </p:txBody>
      </p:sp>
      <p:sp>
        <p:nvSpPr>
          <p:cNvPr id="22" name="TextBox 21"/>
          <p:cNvSpPr txBox="1"/>
          <p:nvPr/>
        </p:nvSpPr>
        <p:spPr>
          <a:xfrm>
            <a:off x="8503920" y="3502152"/>
            <a:ext cx="3017520" cy="502920"/>
          </a:xfrm>
          <a:prstGeom prst="rect">
            <a:avLst/>
          </a:prstGeom>
          <a:noFill/>
        </p:spPr>
        <p:txBody>
          <a:bodyPr wrap="square">
            <a:spAutoFit/>
          </a:bodyPr>
          <a:lstStyle/>
          <a:p>
            <a:pPr algn="l">
              <a:lnSpc>
                <a:spcPct val="130000"/>
              </a:lnSpc>
              <a:spcAft>
                <a:spcPts val="0"/>
              </a:spcAft>
            </a:pPr>
            <a:r>
              <a:rPr sz="1100" b="0">
                <a:solidFill>
                  <a:srgbClr val="0E6E63"/>
                </a:solidFill>
                <a:latin typeface="Helvetica Neue"/>
              </a:rPr>
              <a:t>GSMA Intelligence / DataReportal 2025</a:t>
            </a:r>
          </a:p>
        </p:txBody>
      </p:sp>
      <p:sp>
        <p:nvSpPr>
          <p:cNvPr id="23" name="Rectangle 22"/>
          <p:cNvSpPr/>
          <p:nvPr/>
        </p:nvSpPr>
        <p:spPr>
          <a:xfrm>
            <a:off x="777240" y="4014216"/>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05656"/>
            <a:ext cx="2560320" cy="502920"/>
          </a:xfrm>
          <a:prstGeom prst="rect">
            <a:avLst/>
          </a:prstGeom>
          <a:noFill/>
        </p:spPr>
        <p:txBody>
          <a:bodyPr wrap="square">
            <a:spAutoFit/>
          </a:bodyPr>
          <a:lstStyle/>
          <a:p>
            <a:pPr algn="l">
              <a:spcAft>
                <a:spcPts val="0"/>
              </a:spcAft>
            </a:pPr>
            <a:r>
              <a:rPr sz="1300" b="1">
                <a:solidFill>
                  <a:srgbClr val="1A1D1B"/>
                </a:solidFill>
                <a:latin typeface="Helvetica Neue"/>
              </a:rPr>
              <a:t>Behaviour change</a:t>
            </a:r>
          </a:p>
        </p:txBody>
      </p:sp>
      <p:sp>
        <p:nvSpPr>
          <p:cNvPr id="25" name="TextBox 24"/>
          <p:cNvSpPr txBox="1"/>
          <p:nvPr/>
        </p:nvSpPr>
        <p:spPr>
          <a:xfrm>
            <a:off x="3474720" y="4105656"/>
            <a:ext cx="4754880" cy="502920"/>
          </a:xfrm>
          <a:prstGeom prst="rect">
            <a:avLst/>
          </a:prstGeom>
          <a:noFill/>
        </p:spPr>
        <p:txBody>
          <a:bodyPr wrap="square">
            <a:spAutoFit/>
          </a:bodyPr>
          <a:lstStyle/>
          <a:p>
            <a:pPr algn="l">
              <a:lnSpc>
                <a:spcPct val="130000"/>
              </a:lnSpc>
              <a:spcAft>
                <a:spcPts val="0"/>
              </a:spcAft>
            </a:pPr>
            <a:r>
              <a:rPr sz="1200" b="0">
                <a:solidFill>
                  <a:srgbClr val="6F6D66"/>
                </a:solidFill>
                <a:latin typeface="Helvetica Neue"/>
              </a:rPr>
              <a:t>Severity, vulnerability and a doable action</a:t>
            </a:r>
          </a:p>
        </p:txBody>
      </p:sp>
      <p:sp>
        <p:nvSpPr>
          <p:cNvPr id="26" name="TextBox 25"/>
          <p:cNvSpPr txBox="1"/>
          <p:nvPr/>
        </p:nvSpPr>
        <p:spPr>
          <a:xfrm>
            <a:off x="8503920" y="4105656"/>
            <a:ext cx="3017520" cy="502920"/>
          </a:xfrm>
          <a:prstGeom prst="rect">
            <a:avLst/>
          </a:prstGeom>
          <a:noFill/>
        </p:spPr>
        <p:txBody>
          <a:bodyPr wrap="square">
            <a:spAutoFit/>
          </a:bodyPr>
          <a:lstStyle/>
          <a:p>
            <a:pPr algn="l">
              <a:lnSpc>
                <a:spcPct val="130000"/>
              </a:lnSpc>
              <a:spcAft>
                <a:spcPts val="0"/>
              </a:spcAft>
            </a:pPr>
            <a:r>
              <a:rPr sz="1100" b="0">
                <a:solidFill>
                  <a:srgbClr val="0E6E63"/>
                </a:solidFill>
                <a:latin typeface="Helvetica Neue"/>
              </a:rPr>
              <a:t>Protection Motivation Theory, Rogers</a:t>
            </a:r>
          </a:p>
        </p:txBody>
      </p:sp>
      <p:sp>
        <p:nvSpPr>
          <p:cNvPr id="27" name="Rectangle 26"/>
          <p:cNvSpPr/>
          <p:nvPr/>
        </p:nvSpPr>
        <p:spPr>
          <a:xfrm>
            <a:off x="777240" y="4617720"/>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709160"/>
            <a:ext cx="2560320" cy="502920"/>
          </a:xfrm>
          <a:prstGeom prst="rect">
            <a:avLst/>
          </a:prstGeom>
          <a:noFill/>
        </p:spPr>
        <p:txBody>
          <a:bodyPr wrap="square">
            <a:spAutoFit/>
          </a:bodyPr>
          <a:lstStyle/>
          <a:p>
            <a:pPr algn="l">
              <a:spcAft>
                <a:spcPts val="0"/>
              </a:spcAft>
            </a:pPr>
            <a:r>
              <a:rPr sz="1300" b="1">
                <a:solidFill>
                  <a:srgbClr val="1A1D1B"/>
                </a:solidFill>
                <a:latin typeface="Helvetica Neue"/>
              </a:rPr>
              <a:t>Climate data</a:t>
            </a:r>
          </a:p>
        </p:txBody>
      </p:sp>
      <p:sp>
        <p:nvSpPr>
          <p:cNvPr id="29" name="TextBox 28"/>
          <p:cNvSpPr txBox="1"/>
          <p:nvPr/>
        </p:nvSpPr>
        <p:spPr>
          <a:xfrm>
            <a:off x="3474720" y="4709160"/>
            <a:ext cx="4754880" cy="502920"/>
          </a:xfrm>
          <a:prstGeom prst="rect">
            <a:avLst/>
          </a:prstGeom>
          <a:noFill/>
        </p:spPr>
        <p:txBody>
          <a:bodyPr wrap="square">
            <a:spAutoFit/>
          </a:bodyPr>
          <a:lstStyle/>
          <a:p>
            <a:pPr algn="l">
              <a:lnSpc>
                <a:spcPct val="130000"/>
              </a:lnSpc>
              <a:spcAft>
                <a:spcPts val="0"/>
              </a:spcAft>
            </a:pPr>
            <a:r>
              <a:rPr sz="1200" b="0">
                <a:solidFill>
                  <a:srgbClr val="6F6D66"/>
                </a:solidFill>
                <a:latin typeface="Helvetica Neue"/>
              </a:rPr>
              <a:t>Daily observations for all 260 districts</a:t>
            </a:r>
          </a:p>
        </p:txBody>
      </p:sp>
      <p:sp>
        <p:nvSpPr>
          <p:cNvPr id="30" name="TextBox 29"/>
          <p:cNvSpPr txBox="1"/>
          <p:nvPr/>
        </p:nvSpPr>
        <p:spPr>
          <a:xfrm>
            <a:off x="8503920" y="4709160"/>
            <a:ext cx="3017520" cy="502920"/>
          </a:xfrm>
          <a:prstGeom prst="rect">
            <a:avLst/>
          </a:prstGeom>
          <a:noFill/>
        </p:spPr>
        <p:txBody>
          <a:bodyPr wrap="square">
            <a:spAutoFit/>
          </a:bodyPr>
          <a:lstStyle/>
          <a:p>
            <a:pPr algn="l">
              <a:lnSpc>
                <a:spcPct val="130000"/>
              </a:lnSpc>
              <a:spcAft>
                <a:spcPts val="0"/>
              </a:spcAft>
            </a:pPr>
            <a:r>
              <a:rPr sz="1100" b="0">
                <a:solidFill>
                  <a:srgbClr val="0E6E63"/>
                </a:solidFill>
                <a:latin typeface="Helvetica Neue"/>
              </a:rPr>
              <a:t>Open-Meteo, live in the product</a:t>
            </a:r>
          </a:p>
        </p:txBody>
      </p:sp>
      <p:sp>
        <p:nvSpPr>
          <p:cNvPr id="31" name="Rectangle 30"/>
          <p:cNvSpPr/>
          <p:nvPr/>
        </p:nvSpPr>
        <p:spPr>
          <a:xfrm>
            <a:off x="777240" y="5221224"/>
            <a:ext cx="10637215" cy="9525"/>
          </a:xfrm>
          <a:prstGeom prst="rect">
            <a:avLst/>
          </a:prstGeom>
          <a:solidFill>
            <a:srgbClr val="E4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312664"/>
            <a:ext cx="2560320" cy="502920"/>
          </a:xfrm>
          <a:prstGeom prst="rect">
            <a:avLst/>
          </a:prstGeom>
          <a:noFill/>
        </p:spPr>
        <p:txBody>
          <a:bodyPr wrap="square">
            <a:spAutoFit/>
          </a:bodyPr>
          <a:lstStyle/>
          <a:p>
            <a:pPr algn="l">
              <a:spcAft>
                <a:spcPts val="0"/>
              </a:spcAft>
            </a:pPr>
            <a:r>
              <a:rPr sz="1300" b="1">
                <a:solidFill>
                  <a:srgbClr val="1A1D1B"/>
                </a:solidFill>
                <a:latin typeface="Helvetica Neue"/>
              </a:rPr>
              <a:t>Boundaries</a:t>
            </a:r>
          </a:p>
        </p:txBody>
      </p:sp>
      <p:sp>
        <p:nvSpPr>
          <p:cNvPr id="33" name="TextBox 32"/>
          <p:cNvSpPr txBox="1"/>
          <p:nvPr/>
        </p:nvSpPr>
        <p:spPr>
          <a:xfrm>
            <a:off x="3474720" y="5312664"/>
            <a:ext cx="4754880" cy="502920"/>
          </a:xfrm>
          <a:prstGeom prst="rect">
            <a:avLst/>
          </a:prstGeom>
          <a:noFill/>
        </p:spPr>
        <p:txBody>
          <a:bodyPr wrap="square">
            <a:spAutoFit/>
          </a:bodyPr>
          <a:lstStyle/>
          <a:p>
            <a:pPr algn="l">
              <a:lnSpc>
                <a:spcPct val="130000"/>
              </a:lnSpc>
              <a:spcAft>
                <a:spcPts val="0"/>
              </a:spcAft>
            </a:pPr>
            <a:r>
              <a:rPr sz="1200" b="0">
                <a:solidFill>
                  <a:srgbClr val="6F6D66"/>
                </a:solidFill>
                <a:latin typeface="Helvetica Neue"/>
              </a:rPr>
              <a:t>260 district polygons on the map</a:t>
            </a:r>
          </a:p>
        </p:txBody>
      </p:sp>
      <p:sp>
        <p:nvSpPr>
          <p:cNvPr id="34" name="TextBox 33"/>
          <p:cNvSpPr txBox="1"/>
          <p:nvPr/>
        </p:nvSpPr>
        <p:spPr>
          <a:xfrm>
            <a:off x="8503920" y="5312664"/>
            <a:ext cx="3017520" cy="502920"/>
          </a:xfrm>
          <a:prstGeom prst="rect">
            <a:avLst/>
          </a:prstGeom>
          <a:noFill/>
        </p:spPr>
        <p:txBody>
          <a:bodyPr wrap="square">
            <a:spAutoFit/>
          </a:bodyPr>
          <a:lstStyle/>
          <a:p>
            <a:pPr algn="l">
              <a:lnSpc>
                <a:spcPct val="130000"/>
              </a:lnSpc>
              <a:spcAft>
                <a:spcPts val="0"/>
              </a:spcAft>
            </a:pPr>
            <a:r>
              <a:rPr sz="1100" b="0">
                <a:solidFill>
                  <a:srgbClr val="0E6E63"/>
                </a:solidFill>
                <a:latin typeface="Helvetica Neue"/>
              </a:rPr>
              <a:t>geoBoundaries, CC BY 4.0</a:t>
            </a:r>
          </a:p>
        </p:txBody>
      </p:sp>
      <p:sp>
        <p:nvSpPr>
          <p:cNvPr id="35" name="Rectangle 34"/>
          <p:cNvSpPr/>
          <p:nvPr/>
        </p:nvSpPr>
        <p:spPr>
          <a:xfrm>
            <a:off x="777240" y="5943600"/>
            <a:ext cx="10637215" cy="658368"/>
          </a:xfrm>
          <a:prstGeom prst="rect">
            <a:avLst/>
          </a:prstGeom>
          <a:solidFill>
            <a:srgbClr val="FAF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6053328"/>
            <a:ext cx="10058400" cy="502920"/>
          </a:xfrm>
          <a:prstGeom prst="rect">
            <a:avLst/>
          </a:prstGeom>
          <a:noFill/>
        </p:spPr>
        <p:txBody>
          <a:bodyPr wrap="square">
            <a:spAutoFit/>
          </a:bodyPr>
          <a:lstStyle/>
          <a:p>
            <a:pPr algn="l">
              <a:lnSpc>
                <a:spcPct val="135000"/>
              </a:lnSpc>
              <a:spcAft>
                <a:spcPts val="0"/>
              </a:spcAft>
            </a:pPr>
            <a:r>
              <a:rPr sz="1300" b="0">
                <a:solidFill>
                  <a:srgbClr val="6F6D66"/>
                </a:solidFill>
                <a:latin typeface="Helvetica Neue"/>
              </a:rPr>
              <a:t>Known limit, stated plainly: the engine has not yet been backtested against DHIMS2 case data. That is the ask, and the one thing between a defensible model and a validated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