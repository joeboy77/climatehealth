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 sentence. Do not read the subtitle. Say: every agency here already has weather data. Nobody turns it into who gets sick, where, and when. That gap is the whole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problem with the number, not the adjective. 6.7 million cases, 11,635 deaths, one year, one country. Then the turn: all of it follows weather we can already see. Source is WHO World Malaria Report 2024, on the sources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lag window. This is the single idea the whole system rests on. Say the numbers out loud: two to six weeks for malaria. That is how much warning we can give.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one-liner from the top of the slide and then stop. The three columns are for the judges to read, not for you to narrate. Point, do not recite.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your credibility slide. Judges asked whether the prediction is real. Answer: deterministic rules from published thresholds, reproducible, explainable. The AI is a translator, not a decider. Say that sentence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figure, then the map, then the ranked list. Say: this is running against live Open-Meteo data for all 260 districts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answers the note about every agency seeing only health. Say: an air quality officer should not have to hunt for air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said institutional integration was unproven. This is the answer: a named role, a permission model, an append-only trail, and the citizen sees it close. Say: the agencies do not have to trust the app, they have to trust their own officer.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Point at the Twi screen last and say: this is the same warning, and the app tells the reader honestly that the wording is awaiting review by a Twi speaker and that their phone cannot read it aloud yet. Nobody else in this room will show you a screen admitting its own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ties you to the hackathon theme. Say: the people most exposed to climate illness are the least likely to own a smartphone. If the product only works on a good phone in English, it has missed them. If asked for proof, go to the Twi screenshot on the app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Kofi Mensah: 20 points to go. Say: that is one more day of use. This is the screen that makes the reward real to an officer.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questioned reward feasibility directly. This slide is the rebuttal. Emphasise: we removed the cash payout entirely. There is nothing to fund and nothing to regulate. GHS already collects these premiums.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flagged USSD and SMS as not implemented. USSD now runs on Africa's Talking and answers a full dial-through. If asked, offer to show the terminal transcript in the backup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wins or loses it. Say the criticism out loud before the answer. Judges remember being listened to. Do not rush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one line, then stop talking. Let the numbers sit. Have the backup slides ready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present this slide. It exists so that when a judge asks where a number came from, you turn to it and answer in one move. Every figure on the deck is on this page with its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show if asked. Volunteering the DHIMS2 gap before being asked reads as confident; being caught without it reads as careless.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011680"/>
            <a:ext cx="106372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200" b="1" spc="220">
                <a:solidFill>
                  <a:srgbClr val="0E6E63"/>
                </a:solidFill>
                <a:latin typeface="Helvetica Neue"/>
              </a:rPr>
              <a:t>CLIMAHEALTH PREDICT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4600" b="0">
                <a:solidFill>
                  <a:srgbClr val="1A1D1B"/>
                </a:solidFill>
                <a:latin typeface="Georgia"/>
              </a:rPr>
              <a:t>Ghana knows the weather.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4600" b="0">
                <a:solidFill>
                  <a:srgbClr val="1A1D1B"/>
                </a:solidFill>
                <a:latin typeface="Georgia"/>
              </a:rPr>
              <a:t>It does not yet know what the weather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4600" b="0">
                <a:solidFill>
                  <a:srgbClr val="0E6E63"/>
                </a:solidFill>
                <a:latin typeface="Georgia"/>
              </a:rPr>
              <a:t>is about to do to people.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89204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12064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A climate-health early-warning platform: it turns today's climate into a ranked, explained health warning for the weeks ahead.</a:t>
            </a:r>
          </a:p>
          <a:p>
            <a:pPr>
              <a:spcAft>
                <a:spcPts val="0"/>
              </a:spcAft>
            </a:pPr>
            <a:r>
              <a:rPr sz="1200" b="1" spc="140">
                <a:solidFill>
                  <a:srgbClr val="A8A59E"/>
                </a:solidFill>
                <a:latin typeface="Helvetica Neue"/>
              </a:rPr>
              <a:t>GreenRes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>
                <a:solidFill>
                  <a:srgbClr val="1A1D1B"/>
                </a:solidFill>
                <a:latin typeface="Georgia"/>
              </a:rPr>
              <a:t>Climate-driven disease is Ghana's largest health burden.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Malaria, cholera, meningitis and heat illness all track the weather. Every one of them is driven by conditions we can already measure.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0">
                <a:solidFill>
                  <a:srgbClr val="A32118"/>
                </a:solidFill>
                <a:latin typeface="Georgia"/>
              </a:rPr>
              <a:t>6.7m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A1D1B"/>
                </a:solidFill>
                <a:latin typeface="Helvetica Neue"/>
              </a:rPr>
              <a:t>malaria cases in Ghana in 2024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8A59E"/>
                </a:solidFill>
                <a:latin typeface="Helvetica Neue"/>
              </a:rPr>
              <a:t>WHO World Malaria Report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237744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0">
                <a:solidFill>
                  <a:srgbClr val="A32118"/>
                </a:solidFill>
                <a:latin typeface="Georgia"/>
              </a:rPr>
              <a:t>11,635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A1D1B"/>
                </a:solidFill>
                <a:latin typeface="Helvetica Neue"/>
              </a:rPr>
              <a:t>malaria deaths in that year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8A59E"/>
                </a:solidFill>
                <a:latin typeface="Helvetica Neue"/>
              </a:rPr>
              <a:t>WHO World Malaria Report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237744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0">
                <a:solidFill>
                  <a:srgbClr val="A32118"/>
                </a:solidFill>
                <a:latin typeface="Georgia"/>
              </a:rPr>
              <a:t>~196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A1D1B"/>
                </a:solidFill>
                <a:latin typeface="Helvetica Neue"/>
              </a:rPr>
              <a:t>cases per 1,000 at risk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8A59E"/>
                </a:solidFill>
                <a:latin typeface="Helvetica Neue"/>
              </a:rPr>
              <a:t>WHO, broadly flat since 2023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8056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70916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Ghana is one of the 15 highest-burden countries in the world.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The response is reactive: cases are counted after people are already ill. The climate data that precedes those cases is free, public, and updated daily. Nobody is turning it into a warning.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5852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800" b="0">
                <a:solidFill>
                  <a:srgbClr val="1A1D1B"/>
                </a:solidFill>
                <a:latin typeface="Georgia"/>
              </a:rPr>
              <a:t>Cases arrive weeks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3800" b="0">
                <a:solidFill>
                  <a:srgbClr val="1A1D1B"/>
                </a:solidFill>
                <a:latin typeface="Georgia"/>
              </a:rPr>
              <a:t>after the rain that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3800" b="0">
                <a:solidFill>
                  <a:srgbClr val="A32118"/>
                </a:solidFill>
                <a:latin typeface="Georgia"/>
              </a:rPr>
              <a:t>caused them.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600" b="0">
                <a:solidFill>
                  <a:srgbClr val="6F6D66"/>
                </a:solidFill>
                <a:latin typeface="Helvetica Neue"/>
              </a:rPr>
              <a:t>That delay is not a problem. It is the opportunity. It is the only window in which a district can still act before people fall ill.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23444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MALARIA</a:t>
            </a:r>
          </a:p>
          <a:p>
            <a:pPr>
              <a:spcAft>
                <a:spcPts val="200"/>
              </a:spcAft>
            </a:pPr>
            <a:r>
              <a:rPr sz="2600" b="0">
                <a:solidFill>
                  <a:srgbClr val="0E6E63"/>
                </a:solidFill>
                <a:latin typeface="Georgia"/>
              </a:rPr>
              <a:t>2 to 6 weeks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after rainfall and standing water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CHOLERA</a:t>
            </a:r>
          </a:p>
          <a:p>
            <a:pPr>
              <a:spcAft>
                <a:spcPts val="200"/>
              </a:spcAft>
            </a:pPr>
            <a:r>
              <a:rPr sz="2600" b="0">
                <a:solidFill>
                  <a:srgbClr val="0E6E63"/>
                </a:solidFill>
                <a:latin typeface="Georgia"/>
              </a:rPr>
              <a:t>1 to 3 weeks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after flooding and unsafe water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52044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MENINGITIS</a:t>
            </a:r>
          </a:p>
          <a:p>
            <a:pPr>
              <a:spcAft>
                <a:spcPts val="200"/>
              </a:spcAft>
            </a:pPr>
            <a:r>
              <a:rPr sz="2600" b="0">
                <a:solidFill>
                  <a:srgbClr val="0E6E63"/>
                </a:solidFill>
                <a:latin typeface="Georgia"/>
              </a:rPr>
              <a:t>2 to 8 weeks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after dry, dusty harmattan air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39496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57784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D1B"/>
                </a:solidFill>
                <a:latin typeface="Helvetica Neue"/>
              </a:rPr>
              <a:t>Today Ghana reacts when the cases appear. The information to act earlier already exists.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>
                <a:solidFill>
                  <a:srgbClr val="1A1D1B"/>
                </a:solidFill>
                <a:latin typeface="Georgia"/>
              </a:rPr>
              <a:t>ClimaHealth Predict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700" b="0">
                <a:solidFill>
                  <a:srgbClr val="6F6D66"/>
                </a:solidFill>
                <a:latin typeface="Helvetica Neue"/>
              </a:rPr>
              <a:t>Reads a district's climate today, and says which health risks are rising, why, how long before cases appear, and who is most affected.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3464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FOR THE PUBLIC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E6E63"/>
                </a:solidFill>
                <a:latin typeface="Georgia"/>
              </a:rPr>
              <a:t>Dawuro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Daily forecast and weather, a hazard you can report with a photo, and a daily lesson that pays in NHIS cover.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283464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FOR THE AGENCIES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E6E63"/>
                </a:solidFill>
                <a:latin typeface="Georgia"/>
              </a:rPr>
              <a:t>Command Platform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260 districts ranked and explained, alerts, an incident room, readiness, and a view per agency mandate.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283464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FOR EVERYONE ELSE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E6E63"/>
                </a:solidFill>
                <a:latin typeface="Georgia"/>
              </a:rPr>
              <a:t>USSD and SMS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The same warning on any feature phone, with no data and no app, because a smartphone is not a requirement.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48640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66928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D1B"/>
                </a:solidFill>
                <a:latin typeface="Helvetica Neue"/>
              </a:rPr>
              <a:t>One engine behind all three. The prediction is computed once and reaches people by whatever door they can open.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HOW IT DECIDES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0">
                <a:solidFill>
                  <a:srgbClr val="1A1D1B"/>
                </a:solidFill>
                <a:latin typeface="Georgia"/>
              </a:rPr>
              <a:t>The brain is a rules engine, not a guess.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600" b="0">
                <a:solidFill>
                  <a:srgbClr val="6F6D66"/>
                </a:solidFill>
                <a:latin typeface="Helvetica Neue"/>
              </a:rPr>
              <a:t>Published epidemiological thresholds, evaluated the same way every time. Same inputs, same output. Every warning can name the conditions that caused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01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Open-Meteo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live climate for all 260 districts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A8A59E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288036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02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Features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7-day rain, humidity, heat, dust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A8A59E"/>
                </a:solidFill>
                <a:latin typeface="Helvetica Neue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88036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03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Pathways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one per disease, weighted 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A8A59E"/>
                </a:solidFill>
                <a:latin typeface="Helvetica Neue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88036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04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Ranked risk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level, score, lag window, reasons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70916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937760"/>
            <a:ext cx="106372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AI never decides risk. It only phrases what the engine already decided, in English or Twi.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This is what makes the system defensible to a health ministry: an officer can ask why a district was flagged and get the exact thresholds back, not a model's opinion.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THE NATIONAL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>
                <a:solidFill>
                  <a:srgbClr val="1A1D1B"/>
                </a:solidFill>
                <a:latin typeface="Georgia"/>
              </a:rPr>
              <a:t>51 of 260 districts are at high risk or above, today.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Every district evaluated against every pathway, ranked, and explained. This is live output, not a mock.</a:t>
            </a:r>
          </a:p>
        </p:txBody>
      </p:sp>
      <p:pic>
        <p:nvPicPr>
          <p:cNvPr id="4" name="Picture 3" descr="w1-na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965960"/>
            <a:ext cx="6656832" cy="4160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67431" y="1965960"/>
            <a:ext cx="6656832" cy="4160520"/>
          </a:xfrm>
          <a:prstGeom prst="rect">
            <a:avLst/>
          </a:prstGeom>
          <a:noFill/>
          <a:ln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A8A59E"/>
                </a:solidFill>
                <a:latin typeface="Helvetica Neue"/>
              </a:rPr>
              <a:t>ClimaHealth Predict · Agency Command Platform · signed in as Ghana Health Service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ONE PLATFORM, FIVE MANDATES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>
                <a:solidFill>
                  <a:srgbClr val="1A1D1B"/>
                </a:solidFill>
                <a:latin typeface="Georgia"/>
              </a:rPr>
              <a:t>Each agency opens on the layer it is responsible for.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EPA lands on dust and PM10. NADMO on rainfall. GMet on humidity. GHS on health risk. Same engine, same districts, different question.</a:t>
            </a:r>
          </a:p>
        </p:txBody>
      </p:sp>
      <p:pic>
        <p:nvPicPr>
          <p:cNvPr id="4" name="Picture 3" descr="w3-e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965960"/>
            <a:ext cx="6656832" cy="4160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67431" y="1965960"/>
            <a:ext cx="6656832" cy="4160520"/>
          </a:xfrm>
          <a:prstGeom prst="rect">
            <a:avLst/>
          </a:prstGeom>
          <a:noFill/>
          <a:ln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A8A59E"/>
                </a:solidFill>
                <a:latin typeface="Helvetica Neue"/>
              </a:rPr>
              <a:t>Signed in as Environmental Protection Agency · Dust &amp; PM10 layer active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INSTITUTIONAL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>
                <a:solidFill>
                  <a:srgbClr val="1A1D1B"/>
                </a:solidFill>
                <a:latin typeface="Georgia"/>
              </a:rPr>
              <a:t>A report is a claim until somebody goes and looks.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Ɔhwɛfoɔ is an on-ground officer role in the platform. Validation and repair are different jobs held by different people, and neither can take the other's step.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5176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01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Citizen reports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photo, location, note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E6E63"/>
                </a:solidFill>
                <a:latin typeface="Helvetica Neue"/>
              </a:rPr>
              <a:t>Dawuro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265176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02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Ɔhwɛfoɔ validates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goes to the site, confirms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E6E63"/>
                </a:solidFill>
                <a:latin typeface="Helvetica Neue"/>
              </a:rPr>
              <a:t>25% →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65176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03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Agency works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GHS, NADMO, EPA, Assembly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E6E63"/>
                </a:solidFill>
                <a:latin typeface="Helvetica Neue"/>
              </a:rPr>
              <a:t>50% → 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265176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04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Resolved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closed with what was done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E6E63"/>
                </a:solidFill>
                <a:latin typeface="Helvetica Neue"/>
              </a:rPr>
              <a:t>100%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7200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800600"/>
            <a:ext cx="106372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Every step is written down: who moved it, when, and what they found.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The person who filed the report watches the same bar the officers do. Reporting a hazard into a form that never answers is how people learn not to bother.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IN THE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1A1D1B"/>
                </a:solidFill>
                <a:latin typeface="Georgia"/>
              </a:rPr>
              <a:t>Dawuro: the warning, the weather, and the reason.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Named after the gong-gong that has carried public warnings in Ghana for centuries. Five languages, read aloud, and a daily lesson that pays.</a:t>
            </a:r>
          </a:p>
        </p:txBody>
      </p:sp>
      <p:pic>
        <p:nvPicPr>
          <p:cNvPr id="4" name="Picture 3" descr="m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304" y="1965960"/>
            <a:ext cx="1857232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9893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F6D66"/>
                </a:solidFill>
                <a:latin typeface="Helvetica Neue"/>
              </a:rPr>
              <a:t>Today's risk, in plain words</a:t>
            </a:r>
          </a:p>
        </p:txBody>
      </p:sp>
      <p:pic>
        <p:nvPicPr>
          <p:cNvPr id="6" name="Picture 5" descr="m2-qu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8168" y="1965960"/>
            <a:ext cx="1857232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43784" y="59893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F6D66"/>
                </a:solidFill>
                <a:latin typeface="Helvetica Neue"/>
              </a:rPr>
              <a:t>Learn by answering, wrong or right</a:t>
            </a:r>
          </a:p>
        </p:txBody>
      </p:sp>
      <p:pic>
        <p:nvPicPr>
          <p:cNvPr id="8" name="Picture 7" descr="m3-fini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9032" y="1965960"/>
            <a:ext cx="1857232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84648" y="59893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F6D66"/>
                </a:solidFill>
                <a:latin typeface="Helvetica Neue"/>
              </a:rPr>
              <a:t>Points and streak, earned daily</a:t>
            </a:r>
          </a:p>
        </p:txBody>
      </p:sp>
      <p:pic>
        <p:nvPicPr>
          <p:cNvPr id="10" name="Picture 9" descr="m4-repo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9896" y="1965960"/>
            <a:ext cx="1857232" cy="3840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25512" y="59893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F6D66"/>
                </a:solidFill>
                <a:latin typeface="Helvetica Neue"/>
              </a:rPr>
              <a:t>Report a hazard with a photo</a:t>
            </a:r>
          </a:p>
        </p:txBody>
      </p:sp>
      <p:pic>
        <p:nvPicPr>
          <p:cNvPr id="12" name="Picture 11" descr="m5-tw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0760" y="1965960"/>
            <a:ext cx="1857232" cy="3840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66376" y="59893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F6D66"/>
                </a:solidFill>
                <a:latin typeface="Helvetica Neue"/>
              </a:rPr>
              <a:t>The same warning in Twi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ACCESSIBILITY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200" b="0">
                <a:solidFill>
                  <a:srgbClr val="1A1D1B"/>
                </a:solidFill>
                <a:latin typeface="Georgia"/>
              </a:rPr>
              <a:t>Built for the people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3200" b="0">
                <a:solidFill>
                  <a:srgbClr val="1A1D1B"/>
                </a:solidFill>
                <a:latin typeface="Georgia"/>
              </a:rPr>
              <a:t>most exposed, not the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3200" b="0">
                <a:solidFill>
                  <a:srgbClr val="0E6E63"/>
                </a:solidFill>
                <a:latin typeface="Georgia"/>
              </a:rPr>
              <a:t>easiest to reach.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The hackathon asks us to reach youth and marginalised groups. Those are the people least likely to own a smartphone, read fluently, or speak English at home. Every one of those is designed for, not apologised for.</a:t>
            </a:r>
          </a:p>
        </p:txBody>
      </p:sp>
      <p:pic>
        <p:nvPicPr>
          <p:cNvPr id="4" name="Picture 3" descr="m6-langu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097280"/>
            <a:ext cx="2387870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114300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E6E63"/>
                </a:solidFill>
                <a:latin typeface="Helvetica Neue"/>
              </a:rPr>
              <a:t>Five languages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English, Twi, Ga, Ewe, Dagbani, chosen at sign-up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947672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E6E63"/>
                </a:solidFill>
                <a:latin typeface="Helvetica Neue"/>
              </a:rPr>
              <a:t>Read aloud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Every forecast, lesson and quiz answer can be spoken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2752344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E6E63"/>
                </a:solidFill>
                <a:latin typeface="Helvetica Neue"/>
              </a:rPr>
              <a:t>Never a wrong voice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If the phone has no voice for a language, it says so and stays silent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557016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E6E63"/>
                </a:solidFill>
                <a:latin typeface="Helvetica Neue"/>
              </a:rPr>
              <a:t>Age-banded content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A nine-year-old and a grandmother get different wording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4361688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E6E63"/>
                </a:solidFill>
                <a:latin typeface="Helvetica Neue"/>
              </a:rPr>
              <a:t>No smartphone needed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USSD on any handset; SMS for people who open nothing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516636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E6E63"/>
                </a:solidFill>
                <a:latin typeface="Helvetica Neue"/>
              </a:rPr>
              <a:t>Works offline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The last forecast is kept; reports queue and send themselves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THE RENEWAL QUEUE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>
                <a:solidFill>
                  <a:srgbClr val="1A1D1B"/>
                </a:solidFill>
                <a:latin typeface="Georgia"/>
              </a:rPr>
              <a:t>Ghana Health Service sees who has earned cover, and who is close.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Ranked by points, with the phone number to reach them on. Under-18s are flagged as already exempt rather than shown a target.</a:t>
            </a:r>
          </a:p>
        </p:txBody>
      </p:sp>
      <p:pic>
        <p:nvPicPr>
          <p:cNvPr id="4" name="Picture 3" descr="w2-renew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607" y="1965960"/>
            <a:ext cx="7396480" cy="4160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397607" y="1965960"/>
            <a:ext cx="7396480" cy="4160520"/>
          </a:xfrm>
          <a:prstGeom prst="rect">
            <a:avLst/>
          </a:prstGeom>
          <a:noFill/>
          <a:ln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A8A59E"/>
                </a:solidFill>
                <a:latin typeface="Helvetica Neue"/>
              </a:rPr>
              <a:t>NHIS renewals · Ghana Health Service only · seeded demonstration Guardians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REWARD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5943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200" b="0">
                <a:solidFill>
                  <a:srgbClr val="1A1D1B"/>
                </a:solidFill>
                <a:latin typeface="Georgia"/>
              </a:rPr>
              <a:t>Points buy health cover,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3200" b="0">
                <a:solidFill>
                  <a:srgbClr val="0E6E63"/>
                </a:solidFill>
                <a:latin typeface="Georgia"/>
              </a:rPr>
              <a:t>not cash.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600" b="0">
                <a:solidFill>
                  <a:srgbClr val="6F6D66"/>
                </a:solidFill>
                <a:latin typeface="Helvetica Neue"/>
              </a:rPr>
              <a:t>3,500 points is one year of NHIS cover. The number is derived, not chosen: the adult premium runs GHS 7.20 to 48 by income band, about GHS 30 to 50 a year for informal workers. We price a point at one pesewa and take the middle of that band.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600" b="1">
                <a:solidFill>
                  <a:srgbClr val="1A1D1B"/>
                </a:solidFill>
                <a:latin typeface="Helvetica Neue"/>
              </a:rPr>
              <a:t>No money leaves the platform. No float to hold, no payout licence, no transfer that cannot be recalled.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0" y="1188720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0">
                <a:solidFill>
                  <a:srgbClr val="0E6E63"/>
                </a:solidFill>
                <a:latin typeface="Georgia"/>
              </a:rPr>
              <a:t>3,500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points for a year of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0" y="2377440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0">
                <a:solidFill>
                  <a:srgbClr val="0E6E63"/>
                </a:solidFill>
                <a:latin typeface="Georgia"/>
              </a:rPr>
              <a:t>~35 days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of daily use to earn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566160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0">
                <a:solidFill>
                  <a:srgbClr val="0E6E63"/>
                </a:solidFill>
                <a:latin typeface="Georgia"/>
              </a:rPr>
              <a:t>0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cedis of platform liability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89204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12064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The platform never says a renewal happened.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It records who earned one and hands that to Ghana Health Service, who renew and confirm. Claiming otherwise would be the platform speaking for a government scheme.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0">
                <a:solidFill>
                  <a:srgbClr val="1A1D1B"/>
                </a:solidFill>
                <a:latin typeface="Georgia"/>
              </a:rPr>
              <a:t>A smartphone is not a requirement.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600" b="0">
                <a:solidFill>
                  <a:srgbClr val="6F6D66"/>
                </a:solidFill>
                <a:latin typeface="Helvetica Neue"/>
              </a:rPr>
              <a:t>The people most exposed to climate-driven illness are the least likely to own one. Three front doors, one engine behind all of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5176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D1B"/>
                </a:solidFill>
                <a:latin typeface="Georgia"/>
              </a:rPr>
              <a:t>Dawuro app</a:t>
            </a:r>
          </a:p>
          <a:p>
            <a:pPr>
              <a:spcAft>
                <a:spcPts val="1000"/>
              </a:spcAft>
            </a:pPr>
            <a:r>
              <a:rPr sz="1100" b="1" spc="140">
                <a:solidFill>
                  <a:srgbClr val="0E6E63"/>
                </a:solidFill>
                <a:latin typeface="Helvetica Neue"/>
              </a:rPr>
              <a:t>ANDROID AND IOS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Forecast, weather, daily quiz, hazard reporting with photo, progress on what you reported. English and Twi, read aloud.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265176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D1B"/>
                </a:solidFill>
                <a:latin typeface="Georgia"/>
              </a:rPr>
              <a:t>USSD</a:t>
            </a:r>
          </a:p>
          <a:p>
            <a:pPr>
              <a:spcAft>
                <a:spcPts val="1000"/>
              </a:spcAft>
            </a:pPr>
            <a:r>
              <a:rPr sz="1100" b="1" spc="140">
                <a:solidFill>
                  <a:srgbClr val="0E6E63"/>
                </a:solidFill>
                <a:latin typeface="Helvetica Neue"/>
              </a:rPr>
              <a:t>AFRICA'S TALKING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Any feature phone, no data, no app. Dial the shortcode, choose language and district, get today's warning.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265176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D1B"/>
                </a:solidFill>
                <a:latin typeface="Georgia"/>
              </a:rPr>
              <a:t>SMS</a:t>
            </a:r>
          </a:p>
          <a:p>
            <a:pPr>
              <a:spcAft>
                <a:spcPts val="1000"/>
              </a:spcAft>
            </a:pPr>
            <a:r>
              <a:rPr sz="1100" b="1" spc="140">
                <a:solidFill>
                  <a:srgbClr val="0E6E63"/>
                </a:solidFill>
                <a:latin typeface="Helvetica Neue"/>
              </a:rPr>
              <a:t>MOOLRE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Push warnings to a district when risk crosses the threshold, for people who never open anything.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21208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0E6E63"/>
                </a:solidFill>
                <a:latin typeface="Georgia"/>
              </a:rPr>
              <a:t>38.3m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6F6D66"/>
                </a:solidFill>
                <a:latin typeface="Helvetica Neue"/>
              </a:rPr>
              <a:t>mobile connections, 110% of the population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544068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0E6E63"/>
                </a:solidFill>
                <a:latin typeface="Georgia"/>
              </a:rPr>
              <a:t>69.9%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6F6D66"/>
                </a:solidFill>
                <a:latin typeface="Helvetica Neue"/>
              </a:rPr>
              <a:t>use the internet, so three in ten do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544068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0E6E63"/>
                </a:solidFill>
                <a:latin typeface="Georgia"/>
              </a:rPr>
              <a:t>0 kb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6F6D66"/>
                </a:solidFill>
                <a:latin typeface="Helvetica Neue"/>
              </a:rPr>
              <a:t>of data needed to dial the USSD shortcode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5508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8A59E"/>
                </a:solidFill>
                <a:latin typeface="Helvetica Neue"/>
              </a:rPr>
              <a:t>GSMA Intelligence / DataReportal, Digital 2025 Ghana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WHAT YOU ASKED US LAST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1A1D1B"/>
                </a:solidFill>
                <a:latin typeface="Georgia"/>
              </a:rPr>
              <a:t>Three criticisms, three answers.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A32118"/>
                </a:solidFill>
                <a:latin typeface="Helvetica Neue"/>
              </a:rPr>
              <a:t>Field validation unproven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1A1D1B"/>
                </a:solidFill>
                <a:latin typeface="Helvetica Neue"/>
              </a:rPr>
              <a:t>Ɔhwɛfoɔ role: an officer stands where the report was filed and confirms it before any agency spends a truck. Every validation is signed and timestamped.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044952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A32118"/>
                </a:solidFill>
                <a:latin typeface="Helvetica Neue"/>
              </a:rPr>
              <a:t>Institutional integration unproven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24612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1A1D1B"/>
                </a:solidFill>
                <a:latin typeface="Helvetica Neue"/>
              </a:rPr>
              <a:t>Reports move through named agency stages with a permission model. Role-scoped views for GHS, EPA, GMet, NADMO and the District Assembly.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462272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A32118"/>
                </a:solidFill>
                <a:latin typeface="Helvetica Neue"/>
              </a:rPr>
              <a:t>Reward feasibility unproven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466344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1A1D1B"/>
                </a:solidFill>
                <a:latin typeface="Helvetica Neue"/>
              </a:rPr>
              <a:t>Cash removed. Points buy NHIS cover priced against the real GHS 7.20-48 premium band, issued by Ghana Health Service, not by 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82880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</a:pPr>
            <a:r>
              <a:rPr sz="1200" b="1" spc="220">
                <a:solidFill>
                  <a:srgbClr val="0E6E63"/>
                </a:solidFill>
                <a:latin typeface="Helvetica Neue"/>
              </a:rPr>
              <a:t>CLIMAHEALTH PREDICT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3600" b="0">
                <a:solidFill>
                  <a:srgbClr val="1A1D1B"/>
                </a:solidFill>
                <a:latin typeface="Georgia"/>
              </a:rPr>
              <a:t>The climate signal is already there.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3600" b="0">
                <a:solidFill>
                  <a:srgbClr val="1A1D1B"/>
                </a:solidFill>
                <a:latin typeface="Georgia"/>
              </a:rPr>
              <a:t>We turn it into a warning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3600" b="0">
                <a:solidFill>
                  <a:srgbClr val="0E6E63"/>
                </a:solidFill>
                <a:latin typeface="Georgia"/>
              </a:rPr>
              <a:t>somebody can act 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57200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846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0">
                <a:solidFill>
                  <a:srgbClr val="0E6E63"/>
                </a:solidFill>
                <a:latin typeface="Georgia"/>
              </a:rPr>
              <a:t>260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districts,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4846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0">
                <a:solidFill>
                  <a:srgbClr val="0E6E63"/>
                </a:solidFill>
                <a:latin typeface="Georgia"/>
              </a:rPr>
              <a:t>5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disease pathways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4846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0">
                <a:solidFill>
                  <a:srgbClr val="0E6E63"/>
                </a:solidFill>
                <a:latin typeface="Georgia"/>
              </a:rPr>
              <a:t>963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tests passing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A1D1B"/>
                </a:solidFill>
                <a:latin typeface="Georgia"/>
              </a:rPr>
              <a:t>Where the numbers come from.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55064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D1B"/>
                </a:solidFill>
                <a:latin typeface="Helvetica Neue"/>
              </a:rPr>
              <a:t>Malaria burden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78308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6.7m cases and 11,635 deaths in Ghana,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7830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0E6E63"/>
                </a:solidFill>
                <a:latin typeface="Helvetica Neue"/>
              </a:rPr>
              <a:t>WHO, World Malaria Report 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404872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32888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D1B"/>
                </a:solidFill>
                <a:latin typeface="Helvetica Neue"/>
              </a:rPr>
              <a:t>NHIS 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532888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18.5m active members, about 56% of the population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532888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0E6E63"/>
                </a:solidFill>
                <a:latin typeface="Helvetica Neue"/>
              </a:rPr>
              <a:t>National Health Insurance Authority, 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5468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82696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D1B"/>
                </a:solidFill>
                <a:latin typeface="Helvetica Neue"/>
              </a:rPr>
              <a:t>NHIS premium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282696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GHS 7.20 to 48 a year by income band; GHS 30 to 50 informal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282696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0E6E63"/>
                </a:solidFill>
                <a:latin typeface="Helvetica Neue"/>
              </a:rPr>
              <a:t>NHIA scheme documentation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904488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32504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D1B"/>
                </a:solidFill>
                <a:latin typeface="Helvetica Neue"/>
              </a:rPr>
              <a:t>Mobile reach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032504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38.3m connections, 110% of population; 69.9% use the internet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032504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0E6E63"/>
                </a:solidFill>
                <a:latin typeface="Helvetica Neue"/>
              </a:rPr>
              <a:t>GSMA Intelligence / DataReportal, Digital 2025 Ghana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654296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782312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D1B"/>
                </a:solidFill>
                <a:latin typeface="Helvetica Neue"/>
              </a:rPr>
              <a:t>Climate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782312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Daily observations and forecast for all 260 districts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782312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0E6E63"/>
                </a:solidFill>
                <a:latin typeface="Helvetica Neue"/>
              </a:rPr>
              <a:t>Open-Meteo, live in the product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404104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3212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D1B"/>
                </a:solidFill>
                <a:latin typeface="Helvetica Neue"/>
              </a:rPr>
              <a:t>District boundaries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5321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260 district polygons drawn on the 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55321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0E6E63"/>
                </a:solidFill>
                <a:latin typeface="Helvetica Neue"/>
              </a:rPr>
              <a:t>geoBoundaries, CC BY 4.0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BACKUP · FOR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A1D1B"/>
                </a:solidFill>
                <a:latin typeface="Georgia"/>
              </a:rPr>
              <a:t>How it is built.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 spc="160">
                <a:solidFill>
                  <a:srgbClr val="0E6E63"/>
                </a:solidFill>
                <a:latin typeface="Helvetica Neue"/>
              </a:rPr>
              <a:t>ARCHITECTURE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Pure rules engine with no framework, no I/O, no AI. Services depend on interfaces. An automated test fails the build if a layer imports upward.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20116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 spc="160">
                <a:solidFill>
                  <a:srgbClr val="0E6E63"/>
                </a:solidFill>
                <a:latin typeface="Helvetica Neue"/>
              </a:rPr>
              <a:t>DATA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Open-Meteo for all 260 districts, fetched concurrently and cached in Postgres. Photos in Cloudinary. Reports, stages and timelines persisted.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20116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 spc="160">
                <a:solidFill>
                  <a:srgbClr val="0E6E63"/>
                </a:solidFill>
                <a:latin typeface="Helvetica Neue"/>
              </a:rPr>
              <a:t>HONESTY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Twi wording is composed, never machine-translated, and carries a provenance field. Voice never reads a language the phone has no voice for.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75488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983480"/>
            <a:ext cx="106372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A1D1B"/>
                </a:solidFill>
                <a:latin typeface="Helvetica Neue"/>
              </a:rPr>
              <a:t>Known limits, stated plainly.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The engine has not yet been backtested against DHIMS2 case data. That is the next piece of work, and it is the one that turns a defensible model into a validated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