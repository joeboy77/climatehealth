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 sentence. Do not read the subtitle. Say: every agency here already has weather data. Nobody turns it into who gets sick, where, and when. That gap is the whole product.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problem with the number, not the adjective. 6.7 million cases, 11,635 deaths, one year, one country. Then the turn: all of it follows weather we can already see. Source is WHO World Malaria Report 2024, on the sources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lag window. This is the single idea the whole system rests on. Say the numbers out loud: two to six weeks for malaria. That is how much warning we can give.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one-liner from the top of the slide and then stop. The three columns are for the judges to read, not for you to narrate. Point, do not recite.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strongest slide. Deliver the left column flatly and the right column with weight. Then the line: we do not warn people about the weather, we warn them about what it is about to do to their children. If a judge pushes on fear tactics, the answer is on the slide: fear without an action backfires, so every warning we send ends in one thing to do tonight.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credibility slide. Judges asked whether the prediction is real. Answer: deterministic rules from published thresholds, reproducible, explainable. The AI is a translator, not a decider. Say that sentence exactly.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figure, then the map, then the ranked list. Say: this is running against live Open-Meteo data for all 260 districts right now.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note about every agency seeing only health. Say: an air quality officer should not have to hunt for air quality.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said institutional integration was unproven. This is the answer: a named role, a permission model, an append-only trail, and the citizen sees it close. Say: the agencies do not have to trust the app, they have to trust their own officer.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seconds. Point at the Twi screen last and say: this is the same warning, and the app tells the reader honestly that the wording is awaiting review by a Twi speaker and that their phone cannot read it aloud yet. Nobody else in this room will show you a screen admitting its own limits.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ties you to the hackathon theme. Say: the people most exposed to climate illness are the least likely to own a smartphone. If the product only works on a good phone in English, it has missed them. If asked for proof, go to the Twi screenshot on the app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Kofi Mensah: 20 points to go. Say: that is one more day of use. This is the screen that makes the reward real to an officer.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questioned reward feasibility directly. This slide is the rebuttal. Emphasise: we removed the cash payout entirely. There is nothing to fund and nothing to regulate. GHS already collects these premiums.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Adoption is the question every judge asks and most teams wave at. Say the number: 44% have no active cover. Then say the loop pays in exactly the thing they are going without. That is not a gimmick, it is the wedge.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flagged USSD and SMS as not implemented. USSD now runs on Africa's Talking and answers a full dial-through. If asked, offer to show the terminal transcript in the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wins or loses it. Say the criticism out loud before the answer. Judges remember being listened to. Do not rush this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three lines, pause, then the ask. Do not add anything after the ask. Naming the one thing you cannot do alone reads as confidence, and it gives the judges something concrete to say yes to.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this slide. It exists so that when a judge asks where a number came from, you turn to it and answer in one move. Every figure on the deck is on this page with its source.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show if asked. Volunteering the DHIMS2 gap before being asked reads as confident; being caught without it reads as careless.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2011680"/>
            <a:ext cx="10637215" cy="2377440"/>
          </a:xfrm>
          <a:prstGeom prst="rect">
            <a:avLst/>
          </a:prstGeom>
          <a:noFill/>
        </p:spPr>
        <p:txBody>
          <a:bodyPr wrap="square">
            <a:spAutoFit/>
          </a:bodyPr>
          <a:lstStyle/>
          <a:p>
            <a:pPr algn="l">
              <a:spcAft>
                <a:spcPts val="1800"/>
              </a:spcAft>
            </a:pPr>
            <a:r>
              <a:rPr sz="1200" b="1" spc="220">
                <a:solidFill>
                  <a:srgbClr val="0E6E63"/>
                </a:solidFill>
                <a:latin typeface="Helvetica Neue"/>
              </a:rPr>
              <a:t>CLIMAHEALTH PREDICT</a:t>
            </a:r>
          </a:p>
          <a:p>
            <a:pPr>
              <a:lnSpc>
                <a:spcPct val="105000"/>
              </a:lnSpc>
              <a:spcAft>
                <a:spcPts val="200"/>
              </a:spcAft>
            </a:pPr>
            <a:r>
              <a:rPr sz="4600" b="0">
                <a:solidFill>
                  <a:srgbClr val="1A1D1B"/>
                </a:solidFill>
                <a:latin typeface="Georgia"/>
              </a:rPr>
              <a:t>Ghana knows the weather.</a:t>
            </a:r>
          </a:p>
          <a:p>
            <a:pPr>
              <a:lnSpc>
                <a:spcPct val="105000"/>
              </a:lnSpc>
              <a:spcAft>
                <a:spcPts val="200"/>
              </a:spcAft>
            </a:pPr>
            <a:r>
              <a:rPr sz="4600" b="0">
                <a:solidFill>
                  <a:srgbClr val="1A1D1B"/>
                </a:solidFill>
                <a:latin typeface="Georgia"/>
              </a:rPr>
              <a:t>It does not yet know what the weather</a:t>
            </a:r>
          </a:p>
          <a:p>
            <a:pPr>
              <a:lnSpc>
                <a:spcPct val="105000"/>
              </a:lnSpc>
              <a:spcAft>
                <a:spcPts val="2000"/>
              </a:spcAft>
            </a:pPr>
            <a:r>
              <a:rPr sz="4600" b="0">
                <a:solidFill>
                  <a:srgbClr val="0E6E63"/>
                </a:solidFill>
                <a:latin typeface="Georgia"/>
              </a:rPr>
              <a:t>is about to do to people.</a:t>
            </a:r>
          </a:p>
        </p:txBody>
      </p:sp>
      <p:sp>
        <p:nvSpPr>
          <p:cNvPr id="3" name="Rectangle 2"/>
          <p:cNvSpPr/>
          <p:nvPr/>
        </p:nvSpPr>
        <p:spPr>
          <a:xfrm>
            <a:off x="777240" y="489204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5120640"/>
            <a:ext cx="10637215" cy="822960"/>
          </a:xfrm>
          <a:prstGeom prst="rect">
            <a:avLst/>
          </a:prstGeom>
          <a:noFill/>
        </p:spPr>
        <p:txBody>
          <a:bodyPr wrap="square">
            <a:spAutoFit/>
          </a:bodyPr>
          <a:lstStyle/>
          <a:p>
            <a:pPr algn="l">
              <a:spcAft>
                <a:spcPts val="600"/>
              </a:spcAft>
            </a:pPr>
            <a:r>
              <a:rPr sz="1500" b="0">
                <a:solidFill>
                  <a:srgbClr val="6F6D66"/>
                </a:solidFill>
                <a:latin typeface="Helvetica Neue"/>
              </a:rPr>
              <a:t>A climate-health early-warning platform: it turns today's climate into a ranked, explained health warning for the weeks ahead.</a:t>
            </a:r>
          </a:p>
          <a:p>
            <a:pPr>
              <a:spcAft>
                <a:spcPts val="0"/>
              </a:spcAft>
            </a:pPr>
            <a:r>
              <a:rPr sz="1200" b="1" spc="140">
                <a:solidFill>
                  <a:srgbClr val="A8A59E"/>
                </a:solidFill>
                <a:latin typeface="Helvetica Neue"/>
              </a:rPr>
              <a:t>GreenRes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THE PROBLEM</a:t>
            </a:r>
          </a:p>
        </p:txBody>
      </p:sp>
      <p:sp>
        <p:nvSpPr>
          <p:cNvPr id="3" name="TextBox 2"/>
          <p:cNvSpPr txBox="1"/>
          <p:nvPr/>
        </p:nvSpPr>
        <p:spPr>
          <a:xfrm>
            <a:off x="777240" y="1005840"/>
            <a:ext cx="10607040" cy="822960"/>
          </a:xfrm>
          <a:prstGeom prst="rect">
            <a:avLst/>
          </a:prstGeom>
          <a:noFill/>
        </p:spPr>
        <p:txBody>
          <a:bodyPr wrap="square">
            <a:spAutoFit/>
          </a:bodyPr>
          <a:lstStyle/>
          <a:p>
            <a:pPr algn="l">
              <a:spcAft>
                <a:spcPts val="800"/>
              </a:spcAft>
            </a:pPr>
            <a:r>
              <a:rPr sz="3000" b="0">
                <a:solidFill>
                  <a:srgbClr val="1A1D1B"/>
                </a:solidFill>
                <a:latin typeface="Georgia"/>
              </a:rPr>
              <a:t>Climate-driven disease is Ghana's largest health burden.</a:t>
            </a:r>
          </a:p>
          <a:p>
            <a:pPr>
              <a:lnSpc>
                <a:spcPct val="140000"/>
              </a:lnSpc>
              <a:spcAft>
                <a:spcPts val="0"/>
              </a:spcAft>
            </a:pPr>
            <a:r>
              <a:rPr sz="1500" b="0">
                <a:solidFill>
                  <a:srgbClr val="6F6D66"/>
                </a:solidFill>
                <a:latin typeface="Helvetica Neue"/>
              </a:rPr>
              <a:t>Malaria, cholera, meningitis and heat illness all track the weather. Every one of them is driven by conditions we can already measure.</a:t>
            </a:r>
          </a:p>
        </p:txBody>
      </p:sp>
      <p:sp>
        <p:nvSpPr>
          <p:cNvPr id="4" name="TextBox 3"/>
          <p:cNvSpPr txBox="1"/>
          <p:nvPr/>
        </p:nvSpPr>
        <p:spPr>
          <a:xfrm>
            <a:off x="777240" y="2377440"/>
            <a:ext cx="3291840" cy="1737360"/>
          </a:xfrm>
          <a:prstGeom prst="rect">
            <a:avLst/>
          </a:prstGeom>
          <a:noFill/>
        </p:spPr>
        <p:txBody>
          <a:bodyPr wrap="square">
            <a:spAutoFit/>
          </a:bodyPr>
          <a:lstStyle/>
          <a:p>
            <a:pPr algn="l">
              <a:spcAft>
                <a:spcPts val="400"/>
              </a:spcAft>
            </a:pPr>
            <a:r>
              <a:rPr sz="4400" b="0">
                <a:solidFill>
                  <a:srgbClr val="A32118"/>
                </a:solidFill>
                <a:latin typeface="Georgia"/>
              </a:rPr>
              <a:t>6.7m</a:t>
            </a:r>
          </a:p>
          <a:p>
            <a:pPr>
              <a:lnSpc>
                <a:spcPct val="130000"/>
              </a:lnSpc>
              <a:spcAft>
                <a:spcPts val="600"/>
              </a:spcAft>
            </a:pPr>
            <a:r>
              <a:rPr sz="1500" b="1">
                <a:solidFill>
                  <a:srgbClr val="1A1D1B"/>
                </a:solidFill>
                <a:latin typeface="Helvetica Neue"/>
              </a:rPr>
              <a:t>malaria cases in Ghana in 2024</a:t>
            </a:r>
          </a:p>
          <a:p>
            <a:pPr>
              <a:lnSpc>
                <a:spcPct val="130000"/>
              </a:lnSpc>
              <a:spcAft>
                <a:spcPts val="0"/>
              </a:spcAft>
            </a:pPr>
            <a:r>
              <a:rPr sz="1100" b="0">
                <a:solidFill>
                  <a:srgbClr val="A8A59E"/>
                </a:solidFill>
                <a:latin typeface="Helvetica Neue"/>
              </a:rPr>
              <a:t>WHO World Malaria Report 2024</a:t>
            </a:r>
          </a:p>
        </p:txBody>
      </p:sp>
      <p:sp>
        <p:nvSpPr>
          <p:cNvPr id="5" name="TextBox 4"/>
          <p:cNvSpPr txBox="1"/>
          <p:nvPr/>
        </p:nvSpPr>
        <p:spPr>
          <a:xfrm>
            <a:off x="4343400" y="2377440"/>
            <a:ext cx="3291840" cy="1737360"/>
          </a:xfrm>
          <a:prstGeom prst="rect">
            <a:avLst/>
          </a:prstGeom>
          <a:noFill/>
        </p:spPr>
        <p:txBody>
          <a:bodyPr wrap="square">
            <a:spAutoFit/>
          </a:bodyPr>
          <a:lstStyle/>
          <a:p>
            <a:pPr algn="l">
              <a:spcAft>
                <a:spcPts val="400"/>
              </a:spcAft>
            </a:pPr>
            <a:r>
              <a:rPr sz="4400" b="0">
                <a:solidFill>
                  <a:srgbClr val="A32118"/>
                </a:solidFill>
                <a:latin typeface="Georgia"/>
              </a:rPr>
              <a:t>11,635</a:t>
            </a:r>
          </a:p>
          <a:p>
            <a:pPr>
              <a:lnSpc>
                <a:spcPct val="130000"/>
              </a:lnSpc>
              <a:spcAft>
                <a:spcPts val="600"/>
              </a:spcAft>
            </a:pPr>
            <a:r>
              <a:rPr sz="1500" b="1">
                <a:solidFill>
                  <a:srgbClr val="1A1D1B"/>
                </a:solidFill>
                <a:latin typeface="Helvetica Neue"/>
              </a:rPr>
              <a:t>malaria deaths in that year</a:t>
            </a:r>
          </a:p>
          <a:p>
            <a:pPr>
              <a:lnSpc>
                <a:spcPct val="130000"/>
              </a:lnSpc>
              <a:spcAft>
                <a:spcPts val="0"/>
              </a:spcAft>
            </a:pPr>
            <a:r>
              <a:rPr sz="1100" b="0">
                <a:solidFill>
                  <a:srgbClr val="A8A59E"/>
                </a:solidFill>
                <a:latin typeface="Helvetica Neue"/>
              </a:rPr>
              <a:t>WHO World Malaria Report 2024</a:t>
            </a:r>
          </a:p>
        </p:txBody>
      </p:sp>
      <p:sp>
        <p:nvSpPr>
          <p:cNvPr id="6" name="TextBox 5"/>
          <p:cNvSpPr txBox="1"/>
          <p:nvPr/>
        </p:nvSpPr>
        <p:spPr>
          <a:xfrm>
            <a:off x="7909560" y="2377440"/>
            <a:ext cx="3291840" cy="1737360"/>
          </a:xfrm>
          <a:prstGeom prst="rect">
            <a:avLst/>
          </a:prstGeom>
          <a:noFill/>
        </p:spPr>
        <p:txBody>
          <a:bodyPr wrap="square">
            <a:spAutoFit/>
          </a:bodyPr>
          <a:lstStyle/>
          <a:p>
            <a:pPr algn="l">
              <a:spcAft>
                <a:spcPts val="400"/>
              </a:spcAft>
            </a:pPr>
            <a:r>
              <a:rPr sz="4400" b="0">
                <a:solidFill>
                  <a:srgbClr val="A32118"/>
                </a:solidFill>
                <a:latin typeface="Georgia"/>
              </a:rPr>
              <a:t>~196</a:t>
            </a:r>
          </a:p>
          <a:p>
            <a:pPr>
              <a:lnSpc>
                <a:spcPct val="130000"/>
              </a:lnSpc>
              <a:spcAft>
                <a:spcPts val="600"/>
              </a:spcAft>
            </a:pPr>
            <a:r>
              <a:rPr sz="1500" b="1">
                <a:solidFill>
                  <a:srgbClr val="1A1D1B"/>
                </a:solidFill>
                <a:latin typeface="Helvetica Neue"/>
              </a:rPr>
              <a:t>cases per 1,000 at risk</a:t>
            </a:r>
          </a:p>
          <a:p>
            <a:pPr>
              <a:lnSpc>
                <a:spcPct val="130000"/>
              </a:lnSpc>
              <a:spcAft>
                <a:spcPts val="0"/>
              </a:spcAft>
            </a:pPr>
            <a:r>
              <a:rPr sz="1100" b="0">
                <a:solidFill>
                  <a:srgbClr val="A8A59E"/>
                </a:solidFill>
                <a:latin typeface="Helvetica Neue"/>
              </a:rPr>
              <a:t>WHO, broadly flat since 2023</a:t>
            </a:r>
          </a:p>
        </p:txBody>
      </p:sp>
      <p:sp>
        <p:nvSpPr>
          <p:cNvPr id="7" name="Rectangle 6"/>
          <p:cNvSpPr/>
          <p:nvPr/>
        </p:nvSpPr>
        <p:spPr>
          <a:xfrm>
            <a:off x="777240" y="448056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709160"/>
            <a:ext cx="10637215" cy="1463040"/>
          </a:xfrm>
          <a:prstGeom prst="rect">
            <a:avLst/>
          </a:prstGeom>
          <a:noFill/>
        </p:spPr>
        <p:txBody>
          <a:bodyPr wrap="square">
            <a:spAutoFit/>
          </a:bodyPr>
          <a:lstStyle/>
          <a:p>
            <a:pPr algn="l">
              <a:spcAft>
                <a:spcPts val="800"/>
              </a:spcAft>
            </a:pPr>
            <a:r>
              <a:rPr sz="1700" b="1">
                <a:solidFill>
                  <a:srgbClr val="1A1D1B"/>
                </a:solidFill>
                <a:latin typeface="Helvetica Neue"/>
              </a:rPr>
              <a:t>Ghana is one of the 15 highest-burden countries in the world.</a:t>
            </a:r>
          </a:p>
          <a:p>
            <a:pPr>
              <a:lnSpc>
                <a:spcPct val="145000"/>
              </a:lnSpc>
              <a:spcAft>
                <a:spcPts val="0"/>
              </a:spcAft>
            </a:pPr>
            <a:r>
              <a:rPr sz="1500" b="0">
                <a:solidFill>
                  <a:srgbClr val="6F6D66"/>
                </a:solidFill>
                <a:latin typeface="Helvetica Neue"/>
              </a:rPr>
              <a:t>The response is reactive: cases are counted after people are already ill. The climate data that precedes those cases is free, public, and updated daily. Nobody is turning it into a warning.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THE GAP</a:t>
            </a:r>
          </a:p>
        </p:txBody>
      </p:sp>
      <p:sp>
        <p:nvSpPr>
          <p:cNvPr id="3" name="TextBox 2"/>
          <p:cNvSpPr txBox="1"/>
          <p:nvPr/>
        </p:nvSpPr>
        <p:spPr>
          <a:xfrm>
            <a:off x="777240" y="1051560"/>
            <a:ext cx="5852160" cy="3108960"/>
          </a:xfrm>
          <a:prstGeom prst="rect">
            <a:avLst/>
          </a:prstGeom>
          <a:noFill/>
        </p:spPr>
        <p:txBody>
          <a:bodyPr wrap="square">
            <a:spAutoFit/>
          </a:bodyPr>
          <a:lstStyle/>
          <a:p>
            <a:pPr algn="l">
              <a:lnSpc>
                <a:spcPct val="108000"/>
              </a:lnSpc>
              <a:spcAft>
                <a:spcPts val="200"/>
              </a:spcAft>
            </a:pPr>
            <a:r>
              <a:rPr sz="3800" b="0">
                <a:solidFill>
                  <a:srgbClr val="1A1D1B"/>
                </a:solidFill>
                <a:latin typeface="Georgia"/>
              </a:rPr>
              <a:t>Cases arrive weeks</a:t>
            </a:r>
          </a:p>
          <a:p>
            <a:pPr>
              <a:lnSpc>
                <a:spcPct val="108000"/>
              </a:lnSpc>
              <a:spcAft>
                <a:spcPts val="200"/>
              </a:spcAft>
            </a:pPr>
            <a:r>
              <a:rPr sz="3800" b="0">
                <a:solidFill>
                  <a:srgbClr val="1A1D1B"/>
                </a:solidFill>
                <a:latin typeface="Georgia"/>
              </a:rPr>
              <a:t>after the rain that</a:t>
            </a:r>
          </a:p>
          <a:p>
            <a:pPr>
              <a:lnSpc>
                <a:spcPct val="108000"/>
              </a:lnSpc>
              <a:spcAft>
                <a:spcPts val="1800"/>
              </a:spcAft>
            </a:pPr>
            <a:r>
              <a:rPr sz="3800" b="0">
                <a:solidFill>
                  <a:srgbClr val="A32118"/>
                </a:solidFill>
                <a:latin typeface="Georgia"/>
              </a:rPr>
              <a:t>caused them.</a:t>
            </a:r>
          </a:p>
          <a:p>
            <a:pPr>
              <a:lnSpc>
                <a:spcPct val="145000"/>
              </a:lnSpc>
              <a:spcAft>
                <a:spcPts val="0"/>
              </a:spcAft>
            </a:pPr>
            <a:r>
              <a:rPr sz="1600" b="0">
                <a:solidFill>
                  <a:srgbClr val="6F6D66"/>
                </a:solidFill>
                <a:latin typeface="Helvetica Neue"/>
              </a:rPr>
              <a:t>That delay is not a problem. It is the opportunity. It is the only window in which a district can still act before people fall ill.</a:t>
            </a:r>
          </a:p>
        </p:txBody>
      </p:sp>
      <p:sp>
        <p:nvSpPr>
          <p:cNvPr id="4" name="TextBox 3"/>
          <p:cNvSpPr txBox="1"/>
          <p:nvPr/>
        </p:nvSpPr>
        <p:spPr>
          <a:xfrm>
            <a:off x="6858000" y="1234440"/>
            <a:ext cx="4572000" cy="1005840"/>
          </a:xfrm>
          <a:prstGeom prst="rect">
            <a:avLst/>
          </a:prstGeom>
          <a:noFill/>
        </p:spPr>
        <p:txBody>
          <a:bodyPr wrap="square">
            <a:spAutoFit/>
          </a:bodyPr>
          <a:lstStyle/>
          <a:p>
            <a:pPr algn="l">
              <a:spcAft>
                <a:spcPts val="400"/>
              </a:spcAft>
            </a:pPr>
            <a:r>
              <a:rPr sz="1100" b="1" spc="160">
                <a:solidFill>
                  <a:srgbClr val="6F6D66"/>
                </a:solidFill>
                <a:latin typeface="Helvetica Neue"/>
              </a:rPr>
              <a:t>MALARIA</a:t>
            </a:r>
          </a:p>
          <a:p>
            <a:pPr>
              <a:spcAft>
                <a:spcPts val="200"/>
              </a:spcAft>
            </a:pPr>
            <a:r>
              <a:rPr sz="2600" b="0">
                <a:solidFill>
                  <a:srgbClr val="0E6E63"/>
                </a:solidFill>
                <a:latin typeface="Georgia"/>
              </a:rPr>
              <a:t>2 to 6 weeks</a:t>
            </a:r>
          </a:p>
          <a:p>
            <a:pPr>
              <a:spcAft>
                <a:spcPts val="0"/>
              </a:spcAft>
            </a:pPr>
            <a:r>
              <a:rPr sz="1300" b="0">
                <a:solidFill>
                  <a:srgbClr val="6F6D66"/>
                </a:solidFill>
                <a:latin typeface="Helvetica Neue"/>
              </a:rPr>
              <a:t>after rainfall and standing water</a:t>
            </a:r>
          </a:p>
        </p:txBody>
      </p:sp>
      <p:sp>
        <p:nvSpPr>
          <p:cNvPr id="5" name="TextBox 4"/>
          <p:cNvSpPr txBox="1"/>
          <p:nvPr/>
        </p:nvSpPr>
        <p:spPr>
          <a:xfrm>
            <a:off x="6858000" y="2377440"/>
            <a:ext cx="4572000" cy="1005840"/>
          </a:xfrm>
          <a:prstGeom prst="rect">
            <a:avLst/>
          </a:prstGeom>
          <a:noFill/>
        </p:spPr>
        <p:txBody>
          <a:bodyPr wrap="square">
            <a:spAutoFit/>
          </a:bodyPr>
          <a:lstStyle/>
          <a:p>
            <a:pPr algn="l">
              <a:spcAft>
                <a:spcPts val="400"/>
              </a:spcAft>
            </a:pPr>
            <a:r>
              <a:rPr sz="1100" b="1" spc="160">
                <a:solidFill>
                  <a:srgbClr val="6F6D66"/>
                </a:solidFill>
                <a:latin typeface="Helvetica Neue"/>
              </a:rPr>
              <a:t>CHOLERA</a:t>
            </a:r>
          </a:p>
          <a:p>
            <a:pPr>
              <a:spcAft>
                <a:spcPts val="200"/>
              </a:spcAft>
            </a:pPr>
            <a:r>
              <a:rPr sz="2600" b="0">
                <a:solidFill>
                  <a:srgbClr val="0E6E63"/>
                </a:solidFill>
                <a:latin typeface="Georgia"/>
              </a:rPr>
              <a:t>1 to 3 weeks</a:t>
            </a:r>
          </a:p>
          <a:p>
            <a:pPr>
              <a:spcAft>
                <a:spcPts val="0"/>
              </a:spcAft>
            </a:pPr>
            <a:r>
              <a:rPr sz="1300" b="0">
                <a:solidFill>
                  <a:srgbClr val="6F6D66"/>
                </a:solidFill>
                <a:latin typeface="Helvetica Neue"/>
              </a:rPr>
              <a:t>after flooding and unsafe water</a:t>
            </a:r>
          </a:p>
        </p:txBody>
      </p:sp>
      <p:sp>
        <p:nvSpPr>
          <p:cNvPr id="6" name="TextBox 5"/>
          <p:cNvSpPr txBox="1"/>
          <p:nvPr/>
        </p:nvSpPr>
        <p:spPr>
          <a:xfrm>
            <a:off x="6858000" y="3520440"/>
            <a:ext cx="4572000" cy="1005840"/>
          </a:xfrm>
          <a:prstGeom prst="rect">
            <a:avLst/>
          </a:prstGeom>
          <a:noFill/>
        </p:spPr>
        <p:txBody>
          <a:bodyPr wrap="square">
            <a:spAutoFit/>
          </a:bodyPr>
          <a:lstStyle/>
          <a:p>
            <a:pPr algn="l">
              <a:spcAft>
                <a:spcPts val="400"/>
              </a:spcAft>
            </a:pPr>
            <a:r>
              <a:rPr sz="1100" b="1" spc="160">
                <a:solidFill>
                  <a:srgbClr val="6F6D66"/>
                </a:solidFill>
                <a:latin typeface="Helvetica Neue"/>
              </a:rPr>
              <a:t>MENINGITIS</a:t>
            </a:r>
          </a:p>
          <a:p>
            <a:pPr>
              <a:spcAft>
                <a:spcPts val="200"/>
              </a:spcAft>
            </a:pPr>
            <a:r>
              <a:rPr sz="2600" b="0">
                <a:solidFill>
                  <a:srgbClr val="0E6E63"/>
                </a:solidFill>
                <a:latin typeface="Georgia"/>
              </a:rPr>
              <a:t>2 to 8 weeks</a:t>
            </a:r>
          </a:p>
          <a:p>
            <a:pPr>
              <a:spcAft>
                <a:spcPts val="0"/>
              </a:spcAft>
            </a:pPr>
            <a:r>
              <a:rPr sz="1300" b="0">
                <a:solidFill>
                  <a:srgbClr val="6F6D66"/>
                </a:solidFill>
                <a:latin typeface="Helvetica Neue"/>
              </a:rPr>
              <a:t>after dry, dusty harmattan air</a:t>
            </a:r>
          </a:p>
        </p:txBody>
      </p:sp>
      <p:sp>
        <p:nvSpPr>
          <p:cNvPr id="7" name="Rectangle 6"/>
          <p:cNvSpPr/>
          <p:nvPr/>
        </p:nvSpPr>
        <p:spPr>
          <a:xfrm>
            <a:off x="777240" y="539496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577840"/>
            <a:ext cx="10637215" cy="548640"/>
          </a:xfrm>
          <a:prstGeom prst="rect">
            <a:avLst/>
          </a:prstGeom>
          <a:noFill/>
        </p:spPr>
        <p:txBody>
          <a:bodyPr wrap="square">
            <a:spAutoFit/>
          </a:bodyPr>
          <a:lstStyle/>
          <a:p>
            <a:pPr algn="l">
              <a:spcAft>
                <a:spcPts val="0"/>
              </a:spcAft>
            </a:pPr>
            <a:r>
              <a:rPr sz="1500" b="0">
                <a:solidFill>
                  <a:srgbClr val="1A1D1B"/>
                </a:solidFill>
                <a:latin typeface="Helvetica Neue"/>
              </a:rPr>
              <a:t>Today Ghana reacts when the cases appear. The information to act earlier already exists.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OUR SOLUTION</a:t>
            </a:r>
          </a:p>
        </p:txBody>
      </p:sp>
      <p:sp>
        <p:nvSpPr>
          <p:cNvPr id="3" name="TextBox 2"/>
          <p:cNvSpPr txBox="1"/>
          <p:nvPr/>
        </p:nvSpPr>
        <p:spPr>
          <a:xfrm>
            <a:off x="777240" y="1005840"/>
            <a:ext cx="10607040" cy="1371600"/>
          </a:xfrm>
          <a:prstGeom prst="rect">
            <a:avLst/>
          </a:prstGeom>
          <a:noFill/>
        </p:spPr>
        <p:txBody>
          <a:bodyPr wrap="square">
            <a:spAutoFit/>
          </a:bodyPr>
          <a:lstStyle/>
          <a:p>
            <a:pPr algn="l">
              <a:spcAft>
                <a:spcPts val="600"/>
              </a:spcAft>
            </a:pPr>
            <a:r>
              <a:rPr sz="3400" b="0">
                <a:solidFill>
                  <a:srgbClr val="1A1D1B"/>
                </a:solidFill>
                <a:latin typeface="Georgia"/>
              </a:rPr>
              <a:t>ClimaHealth Predict</a:t>
            </a:r>
          </a:p>
          <a:p>
            <a:pPr>
              <a:lnSpc>
                <a:spcPct val="140000"/>
              </a:lnSpc>
              <a:spcAft>
                <a:spcPts val="0"/>
              </a:spcAft>
            </a:pPr>
            <a:r>
              <a:rPr sz="1700" b="0">
                <a:solidFill>
                  <a:srgbClr val="6F6D66"/>
                </a:solidFill>
                <a:latin typeface="Helvetica Neue"/>
              </a:rPr>
              <a:t>Reads a district's climate today, and says which health risks are rising, why, how long before cases appear, and who is most affected.</a:t>
            </a:r>
          </a:p>
        </p:txBody>
      </p:sp>
      <p:sp>
        <p:nvSpPr>
          <p:cNvPr id="4" name="TextBox 3"/>
          <p:cNvSpPr txBox="1"/>
          <p:nvPr/>
        </p:nvSpPr>
        <p:spPr>
          <a:xfrm>
            <a:off x="777240" y="2834640"/>
            <a:ext cx="3291840" cy="2377440"/>
          </a:xfrm>
          <a:prstGeom prst="rect">
            <a:avLst/>
          </a:prstGeom>
          <a:noFill/>
        </p:spPr>
        <p:txBody>
          <a:bodyPr wrap="square">
            <a:spAutoFit/>
          </a:bodyPr>
          <a:lstStyle/>
          <a:p>
            <a:pPr algn="l">
              <a:spcAft>
                <a:spcPts val="600"/>
              </a:spcAft>
            </a:pPr>
            <a:r>
              <a:rPr sz="1100" b="1" spc="160">
                <a:solidFill>
                  <a:srgbClr val="6F6D66"/>
                </a:solidFill>
                <a:latin typeface="Helvetica Neue"/>
              </a:rPr>
              <a:t>FOR THE PUBLIC</a:t>
            </a:r>
          </a:p>
          <a:p>
            <a:pPr>
              <a:spcAft>
                <a:spcPts val="800"/>
              </a:spcAft>
            </a:pPr>
            <a:r>
              <a:rPr sz="2200" b="0">
                <a:solidFill>
                  <a:srgbClr val="0E6E63"/>
                </a:solidFill>
                <a:latin typeface="Georgia"/>
              </a:rPr>
              <a:t>Dawuro</a:t>
            </a:r>
          </a:p>
          <a:p>
            <a:pPr>
              <a:lnSpc>
                <a:spcPct val="145000"/>
              </a:lnSpc>
              <a:spcAft>
                <a:spcPts val="0"/>
              </a:spcAft>
            </a:pPr>
            <a:r>
              <a:rPr sz="1400" b="0">
                <a:solidFill>
                  <a:srgbClr val="6F6D66"/>
                </a:solidFill>
                <a:latin typeface="Helvetica Neue"/>
              </a:rPr>
              <a:t>Daily forecast and weather, a hazard you can report with a photo, and a daily lesson that pays in NHIS cover.</a:t>
            </a:r>
          </a:p>
        </p:txBody>
      </p:sp>
      <p:sp>
        <p:nvSpPr>
          <p:cNvPr id="5" name="TextBox 4"/>
          <p:cNvSpPr txBox="1"/>
          <p:nvPr/>
        </p:nvSpPr>
        <p:spPr>
          <a:xfrm>
            <a:off x="4343400" y="2834640"/>
            <a:ext cx="3291840" cy="2377440"/>
          </a:xfrm>
          <a:prstGeom prst="rect">
            <a:avLst/>
          </a:prstGeom>
          <a:noFill/>
        </p:spPr>
        <p:txBody>
          <a:bodyPr wrap="square">
            <a:spAutoFit/>
          </a:bodyPr>
          <a:lstStyle/>
          <a:p>
            <a:pPr algn="l">
              <a:spcAft>
                <a:spcPts val="600"/>
              </a:spcAft>
            </a:pPr>
            <a:r>
              <a:rPr sz="1100" b="1" spc="160">
                <a:solidFill>
                  <a:srgbClr val="6F6D66"/>
                </a:solidFill>
                <a:latin typeface="Helvetica Neue"/>
              </a:rPr>
              <a:t>FOR THE AGENCIES</a:t>
            </a:r>
          </a:p>
          <a:p>
            <a:pPr>
              <a:spcAft>
                <a:spcPts val="800"/>
              </a:spcAft>
            </a:pPr>
            <a:r>
              <a:rPr sz="2200" b="0">
                <a:solidFill>
                  <a:srgbClr val="0E6E63"/>
                </a:solidFill>
                <a:latin typeface="Georgia"/>
              </a:rPr>
              <a:t>Command Platform</a:t>
            </a:r>
          </a:p>
          <a:p>
            <a:pPr>
              <a:lnSpc>
                <a:spcPct val="145000"/>
              </a:lnSpc>
              <a:spcAft>
                <a:spcPts val="0"/>
              </a:spcAft>
            </a:pPr>
            <a:r>
              <a:rPr sz="1400" b="0">
                <a:solidFill>
                  <a:srgbClr val="6F6D66"/>
                </a:solidFill>
                <a:latin typeface="Helvetica Neue"/>
              </a:rPr>
              <a:t>260 districts ranked and explained, alerts, an incident room, readiness, and a view per agency mandate.</a:t>
            </a:r>
          </a:p>
        </p:txBody>
      </p:sp>
      <p:sp>
        <p:nvSpPr>
          <p:cNvPr id="6" name="TextBox 5"/>
          <p:cNvSpPr txBox="1"/>
          <p:nvPr/>
        </p:nvSpPr>
        <p:spPr>
          <a:xfrm>
            <a:off x="7909560" y="2834640"/>
            <a:ext cx="3291840" cy="2377440"/>
          </a:xfrm>
          <a:prstGeom prst="rect">
            <a:avLst/>
          </a:prstGeom>
          <a:noFill/>
        </p:spPr>
        <p:txBody>
          <a:bodyPr wrap="square">
            <a:spAutoFit/>
          </a:bodyPr>
          <a:lstStyle/>
          <a:p>
            <a:pPr algn="l">
              <a:spcAft>
                <a:spcPts val="600"/>
              </a:spcAft>
            </a:pPr>
            <a:r>
              <a:rPr sz="1100" b="1" spc="160">
                <a:solidFill>
                  <a:srgbClr val="6F6D66"/>
                </a:solidFill>
                <a:latin typeface="Helvetica Neue"/>
              </a:rPr>
              <a:t>FOR EVERYONE ELSE</a:t>
            </a:r>
          </a:p>
          <a:p>
            <a:pPr>
              <a:spcAft>
                <a:spcPts val="800"/>
              </a:spcAft>
            </a:pPr>
            <a:r>
              <a:rPr sz="2200" b="0">
                <a:solidFill>
                  <a:srgbClr val="0E6E63"/>
                </a:solidFill>
                <a:latin typeface="Georgia"/>
              </a:rPr>
              <a:t>USSD and SMS</a:t>
            </a:r>
          </a:p>
          <a:p>
            <a:pPr>
              <a:lnSpc>
                <a:spcPct val="145000"/>
              </a:lnSpc>
              <a:spcAft>
                <a:spcPts val="0"/>
              </a:spcAft>
            </a:pPr>
            <a:r>
              <a:rPr sz="1400" b="0">
                <a:solidFill>
                  <a:srgbClr val="6F6D66"/>
                </a:solidFill>
                <a:latin typeface="Helvetica Neue"/>
              </a:rPr>
              <a:t>The same warning on any feature phone, with no data and no app, because a smartphone is not a requirement.</a:t>
            </a:r>
          </a:p>
        </p:txBody>
      </p:sp>
      <p:sp>
        <p:nvSpPr>
          <p:cNvPr id="7" name="Rectangle 6"/>
          <p:cNvSpPr/>
          <p:nvPr/>
        </p:nvSpPr>
        <p:spPr>
          <a:xfrm>
            <a:off x="777240" y="548640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669280"/>
            <a:ext cx="10637215" cy="548640"/>
          </a:xfrm>
          <a:prstGeom prst="rect">
            <a:avLst/>
          </a:prstGeom>
          <a:noFill/>
        </p:spPr>
        <p:txBody>
          <a:bodyPr wrap="square">
            <a:spAutoFit/>
          </a:bodyPr>
          <a:lstStyle/>
          <a:p>
            <a:pPr algn="l">
              <a:spcAft>
                <a:spcPts val="0"/>
              </a:spcAft>
            </a:pPr>
            <a:r>
              <a:rPr sz="1500" b="0">
                <a:solidFill>
                  <a:srgbClr val="1A1D1B"/>
                </a:solidFill>
                <a:latin typeface="Helvetica Neue"/>
              </a:rPr>
              <a:t>One engine behind all three. The prediction is computed once and reaches people by whatever door they can open.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WHY ANYBODY ACTS</a:t>
            </a:r>
          </a:p>
        </p:txBody>
      </p:sp>
      <p:sp>
        <p:nvSpPr>
          <p:cNvPr id="3" name="TextBox 2"/>
          <p:cNvSpPr txBox="1"/>
          <p:nvPr/>
        </p:nvSpPr>
        <p:spPr>
          <a:xfrm>
            <a:off x="777240" y="914400"/>
            <a:ext cx="10607040" cy="914400"/>
          </a:xfrm>
          <a:prstGeom prst="rect">
            <a:avLst/>
          </a:prstGeom>
          <a:noFill/>
        </p:spPr>
        <p:txBody>
          <a:bodyPr wrap="square">
            <a:spAutoFit/>
          </a:bodyPr>
          <a:lstStyle/>
          <a:p>
            <a:pPr algn="l">
              <a:spcAft>
                <a:spcPts val="800"/>
              </a:spcAft>
            </a:pPr>
            <a:r>
              <a:rPr sz="3200" b="0">
                <a:solidFill>
                  <a:srgbClr val="1A1D1B"/>
                </a:solidFill>
                <a:latin typeface="Georgia"/>
              </a:rPr>
              <a:t>Nobody changes their day for a weather forecast.</a:t>
            </a:r>
          </a:p>
          <a:p>
            <a:pPr>
              <a:lnSpc>
                <a:spcPct val="140000"/>
              </a:lnSpc>
              <a:spcAft>
                <a:spcPts val="0"/>
              </a:spcAft>
            </a:pPr>
            <a:r>
              <a:rPr sz="1600" b="0">
                <a:solidFill>
                  <a:srgbClr val="6F6D66"/>
                </a:solidFill>
                <a:latin typeface="Helvetica Neue"/>
              </a:rPr>
              <a:t>Ghana already has weather warnings. People read them and carry on, because rain is not news and a forecast asks nothing of you.</a:t>
            </a:r>
          </a:p>
        </p:txBody>
      </p:sp>
      <p:sp>
        <p:nvSpPr>
          <p:cNvPr id="4" name="TextBox 3"/>
          <p:cNvSpPr txBox="1"/>
          <p:nvPr/>
        </p:nvSpPr>
        <p:spPr>
          <a:xfrm>
            <a:off x="777240" y="2331720"/>
            <a:ext cx="4937760" cy="2926080"/>
          </a:xfrm>
          <a:prstGeom prst="rect">
            <a:avLst/>
          </a:prstGeom>
          <a:noFill/>
        </p:spPr>
        <p:txBody>
          <a:bodyPr wrap="square">
            <a:spAutoFit/>
          </a:bodyPr>
          <a:lstStyle/>
          <a:p>
            <a:pPr algn="l">
              <a:spcAft>
                <a:spcPts val="1200"/>
              </a:spcAft>
            </a:pPr>
            <a:r>
              <a:rPr sz="1100" b="1" spc="160">
                <a:solidFill>
                  <a:srgbClr val="6F6D66"/>
                </a:solidFill>
                <a:latin typeface="Helvetica Neue"/>
              </a:rPr>
              <a:t>WHAT A WEATHER SERVICE SAYS</a:t>
            </a:r>
          </a:p>
          <a:p>
            <a:pPr>
              <a:lnSpc>
                <a:spcPct val="120000"/>
              </a:lnSpc>
              <a:spcAft>
                <a:spcPts val="1400"/>
              </a:spcAft>
            </a:pPr>
            <a:r>
              <a:rPr sz="2200" b="0">
                <a:solidFill>
                  <a:srgbClr val="6F6D66"/>
                </a:solidFill>
                <a:latin typeface="Georgia"/>
              </a:rPr>
              <a:t>“Heavy rain expected Thursday.”</a:t>
            </a:r>
          </a:p>
          <a:p>
            <a:pPr>
              <a:lnSpc>
                <a:spcPct val="135000"/>
              </a:lnSpc>
              <a:spcAft>
                <a:spcPts val="400"/>
              </a:spcAft>
            </a:pPr>
            <a:r>
              <a:rPr sz="1400" b="0">
                <a:solidFill>
                  <a:srgbClr val="6F6D66"/>
                </a:solidFill>
                <a:latin typeface="Helvetica Neue"/>
              </a:rPr>
              <a:t>Severity: it rains every year.</a:t>
            </a:r>
          </a:p>
          <a:p>
            <a:pPr>
              <a:lnSpc>
                <a:spcPct val="135000"/>
              </a:lnSpc>
              <a:spcAft>
                <a:spcPts val="400"/>
              </a:spcAft>
            </a:pPr>
            <a:r>
              <a:rPr sz="1400" b="0">
                <a:solidFill>
                  <a:srgbClr val="6F6D66"/>
                </a:solidFill>
                <a:latin typeface="Helvetica Neue"/>
              </a:rPr>
              <a:t>Is it about me: not obviously.</a:t>
            </a:r>
          </a:p>
          <a:p>
            <a:pPr>
              <a:lnSpc>
                <a:spcPct val="135000"/>
              </a:lnSpc>
              <a:spcAft>
                <a:spcPts val="1200"/>
              </a:spcAft>
            </a:pPr>
            <a:r>
              <a:rPr sz="1400" b="0">
                <a:solidFill>
                  <a:srgbClr val="6F6D66"/>
                </a:solidFill>
                <a:latin typeface="Helvetica Neue"/>
              </a:rPr>
              <a:t>What do I do: nothing is asked.</a:t>
            </a:r>
          </a:p>
          <a:p>
            <a:pPr>
              <a:spcAft>
                <a:spcPts val="0"/>
              </a:spcAft>
            </a:pPr>
            <a:r>
              <a:rPr sz="1500" b="1">
                <a:solidFill>
                  <a:srgbClr val="6F6D66"/>
                </a:solidFill>
                <a:latin typeface="Helvetica Neue"/>
              </a:rPr>
              <a:t>Result: nothing changes.</a:t>
            </a:r>
          </a:p>
        </p:txBody>
      </p:sp>
      <p:sp>
        <p:nvSpPr>
          <p:cNvPr id="5" name="TextBox 4"/>
          <p:cNvSpPr txBox="1"/>
          <p:nvPr/>
        </p:nvSpPr>
        <p:spPr>
          <a:xfrm>
            <a:off x="6309360" y="2331720"/>
            <a:ext cx="5120640" cy="2926080"/>
          </a:xfrm>
          <a:prstGeom prst="rect">
            <a:avLst/>
          </a:prstGeom>
          <a:noFill/>
        </p:spPr>
        <p:txBody>
          <a:bodyPr wrap="square">
            <a:spAutoFit/>
          </a:bodyPr>
          <a:lstStyle/>
          <a:p>
            <a:pPr algn="l">
              <a:spcAft>
                <a:spcPts val="1200"/>
              </a:spcAft>
            </a:pPr>
            <a:r>
              <a:rPr sz="1100" b="1" spc="160">
                <a:solidFill>
                  <a:srgbClr val="0E6E63"/>
                </a:solidFill>
                <a:latin typeface="Helvetica Neue"/>
              </a:rPr>
              <a:t>WHAT CLIMAHEALTH SAYS</a:t>
            </a:r>
          </a:p>
          <a:p>
            <a:pPr>
              <a:lnSpc>
                <a:spcPct val="125000"/>
              </a:lnSpc>
              <a:spcAft>
                <a:spcPts val="1400"/>
              </a:spcAft>
            </a:pPr>
            <a:r>
              <a:rPr sz="1800" b="0">
                <a:solidFill>
                  <a:srgbClr val="1A1D1B"/>
                </a:solidFill>
                <a:latin typeface="Georgia"/>
              </a:rPr>
              <a:t>“Malaria risk is rising here. Cases in 2 to 6 weeks. Children under five and pregnant women are most at risk. Empty standing water tonight.”</a:t>
            </a:r>
          </a:p>
          <a:p>
            <a:pPr>
              <a:lnSpc>
                <a:spcPct val="135000"/>
              </a:lnSpc>
              <a:spcAft>
                <a:spcPts val="400"/>
              </a:spcAft>
            </a:pPr>
            <a:r>
              <a:rPr sz="1400" b="0">
                <a:solidFill>
                  <a:srgbClr val="1A1D1B"/>
                </a:solidFill>
                <a:latin typeface="Helvetica Neue"/>
              </a:rPr>
              <a:t>Severity: a named disease.</a:t>
            </a:r>
          </a:p>
          <a:p>
            <a:pPr>
              <a:lnSpc>
                <a:spcPct val="135000"/>
              </a:lnSpc>
              <a:spcAft>
                <a:spcPts val="400"/>
              </a:spcAft>
            </a:pPr>
            <a:r>
              <a:rPr sz="1400" b="0">
                <a:solidFill>
                  <a:srgbClr val="1A1D1B"/>
                </a:solidFill>
                <a:latin typeface="Helvetica Neue"/>
              </a:rPr>
              <a:t>Is it about me: my district, my children.</a:t>
            </a:r>
          </a:p>
          <a:p>
            <a:pPr>
              <a:lnSpc>
                <a:spcPct val="135000"/>
              </a:lnSpc>
              <a:spcAft>
                <a:spcPts val="1200"/>
              </a:spcAft>
            </a:pPr>
            <a:r>
              <a:rPr sz="1400" b="0">
                <a:solidFill>
                  <a:srgbClr val="1A1D1B"/>
                </a:solidFill>
                <a:latin typeface="Helvetica Neue"/>
              </a:rPr>
              <a:t>What do I do: one thing, tonight, free.</a:t>
            </a:r>
          </a:p>
          <a:p>
            <a:pPr>
              <a:spcAft>
                <a:spcPts val="0"/>
              </a:spcAft>
            </a:pPr>
            <a:r>
              <a:rPr sz="1500" b="1">
                <a:solidFill>
                  <a:srgbClr val="0E6E63"/>
                </a:solidFill>
                <a:latin typeface="Helvetica Neue"/>
              </a:rPr>
              <a:t>Result: something to actually do.</a:t>
            </a:r>
          </a:p>
        </p:txBody>
      </p:sp>
      <p:sp>
        <p:nvSpPr>
          <p:cNvPr id="6" name="Rectangle 5"/>
          <p:cNvSpPr/>
          <p:nvPr/>
        </p:nvSpPr>
        <p:spPr>
          <a:xfrm>
            <a:off x="777240" y="548640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669280"/>
            <a:ext cx="10637215" cy="914400"/>
          </a:xfrm>
          <a:prstGeom prst="rect">
            <a:avLst/>
          </a:prstGeom>
          <a:noFill/>
        </p:spPr>
        <p:txBody>
          <a:bodyPr wrap="square">
            <a:spAutoFit/>
          </a:bodyPr>
          <a:lstStyle/>
          <a:p>
            <a:pPr algn="l">
              <a:spcAft>
                <a:spcPts val="600"/>
              </a:spcAft>
            </a:pPr>
            <a:r>
              <a:rPr sz="1700" b="1">
                <a:solidFill>
                  <a:srgbClr val="1A1D1B"/>
                </a:solidFill>
                <a:latin typeface="Helvetica Neue"/>
              </a:rPr>
              <a:t>We do not warn people about the weather. We warn them about what it is about to do to their children, and give them one thing to do about it.</a:t>
            </a:r>
          </a:p>
          <a:p>
            <a:pPr>
              <a:lnSpc>
                <a:spcPct val="135000"/>
              </a:lnSpc>
              <a:spcAft>
                <a:spcPts val="0"/>
              </a:spcAft>
            </a:pPr>
            <a:r>
              <a:rPr sz="1200" b="0">
                <a:solidFill>
                  <a:srgbClr val="A8A59E"/>
                </a:solidFill>
                <a:latin typeface="Helvetica Neue"/>
              </a:rPr>
              <a:t>Protection Motivation Theory: action requires severity, personal vulnerability, and a response the person believes they can carry out. Fear on its own produces avoidance, not protection, which is why every warning here ends in an 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HOW IT DECIDES</a:t>
            </a:r>
          </a:p>
        </p:txBody>
      </p:sp>
      <p:sp>
        <p:nvSpPr>
          <p:cNvPr id="3" name="TextBox 2"/>
          <p:cNvSpPr txBox="1"/>
          <p:nvPr/>
        </p:nvSpPr>
        <p:spPr>
          <a:xfrm>
            <a:off x="777240" y="1051560"/>
            <a:ext cx="10607040" cy="1280160"/>
          </a:xfrm>
          <a:prstGeom prst="rect">
            <a:avLst/>
          </a:prstGeom>
          <a:noFill/>
        </p:spPr>
        <p:txBody>
          <a:bodyPr wrap="square">
            <a:spAutoFit/>
          </a:bodyPr>
          <a:lstStyle/>
          <a:p>
            <a:pPr algn="l">
              <a:spcAft>
                <a:spcPts val="1000"/>
              </a:spcAft>
            </a:pPr>
            <a:r>
              <a:rPr sz="3400" b="0">
                <a:solidFill>
                  <a:srgbClr val="1A1D1B"/>
                </a:solidFill>
                <a:latin typeface="Georgia"/>
              </a:rPr>
              <a:t>The brain is a rules engine, not a guess.</a:t>
            </a:r>
          </a:p>
          <a:p>
            <a:pPr>
              <a:lnSpc>
                <a:spcPct val="145000"/>
              </a:lnSpc>
              <a:spcAft>
                <a:spcPts val="0"/>
              </a:spcAft>
            </a:pPr>
            <a:r>
              <a:rPr sz="1600" b="0">
                <a:solidFill>
                  <a:srgbClr val="6F6D66"/>
                </a:solidFill>
                <a:latin typeface="Helvetica Neue"/>
              </a:rPr>
              <a:t>Published epidemiological thresholds, evaluated the same way every time. Same inputs, same output. Every warning can name the conditions that caused it.</a:t>
            </a:r>
          </a:p>
        </p:txBody>
      </p:sp>
      <p:sp>
        <p:nvSpPr>
          <p:cNvPr id="4" name="TextBox 3"/>
          <p:cNvSpPr txBox="1"/>
          <p:nvPr/>
        </p:nvSpPr>
        <p:spPr>
          <a:xfrm>
            <a:off x="777240" y="2880360"/>
            <a:ext cx="2606040" cy="1371600"/>
          </a:xfrm>
          <a:prstGeom prst="rect">
            <a:avLst/>
          </a:prstGeom>
          <a:noFill/>
        </p:spPr>
        <p:txBody>
          <a:bodyPr wrap="square">
            <a:spAutoFit/>
          </a:bodyPr>
          <a:lstStyle/>
          <a:p>
            <a:pPr algn="l">
              <a:spcAft>
                <a:spcPts val="600"/>
              </a:spcAft>
            </a:pPr>
            <a:r>
              <a:rPr sz="1300" b="1">
                <a:solidFill>
                  <a:srgbClr val="0E6E63"/>
                </a:solidFill>
                <a:latin typeface="Georgia"/>
              </a:rPr>
              <a:t>01</a:t>
            </a:r>
          </a:p>
          <a:p>
            <a:pPr>
              <a:spcAft>
                <a:spcPts val="400"/>
              </a:spcAft>
            </a:pPr>
            <a:r>
              <a:rPr sz="1700" b="1">
                <a:solidFill>
                  <a:srgbClr val="1A1D1B"/>
                </a:solidFill>
                <a:latin typeface="Helvetica Neue"/>
              </a:rPr>
              <a:t>Open-Meteo</a:t>
            </a:r>
          </a:p>
          <a:p>
            <a:pPr>
              <a:lnSpc>
                <a:spcPct val="135000"/>
              </a:lnSpc>
              <a:spcAft>
                <a:spcPts val="0"/>
              </a:spcAft>
            </a:pPr>
            <a:r>
              <a:rPr sz="1300" b="0">
                <a:solidFill>
                  <a:srgbClr val="6F6D66"/>
                </a:solidFill>
                <a:latin typeface="Helvetica Neue"/>
              </a:rPr>
              <a:t>live climate for all 260 districts</a:t>
            </a:r>
          </a:p>
        </p:txBody>
      </p:sp>
      <p:sp>
        <p:nvSpPr>
          <p:cNvPr id="5" name="TextBox 4"/>
          <p:cNvSpPr txBox="1"/>
          <p:nvPr/>
        </p:nvSpPr>
        <p:spPr>
          <a:xfrm>
            <a:off x="3383280" y="2926080"/>
            <a:ext cx="365760" cy="365760"/>
          </a:xfrm>
          <a:prstGeom prst="rect">
            <a:avLst/>
          </a:prstGeom>
          <a:noFill/>
        </p:spPr>
        <p:txBody>
          <a:bodyPr wrap="square">
            <a:spAutoFit/>
          </a:bodyPr>
          <a:lstStyle/>
          <a:p>
            <a:pPr algn="l">
              <a:spcAft>
                <a:spcPts val="0"/>
              </a:spcAft>
            </a:pPr>
            <a:r>
              <a:rPr sz="1600" b="0">
                <a:solidFill>
                  <a:srgbClr val="A8A59E"/>
                </a:solidFill>
                <a:latin typeface="Helvetica Neue"/>
              </a:rPr>
              <a:t>→</a:t>
            </a:r>
          </a:p>
        </p:txBody>
      </p:sp>
      <p:sp>
        <p:nvSpPr>
          <p:cNvPr id="6" name="TextBox 5"/>
          <p:cNvSpPr txBox="1"/>
          <p:nvPr/>
        </p:nvSpPr>
        <p:spPr>
          <a:xfrm>
            <a:off x="3566160" y="2880360"/>
            <a:ext cx="2606040" cy="1371600"/>
          </a:xfrm>
          <a:prstGeom prst="rect">
            <a:avLst/>
          </a:prstGeom>
          <a:noFill/>
        </p:spPr>
        <p:txBody>
          <a:bodyPr wrap="square">
            <a:spAutoFit/>
          </a:bodyPr>
          <a:lstStyle/>
          <a:p>
            <a:pPr algn="l">
              <a:spcAft>
                <a:spcPts val="600"/>
              </a:spcAft>
            </a:pPr>
            <a:r>
              <a:rPr sz="1300" b="1">
                <a:solidFill>
                  <a:srgbClr val="0E6E63"/>
                </a:solidFill>
                <a:latin typeface="Georgia"/>
              </a:rPr>
              <a:t>02</a:t>
            </a:r>
          </a:p>
          <a:p>
            <a:pPr>
              <a:spcAft>
                <a:spcPts val="400"/>
              </a:spcAft>
            </a:pPr>
            <a:r>
              <a:rPr sz="1700" b="1">
                <a:solidFill>
                  <a:srgbClr val="1A1D1B"/>
                </a:solidFill>
                <a:latin typeface="Helvetica Neue"/>
              </a:rPr>
              <a:t>Features</a:t>
            </a:r>
          </a:p>
          <a:p>
            <a:pPr>
              <a:lnSpc>
                <a:spcPct val="135000"/>
              </a:lnSpc>
              <a:spcAft>
                <a:spcPts val="0"/>
              </a:spcAft>
            </a:pPr>
            <a:r>
              <a:rPr sz="1300" b="0">
                <a:solidFill>
                  <a:srgbClr val="6F6D66"/>
                </a:solidFill>
                <a:latin typeface="Helvetica Neue"/>
              </a:rPr>
              <a:t>7-day rain, humidity, heat, dust</a:t>
            </a:r>
          </a:p>
        </p:txBody>
      </p:sp>
      <p:sp>
        <p:nvSpPr>
          <p:cNvPr id="7" name="TextBox 6"/>
          <p:cNvSpPr txBox="1"/>
          <p:nvPr/>
        </p:nvSpPr>
        <p:spPr>
          <a:xfrm>
            <a:off x="6172200" y="2926080"/>
            <a:ext cx="365760" cy="365760"/>
          </a:xfrm>
          <a:prstGeom prst="rect">
            <a:avLst/>
          </a:prstGeom>
          <a:noFill/>
        </p:spPr>
        <p:txBody>
          <a:bodyPr wrap="square">
            <a:spAutoFit/>
          </a:bodyPr>
          <a:lstStyle/>
          <a:p>
            <a:pPr algn="l">
              <a:spcAft>
                <a:spcPts val="0"/>
              </a:spcAft>
            </a:pPr>
            <a:r>
              <a:rPr sz="1600" b="0">
                <a:solidFill>
                  <a:srgbClr val="A8A59E"/>
                </a:solidFill>
                <a:latin typeface="Helvetica Neue"/>
              </a:rPr>
              <a:t>→</a:t>
            </a:r>
          </a:p>
        </p:txBody>
      </p:sp>
      <p:sp>
        <p:nvSpPr>
          <p:cNvPr id="8" name="TextBox 7"/>
          <p:cNvSpPr txBox="1"/>
          <p:nvPr/>
        </p:nvSpPr>
        <p:spPr>
          <a:xfrm>
            <a:off x="6355080" y="2880360"/>
            <a:ext cx="2606040" cy="1371600"/>
          </a:xfrm>
          <a:prstGeom prst="rect">
            <a:avLst/>
          </a:prstGeom>
          <a:noFill/>
        </p:spPr>
        <p:txBody>
          <a:bodyPr wrap="square">
            <a:spAutoFit/>
          </a:bodyPr>
          <a:lstStyle/>
          <a:p>
            <a:pPr algn="l">
              <a:spcAft>
                <a:spcPts val="600"/>
              </a:spcAft>
            </a:pPr>
            <a:r>
              <a:rPr sz="1300" b="1">
                <a:solidFill>
                  <a:srgbClr val="0E6E63"/>
                </a:solidFill>
                <a:latin typeface="Georgia"/>
              </a:rPr>
              <a:t>03</a:t>
            </a:r>
          </a:p>
          <a:p>
            <a:pPr>
              <a:spcAft>
                <a:spcPts val="400"/>
              </a:spcAft>
            </a:pPr>
            <a:r>
              <a:rPr sz="1700" b="1">
                <a:solidFill>
                  <a:srgbClr val="1A1D1B"/>
                </a:solidFill>
                <a:latin typeface="Helvetica Neue"/>
              </a:rPr>
              <a:t>Pathways</a:t>
            </a:r>
          </a:p>
          <a:p>
            <a:pPr>
              <a:lnSpc>
                <a:spcPct val="135000"/>
              </a:lnSpc>
              <a:spcAft>
                <a:spcPts val="0"/>
              </a:spcAft>
            </a:pPr>
            <a:r>
              <a:rPr sz="1300" b="0">
                <a:solidFill>
                  <a:srgbClr val="6F6D66"/>
                </a:solidFill>
                <a:latin typeface="Helvetica Neue"/>
              </a:rPr>
              <a:t>one per disease, weighted triggers</a:t>
            </a:r>
          </a:p>
        </p:txBody>
      </p:sp>
      <p:sp>
        <p:nvSpPr>
          <p:cNvPr id="9" name="TextBox 8"/>
          <p:cNvSpPr txBox="1"/>
          <p:nvPr/>
        </p:nvSpPr>
        <p:spPr>
          <a:xfrm>
            <a:off x="8961120" y="2926080"/>
            <a:ext cx="365760" cy="365760"/>
          </a:xfrm>
          <a:prstGeom prst="rect">
            <a:avLst/>
          </a:prstGeom>
          <a:noFill/>
        </p:spPr>
        <p:txBody>
          <a:bodyPr wrap="square">
            <a:spAutoFit/>
          </a:bodyPr>
          <a:lstStyle/>
          <a:p>
            <a:pPr algn="l">
              <a:spcAft>
                <a:spcPts val="0"/>
              </a:spcAft>
            </a:pPr>
            <a:r>
              <a:rPr sz="1600" b="0">
                <a:solidFill>
                  <a:srgbClr val="A8A59E"/>
                </a:solidFill>
                <a:latin typeface="Helvetica Neue"/>
              </a:rPr>
              <a:t>→</a:t>
            </a:r>
          </a:p>
        </p:txBody>
      </p:sp>
      <p:sp>
        <p:nvSpPr>
          <p:cNvPr id="10" name="TextBox 9"/>
          <p:cNvSpPr txBox="1"/>
          <p:nvPr/>
        </p:nvSpPr>
        <p:spPr>
          <a:xfrm>
            <a:off x="9144000" y="2880360"/>
            <a:ext cx="2606040" cy="1371600"/>
          </a:xfrm>
          <a:prstGeom prst="rect">
            <a:avLst/>
          </a:prstGeom>
          <a:noFill/>
        </p:spPr>
        <p:txBody>
          <a:bodyPr wrap="square">
            <a:spAutoFit/>
          </a:bodyPr>
          <a:lstStyle/>
          <a:p>
            <a:pPr algn="l">
              <a:spcAft>
                <a:spcPts val="600"/>
              </a:spcAft>
            </a:pPr>
            <a:r>
              <a:rPr sz="1300" b="1">
                <a:solidFill>
                  <a:srgbClr val="0E6E63"/>
                </a:solidFill>
                <a:latin typeface="Georgia"/>
              </a:rPr>
              <a:t>04</a:t>
            </a:r>
          </a:p>
          <a:p>
            <a:pPr>
              <a:spcAft>
                <a:spcPts val="400"/>
              </a:spcAft>
            </a:pPr>
            <a:r>
              <a:rPr sz="1700" b="1">
                <a:solidFill>
                  <a:srgbClr val="1A1D1B"/>
                </a:solidFill>
                <a:latin typeface="Helvetica Neue"/>
              </a:rPr>
              <a:t>Ranked risk</a:t>
            </a:r>
          </a:p>
          <a:p>
            <a:pPr>
              <a:lnSpc>
                <a:spcPct val="135000"/>
              </a:lnSpc>
              <a:spcAft>
                <a:spcPts val="0"/>
              </a:spcAft>
            </a:pPr>
            <a:r>
              <a:rPr sz="1300" b="0">
                <a:solidFill>
                  <a:srgbClr val="6F6D66"/>
                </a:solidFill>
                <a:latin typeface="Helvetica Neue"/>
              </a:rPr>
              <a:t>level, score, lag window, reasons</a:t>
            </a:r>
          </a:p>
        </p:txBody>
      </p:sp>
      <p:sp>
        <p:nvSpPr>
          <p:cNvPr id="11" name="Rectangle 10"/>
          <p:cNvSpPr/>
          <p:nvPr/>
        </p:nvSpPr>
        <p:spPr>
          <a:xfrm>
            <a:off x="777240" y="470916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937760"/>
            <a:ext cx="10637215" cy="1280160"/>
          </a:xfrm>
          <a:prstGeom prst="rect">
            <a:avLst/>
          </a:prstGeom>
          <a:noFill/>
        </p:spPr>
        <p:txBody>
          <a:bodyPr wrap="square">
            <a:spAutoFit/>
          </a:bodyPr>
          <a:lstStyle/>
          <a:p>
            <a:pPr algn="l">
              <a:spcAft>
                <a:spcPts val="800"/>
              </a:spcAft>
            </a:pPr>
            <a:r>
              <a:rPr sz="1700" b="1">
                <a:solidFill>
                  <a:srgbClr val="1A1D1B"/>
                </a:solidFill>
                <a:latin typeface="Helvetica Neue"/>
              </a:rPr>
              <a:t>AI never decides risk. It only phrases what the engine already decided, in English or Twi.</a:t>
            </a:r>
          </a:p>
          <a:p>
            <a:pPr>
              <a:lnSpc>
                <a:spcPct val="145000"/>
              </a:lnSpc>
              <a:spcAft>
                <a:spcPts val="0"/>
              </a:spcAft>
            </a:pPr>
            <a:r>
              <a:rPr sz="1500" b="0">
                <a:solidFill>
                  <a:srgbClr val="6F6D66"/>
                </a:solidFill>
                <a:latin typeface="Helvetica Neue"/>
              </a:rPr>
              <a:t>This is what makes the system defensible to a health ministry: an officer can ask why a district was flagged and get the exact thresholds back, not a model's opinion.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THE NATIONAL PICTURE</a:t>
            </a:r>
          </a:p>
        </p:txBody>
      </p:sp>
      <p:sp>
        <p:nvSpPr>
          <p:cNvPr id="3" name="TextBox 2"/>
          <p:cNvSpPr txBox="1"/>
          <p:nvPr/>
        </p:nvSpPr>
        <p:spPr>
          <a:xfrm>
            <a:off x="777240" y="1005840"/>
            <a:ext cx="10607040" cy="914400"/>
          </a:xfrm>
          <a:prstGeom prst="rect">
            <a:avLst/>
          </a:prstGeom>
          <a:noFill/>
        </p:spPr>
        <p:txBody>
          <a:bodyPr wrap="square">
            <a:spAutoFit/>
          </a:bodyPr>
          <a:lstStyle/>
          <a:p>
            <a:pPr algn="l">
              <a:spcAft>
                <a:spcPts val="800"/>
              </a:spcAft>
            </a:pPr>
            <a:r>
              <a:rPr sz="3000" b="0">
                <a:solidFill>
                  <a:srgbClr val="1A1D1B"/>
                </a:solidFill>
                <a:latin typeface="Georgia"/>
              </a:rPr>
              <a:t>51 of 260 districts are at high risk or above, today.</a:t>
            </a:r>
          </a:p>
          <a:p>
            <a:pPr>
              <a:lnSpc>
                <a:spcPct val="140000"/>
              </a:lnSpc>
              <a:spcAft>
                <a:spcPts val="0"/>
              </a:spcAft>
            </a:pPr>
            <a:r>
              <a:rPr sz="1500" b="0">
                <a:solidFill>
                  <a:srgbClr val="6F6D66"/>
                </a:solidFill>
                <a:latin typeface="Helvetica Neue"/>
              </a:rPr>
              <a:t>Every district evaluated against every pathway, ranked, and explained. This is live output, not a mock.</a:t>
            </a:r>
          </a:p>
        </p:txBody>
      </p:sp>
      <p:pic>
        <p:nvPicPr>
          <p:cNvPr id="4" name="Picture 3" descr="w1-national.png"/>
          <p:cNvPicPr>
            <a:picLocks noChangeAspect="1"/>
          </p:cNvPicPr>
          <p:nvPr/>
        </p:nvPicPr>
        <p:blipFill>
          <a:blip r:embed="rId2"/>
          <a:stretch>
            <a:fillRect/>
          </a:stretch>
        </p:blipFill>
        <p:spPr>
          <a:xfrm>
            <a:off x="2767431" y="1965960"/>
            <a:ext cx="6656832" cy="4160520"/>
          </a:xfrm>
          <a:prstGeom prst="rect">
            <a:avLst/>
          </a:prstGeom>
        </p:spPr>
      </p:pic>
      <p:sp>
        <p:nvSpPr>
          <p:cNvPr id="5" name="Rectangle 4"/>
          <p:cNvSpPr/>
          <p:nvPr/>
        </p:nvSpPr>
        <p:spPr>
          <a:xfrm>
            <a:off x="2767431" y="1965960"/>
            <a:ext cx="6656832" cy="4160520"/>
          </a:xfrm>
          <a:prstGeom prst="rect">
            <a:avLst/>
          </a:prstGeom>
          <a:noFill/>
          <a:ln>
            <a:solidFill>
              <a:srgbClr val="E4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263640"/>
            <a:ext cx="10637215" cy="365760"/>
          </a:xfrm>
          <a:prstGeom prst="rect">
            <a:avLst/>
          </a:prstGeom>
          <a:noFill/>
        </p:spPr>
        <p:txBody>
          <a:bodyPr wrap="square">
            <a:spAutoFit/>
          </a:bodyPr>
          <a:lstStyle/>
          <a:p>
            <a:pPr algn="ctr">
              <a:spcAft>
                <a:spcPts val="0"/>
              </a:spcAft>
            </a:pPr>
            <a:r>
              <a:rPr sz="1200" b="0">
                <a:solidFill>
                  <a:srgbClr val="A8A59E"/>
                </a:solidFill>
                <a:latin typeface="Helvetica Neue"/>
              </a:rPr>
              <a:t>ClimaHealth Predict · Agency Command Platform · signed in as Ghana Health Service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ONE PLATFORM, FIVE MANDATES</a:t>
            </a:r>
          </a:p>
        </p:txBody>
      </p:sp>
      <p:sp>
        <p:nvSpPr>
          <p:cNvPr id="3" name="TextBox 2"/>
          <p:cNvSpPr txBox="1"/>
          <p:nvPr/>
        </p:nvSpPr>
        <p:spPr>
          <a:xfrm>
            <a:off x="777240" y="1005840"/>
            <a:ext cx="10607040" cy="914400"/>
          </a:xfrm>
          <a:prstGeom prst="rect">
            <a:avLst/>
          </a:prstGeom>
          <a:noFill/>
        </p:spPr>
        <p:txBody>
          <a:bodyPr wrap="square">
            <a:spAutoFit/>
          </a:bodyPr>
          <a:lstStyle/>
          <a:p>
            <a:pPr algn="l">
              <a:spcAft>
                <a:spcPts val="800"/>
              </a:spcAft>
            </a:pPr>
            <a:r>
              <a:rPr sz="3000" b="0">
                <a:solidFill>
                  <a:srgbClr val="1A1D1B"/>
                </a:solidFill>
                <a:latin typeface="Georgia"/>
              </a:rPr>
              <a:t>Each agency opens on the layer it is responsible for.</a:t>
            </a:r>
          </a:p>
          <a:p>
            <a:pPr>
              <a:lnSpc>
                <a:spcPct val="140000"/>
              </a:lnSpc>
              <a:spcAft>
                <a:spcPts val="0"/>
              </a:spcAft>
            </a:pPr>
            <a:r>
              <a:rPr sz="1500" b="0">
                <a:solidFill>
                  <a:srgbClr val="6F6D66"/>
                </a:solidFill>
                <a:latin typeface="Helvetica Neue"/>
              </a:rPr>
              <a:t>EPA lands on dust and PM10. NADMO on rainfall. GMet on humidity. GHS on health risk. Same engine, same districts, different question.</a:t>
            </a:r>
          </a:p>
        </p:txBody>
      </p:sp>
      <p:pic>
        <p:nvPicPr>
          <p:cNvPr id="4" name="Picture 3" descr="w3-epa.png"/>
          <p:cNvPicPr>
            <a:picLocks noChangeAspect="1"/>
          </p:cNvPicPr>
          <p:nvPr/>
        </p:nvPicPr>
        <p:blipFill>
          <a:blip r:embed="rId2"/>
          <a:stretch>
            <a:fillRect/>
          </a:stretch>
        </p:blipFill>
        <p:spPr>
          <a:xfrm>
            <a:off x="2767431" y="1965960"/>
            <a:ext cx="6656832" cy="4160520"/>
          </a:xfrm>
          <a:prstGeom prst="rect">
            <a:avLst/>
          </a:prstGeom>
        </p:spPr>
      </p:pic>
      <p:sp>
        <p:nvSpPr>
          <p:cNvPr id="5" name="Rectangle 4"/>
          <p:cNvSpPr/>
          <p:nvPr/>
        </p:nvSpPr>
        <p:spPr>
          <a:xfrm>
            <a:off x="2767431" y="1965960"/>
            <a:ext cx="6656832" cy="4160520"/>
          </a:xfrm>
          <a:prstGeom prst="rect">
            <a:avLst/>
          </a:prstGeom>
          <a:noFill/>
          <a:ln>
            <a:solidFill>
              <a:srgbClr val="E4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263640"/>
            <a:ext cx="10637215" cy="365760"/>
          </a:xfrm>
          <a:prstGeom prst="rect">
            <a:avLst/>
          </a:prstGeom>
          <a:noFill/>
        </p:spPr>
        <p:txBody>
          <a:bodyPr wrap="square">
            <a:spAutoFit/>
          </a:bodyPr>
          <a:lstStyle/>
          <a:p>
            <a:pPr algn="ctr">
              <a:spcAft>
                <a:spcPts val="0"/>
              </a:spcAft>
            </a:pPr>
            <a:r>
              <a:rPr sz="1200" b="0">
                <a:solidFill>
                  <a:srgbClr val="A8A59E"/>
                </a:solidFill>
                <a:latin typeface="Helvetica Neue"/>
              </a:rPr>
              <a:t>Signed in as Environmental Protection Agency · Dust &amp; PM10 layer active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INSTITUTIONAL INTEGRATION</a:t>
            </a:r>
          </a:p>
        </p:txBody>
      </p:sp>
      <p:sp>
        <p:nvSpPr>
          <p:cNvPr id="3" name="TextBox 2"/>
          <p:cNvSpPr txBox="1"/>
          <p:nvPr/>
        </p:nvSpPr>
        <p:spPr>
          <a:xfrm>
            <a:off x="777240" y="1005840"/>
            <a:ext cx="10607040" cy="914400"/>
          </a:xfrm>
          <a:prstGeom prst="rect">
            <a:avLst/>
          </a:prstGeom>
          <a:noFill/>
        </p:spPr>
        <p:txBody>
          <a:bodyPr wrap="square">
            <a:spAutoFit/>
          </a:bodyPr>
          <a:lstStyle/>
          <a:p>
            <a:pPr algn="l">
              <a:spcAft>
                <a:spcPts val="800"/>
              </a:spcAft>
            </a:pPr>
            <a:r>
              <a:rPr sz="3000" b="0">
                <a:solidFill>
                  <a:srgbClr val="1A1D1B"/>
                </a:solidFill>
                <a:latin typeface="Georgia"/>
              </a:rPr>
              <a:t>A report is a claim until somebody goes and looks.</a:t>
            </a:r>
          </a:p>
          <a:p>
            <a:pPr>
              <a:lnSpc>
                <a:spcPct val="140000"/>
              </a:lnSpc>
              <a:spcAft>
                <a:spcPts val="0"/>
              </a:spcAft>
            </a:pPr>
            <a:r>
              <a:rPr sz="1500" b="0">
                <a:solidFill>
                  <a:srgbClr val="6F6D66"/>
                </a:solidFill>
                <a:latin typeface="Helvetica Neue"/>
              </a:rPr>
              <a:t>Ɔhwɛfoɔ is an on-ground officer role in the platform. Validation and repair are different jobs held by different people, and neither can take the other's step.</a:t>
            </a:r>
          </a:p>
        </p:txBody>
      </p:sp>
      <p:sp>
        <p:nvSpPr>
          <p:cNvPr id="4" name="TextBox 3"/>
          <p:cNvSpPr txBox="1"/>
          <p:nvPr/>
        </p:nvSpPr>
        <p:spPr>
          <a:xfrm>
            <a:off x="777240" y="2651760"/>
            <a:ext cx="2651760" cy="1645920"/>
          </a:xfrm>
          <a:prstGeom prst="rect">
            <a:avLst/>
          </a:prstGeom>
          <a:noFill/>
        </p:spPr>
        <p:txBody>
          <a:bodyPr wrap="square">
            <a:spAutoFit/>
          </a:bodyPr>
          <a:lstStyle/>
          <a:p>
            <a:pPr algn="l">
              <a:spcAft>
                <a:spcPts val="600"/>
              </a:spcAft>
            </a:pPr>
            <a:r>
              <a:rPr sz="1300" b="1">
                <a:solidFill>
                  <a:srgbClr val="0E6E63"/>
                </a:solidFill>
                <a:latin typeface="Georgia"/>
              </a:rPr>
              <a:t>01</a:t>
            </a:r>
          </a:p>
          <a:p>
            <a:pPr>
              <a:spcAft>
                <a:spcPts val="400"/>
              </a:spcAft>
            </a:pPr>
            <a:r>
              <a:rPr sz="1700" b="1">
                <a:solidFill>
                  <a:srgbClr val="1A1D1B"/>
                </a:solidFill>
                <a:latin typeface="Helvetica Neue"/>
              </a:rPr>
              <a:t>Citizen reports</a:t>
            </a:r>
          </a:p>
          <a:p>
            <a:pPr>
              <a:lnSpc>
                <a:spcPct val="135000"/>
              </a:lnSpc>
              <a:spcAft>
                <a:spcPts val="600"/>
              </a:spcAft>
            </a:pPr>
            <a:r>
              <a:rPr sz="1300" b="0">
                <a:solidFill>
                  <a:srgbClr val="6F6D66"/>
                </a:solidFill>
                <a:latin typeface="Helvetica Neue"/>
              </a:rPr>
              <a:t>photo, location, note</a:t>
            </a:r>
          </a:p>
          <a:p>
            <a:pPr>
              <a:spcAft>
                <a:spcPts val="0"/>
              </a:spcAft>
            </a:pPr>
            <a:r>
              <a:rPr sz="1200" b="1">
                <a:solidFill>
                  <a:srgbClr val="0E6E63"/>
                </a:solidFill>
                <a:latin typeface="Helvetica Neue"/>
              </a:rPr>
              <a:t>Dawuro app</a:t>
            </a:r>
          </a:p>
        </p:txBody>
      </p:sp>
      <p:sp>
        <p:nvSpPr>
          <p:cNvPr id="5" name="TextBox 4"/>
          <p:cNvSpPr txBox="1"/>
          <p:nvPr/>
        </p:nvSpPr>
        <p:spPr>
          <a:xfrm>
            <a:off x="3566160" y="2651760"/>
            <a:ext cx="2651760" cy="1645920"/>
          </a:xfrm>
          <a:prstGeom prst="rect">
            <a:avLst/>
          </a:prstGeom>
          <a:noFill/>
        </p:spPr>
        <p:txBody>
          <a:bodyPr wrap="square">
            <a:spAutoFit/>
          </a:bodyPr>
          <a:lstStyle/>
          <a:p>
            <a:pPr algn="l">
              <a:spcAft>
                <a:spcPts val="600"/>
              </a:spcAft>
            </a:pPr>
            <a:r>
              <a:rPr sz="1300" b="1">
                <a:solidFill>
                  <a:srgbClr val="0E6E63"/>
                </a:solidFill>
                <a:latin typeface="Georgia"/>
              </a:rPr>
              <a:t>02</a:t>
            </a:r>
          </a:p>
          <a:p>
            <a:pPr>
              <a:spcAft>
                <a:spcPts val="400"/>
              </a:spcAft>
            </a:pPr>
            <a:r>
              <a:rPr sz="1700" b="1">
                <a:solidFill>
                  <a:srgbClr val="1A1D1B"/>
                </a:solidFill>
                <a:latin typeface="Helvetica Neue"/>
              </a:rPr>
              <a:t>Ɔhwɛfoɔ validates</a:t>
            </a:r>
          </a:p>
          <a:p>
            <a:pPr>
              <a:lnSpc>
                <a:spcPct val="135000"/>
              </a:lnSpc>
              <a:spcAft>
                <a:spcPts val="600"/>
              </a:spcAft>
            </a:pPr>
            <a:r>
              <a:rPr sz="1300" b="0">
                <a:solidFill>
                  <a:srgbClr val="6F6D66"/>
                </a:solidFill>
                <a:latin typeface="Helvetica Neue"/>
              </a:rPr>
              <a:t>goes to the site, confirms</a:t>
            </a:r>
          </a:p>
          <a:p>
            <a:pPr>
              <a:spcAft>
                <a:spcPts val="0"/>
              </a:spcAft>
            </a:pPr>
            <a:r>
              <a:rPr sz="1200" b="1">
                <a:solidFill>
                  <a:srgbClr val="0E6E63"/>
                </a:solidFill>
                <a:latin typeface="Helvetica Neue"/>
              </a:rPr>
              <a:t>25% → 50%</a:t>
            </a:r>
          </a:p>
        </p:txBody>
      </p:sp>
      <p:sp>
        <p:nvSpPr>
          <p:cNvPr id="6" name="TextBox 5"/>
          <p:cNvSpPr txBox="1"/>
          <p:nvPr/>
        </p:nvSpPr>
        <p:spPr>
          <a:xfrm>
            <a:off x="6355080" y="2651760"/>
            <a:ext cx="2651760" cy="1645920"/>
          </a:xfrm>
          <a:prstGeom prst="rect">
            <a:avLst/>
          </a:prstGeom>
          <a:noFill/>
        </p:spPr>
        <p:txBody>
          <a:bodyPr wrap="square">
            <a:spAutoFit/>
          </a:bodyPr>
          <a:lstStyle/>
          <a:p>
            <a:pPr algn="l">
              <a:spcAft>
                <a:spcPts val="600"/>
              </a:spcAft>
            </a:pPr>
            <a:r>
              <a:rPr sz="1300" b="1">
                <a:solidFill>
                  <a:srgbClr val="0E6E63"/>
                </a:solidFill>
                <a:latin typeface="Georgia"/>
              </a:rPr>
              <a:t>03</a:t>
            </a:r>
          </a:p>
          <a:p>
            <a:pPr>
              <a:spcAft>
                <a:spcPts val="400"/>
              </a:spcAft>
            </a:pPr>
            <a:r>
              <a:rPr sz="1700" b="1">
                <a:solidFill>
                  <a:srgbClr val="1A1D1B"/>
                </a:solidFill>
                <a:latin typeface="Helvetica Neue"/>
              </a:rPr>
              <a:t>Agency works</a:t>
            </a:r>
          </a:p>
          <a:p>
            <a:pPr>
              <a:lnSpc>
                <a:spcPct val="135000"/>
              </a:lnSpc>
              <a:spcAft>
                <a:spcPts val="600"/>
              </a:spcAft>
            </a:pPr>
            <a:r>
              <a:rPr sz="1300" b="0">
                <a:solidFill>
                  <a:srgbClr val="6F6D66"/>
                </a:solidFill>
                <a:latin typeface="Helvetica Neue"/>
              </a:rPr>
              <a:t>GHS, NADMO, EPA, Assembly</a:t>
            </a:r>
          </a:p>
          <a:p>
            <a:pPr>
              <a:spcAft>
                <a:spcPts val="0"/>
              </a:spcAft>
            </a:pPr>
            <a:r>
              <a:rPr sz="1200" b="1">
                <a:solidFill>
                  <a:srgbClr val="0E6E63"/>
                </a:solidFill>
                <a:latin typeface="Helvetica Neue"/>
              </a:rPr>
              <a:t>50% → 75%</a:t>
            </a:r>
          </a:p>
        </p:txBody>
      </p:sp>
      <p:sp>
        <p:nvSpPr>
          <p:cNvPr id="7" name="TextBox 6"/>
          <p:cNvSpPr txBox="1"/>
          <p:nvPr/>
        </p:nvSpPr>
        <p:spPr>
          <a:xfrm>
            <a:off x="9144000" y="2651760"/>
            <a:ext cx="2651760" cy="1645920"/>
          </a:xfrm>
          <a:prstGeom prst="rect">
            <a:avLst/>
          </a:prstGeom>
          <a:noFill/>
        </p:spPr>
        <p:txBody>
          <a:bodyPr wrap="square">
            <a:spAutoFit/>
          </a:bodyPr>
          <a:lstStyle/>
          <a:p>
            <a:pPr algn="l">
              <a:spcAft>
                <a:spcPts val="600"/>
              </a:spcAft>
            </a:pPr>
            <a:r>
              <a:rPr sz="1300" b="1">
                <a:solidFill>
                  <a:srgbClr val="0E6E63"/>
                </a:solidFill>
                <a:latin typeface="Georgia"/>
              </a:rPr>
              <a:t>04</a:t>
            </a:r>
          </a:p>
          <a:p>
            <a:pPr>
              <a:spcAft>
                <a:spcPts val="400"/>
              </a:spcAft>
            </a:pPr>
            <a:r>
              <a:rPr sz="1700" b="1">
                <a:solidFill>
                  <a:srgbClr val="1A1D1B"/>
                </a:solidFill>
                <a:latin typeface="Helvetica Neue"/>
              </a:rPr>
              <a:t>Resolved</a:t>
            </a:r>
          </a:p>
          <a:p>
            <a:pPr>
              <a:lnSpc>
                <a:spcPct val="135000"/>
              </a:lnSpc>
              <a:spcAft>
                <a:spcPts val="600"/>
              </a:spcAft>
            </a:pPr>
            <a:r>
              <a:rPr sz="1300" b="0">
                <a:solidFill>
                  <a:srgbClr val="6F6D66"/>
                </a:solidFill>
                <a:latin typeface="Helvetica Neue"/>
              </a:rPr>
              <a:t>closed with what was done</a:t>
            </a:r>
          </a:p>
          <a:p>
            <a:pPr>
              <a:spcAft>
                <a:spcPts val="0"/>
              </a:spcAft>
            </a:pPr>
            <a:r>
              <a:rPr sz="1200" b="1">
                <a:solidFill>
                  <a:srgbClr val="0E6E63"/>
                </a:solidFill>
                <a:latin typeface="Helvetica Neue"/>
              </a:rPr>
              <a:t>100%</a:t>
            </a:r>
          </a:p>
        </p:txBody>
      </p:sp>
      <p:sp>
        <p:nvSpPr>
          <p:cNvPr id="8" name="Rectangle 7"/>
          <p:cNvSpPr/>
          <p:nvPr/>
        </p:nvSpPr>
        <p:spPr>
          <a:xfrm>
            <a:off x="777240" y="457200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800600"/>
            <a:ext cx="10637215" cy="1371600"/>
          </a:xfrm>
          <a:prstGeom prst="rect">
            <a:avLst/>
          </a:prstGeom>
          <a:noFill/>
        </p:spPr>
        <p:txBody>
          <a:bodyPr wrap="square">
            <a:spAutoFit/>
          </a:bodyPr>
          <a:lstStyle/>
          <a:p>
            <a:pPr algn="l">
              <a:spcAft>
                <a:spcPts val="800"/>
              </a:spcAft>
            </a:pPr>
            <a:r>
              <a:rPr sz="1700" b="1">
                <a:solidFill>
                  <a:srgbClr val="1A1D1B"/>
                </a:solidFill>
                <a:latin typeface="Helvetica Neue"/>
              </a:rPr>
              <a:t>Every step is written down: who moved it, when, and what they found.</a:t>
            </a:r>
          </a:p>
          <a:p>
            <a:pPr>
              <a:lnSpc>
                <a:spcPct val="145000"/>
              </a:lnSpc>
              <a:spcAft>
                <a:spcPts val="0"/>
              </a:spcAft>
            </a:pPr>
            <a:r>
              <a:rPr sz="1500" b="0">
                <a:solidFill>
                  <a:srgbClr val="6F6D66"/>
                </a:solidFill>
                <a:latin typeface="Helvetica Neue"/>
              </a:rPr>
              <a:t>The person who filed the report watches the same bar the officers do. Reporting a hazard into a form that never answers is how people learn not to bother.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IN THE HAND</a:t>
            </a:r>
          </a:p>
        </p:txBody>
      </p:sp>
      <p:sp>
        <p:nvSpPr>
          <p:cNvPr id="3" name="TextBox 2"/>
          <p:cNvSpPr txBox="1"/>
          <p:nvPr/>
        </p:nvSpPr>
        <p:spPr>
          <a:xfrm>
            <a:off x="777240" y="914400"/>
            <a:ext cx="10607040" cy="822960"/>
          </a:xfrm>
          <a:prstGeom prst="rect">
            <a:avLst/>
          </a:prstGeom>
          <a:noFill/>
        </p:spPr>
        <p:txBody>
          <a:bodyPr wrap="square">
            <a:spAutoFit/>
          </a:bodyPr>
          <a:lstStyle/>
          <a:p>
            <a:pPr algn="l">
              <a:spcAft>
                <a:spcPts val="600"/>
              </a:spcAft>
            </a:pPr>
            <a:r>
              <a:rPr sz="2800" b="0">
                <a:solidFill>
                  <a:srgbClr val="1A1D1B"/>
                </a:solidFill>
                <a:latin typeface="Georgia"/>
              </a:rPr>
              <a:t>Dawuro: the warning, the weather, and the reason.</a:t>
            </a:r>
          </a:p>
          <a:p>
            <a:pPr>
              <a:lnSpc>
                <a:spcPct val="140000"/>
              </a:lnSpc>
              <a:spcAft>
                <a:spcPts val="0"/>
              </a:spcAft>
            </a:pPr>
            <a:r>
              <a:rPr sz="1400" b="0">
                <a:solidFill>
                  <a:srgbClr val="6F6D66"/>
                </a:solidFill>
                <a:latin typeface="Helvetica Neue"/>
              </a:rPr>
              <a:t>Named after the gong-gong that has carried public warnings in Ghana for centuries. Five languages, read aloud, and a daily lesson that pays.</a:t>
            </a:r>
          </a:p>
        </p:txBody>
      </p:sp>
      <p:pic>
        <p:nvPicPr>
          <p:cNvPr id="4" name="Picture 3" descr="m1-home.png"/>
          <p:cNvPicPr>
            <a:picLocks noChangeAspect="1"/>
          </p:cNvPicPr>
          <p:nvPr/>
        </p:nvPicPr>
        <p:blipFill>
          <a:blip r:embed="rId2"/>
          <a:stretch>
            <a:fillRect/>
          </a:stretch>
        </p:blipFill>
        <p:spPr>
          <a:xfrm>
            <a:off x="717304" y="1965960"/>
            <a:ext cx="1857232" cy="3840480"/>
          </a:xfrm>
          <a:prstGeom prst="rect">
            <a:avLst/>
          </a:prstGeom>
        </p:spPr>
      </p:pic>
      <p:sp>
        <p:nvSpPr>
          <p:cNvPr id="5" name="TextBox 4"/>
          <p:cNvSpPr txBox="1"/>
          <p:nvPr/>
        </p:nvSpPr>
        <p:spPr>
          <a:xfrm>
            <a:off x="502920" y="5989320"/>
            <a:ext cx="2286000" cy="548640"/>
          </a:xfrm>
          <a:prstGeom prst="rect">
            <a:avLst/>
          </a:prstGeom>
          <a:noFill/>
        </p:spPr>
        <p:txBody>
          <a:bodyPr wrap="square">
            <a:spAutoFit/>
          </a:bodyPr>
          <a:lstStyle/>
          <a:p>
            <a:pPr algn="ctr">
              <a:spcAft>
                <a:spcPts val="0"/>
              </a:spcAft>
            </a:pPr>
            <a:r>
              <a:rPr sz="1100" b="0">
                <a:solidFill>
                  <a:srgbClr val="6F6D66"/>
                </a:solidFill>
                <a:latin typeface="Helvetica Neue"/>
              </a:rPr>
              <a:t>Today's risk, in plain words</a:t>
            </a:r>
          </a:p>
        </p:txBody>
      </p:sp>
      <p:pic>
        <p:nvPicPr>
          <p:cNvPr id="6" name="Picture 5" descr="m2-quiz.png"/>
          <p:cNvPicPr>
            <a:picLocks noChangeAspect="1"/>
          </p:cNvPicPr>
          <p:nvPr/>
        </p:nvPicPr>
        <p:blipFill>
          <a:blip r:embed="rId3"/>
          <a:stretch>
            <a:fillRect/>
          </a:stretch>
        </p:blipFill>
        <p:spPr>
          <a:xfrm>
            <a:off x="3058168" y="1965960"/>
            <a:ext cx="1857232" cy="3840480"/>
          </a:xfrm>
          <a:prstGeom prst="rect">
            <a:avLst/>
          </a:prstGeom>
        </p:spPr>
      </p:pic>
      <p:sp>
        <p:nvSpPr>
          <p:cNvPr id="7" name="TextBox 6"/>
          <p:cNvSpPr txBox="1"/>
          <p:nvPr/>
        </p:nvSpPr>
        <p:spPr>
          <a:xfrm>
            <a:off x="2843784" y="5989320"/>
            <a:ext cx="2286000" cy="548640"/>
          </a:xfrm>
          <a:prstGeom prst="rect">
            <a:avLst/>
          </a:prstGeom>
          <a:noFill/>
        </p:spPr>
        <p:txBody>
          <a:bodyPr wrap="square">
            <a:spAutoFit/>
          </a:bodyPr>
          <a:lstStyle/>
          <a:p>
            <a:pPr algn="ctr">
              <a:spcAft>
                <a:spcPts val="0"/>
              </a:spcAft>
            </a:pPr>
            <a:r>
              <a:rPr sz="1100" b="0">
                <a:solidFill>
                  <a:srgbClr val="6F6D66"/>
                </a:solidFill>
                <a:latin typeface="Helvetica Neue"/>
              </a:rPr>
              <a:t>Learn by answering, wrong or right</a:t>
            </a:r>
          </a:p>
        </p:txBody>
      </p:sp>
      <p:pic>
        <p:nvPicPr>
          <p:cNvPr id="8" name="Picture 7" descr="m3-finish.png"/>
          <p:cNvPicPr>
            <a:picLocks noChangeAspect="1"/>
          </p:cNvPicPr>
          <p:nvPr/>
        </p:nvPicPr>
        <p:blipFill>
          <a:blip r:embed="rId4"/>
          <a:stretch>
            <a:fillRect/>
          </a:stretch>
        </p:blipFill>
        <p:spPr>
          <a:xfrm>
            <a:off x="5399032" y="1965960"/>
            <a:ext cx="1857232" cy="3840480"/>
          </a:xfrm>
          <a:prstGeom prst="rect">
            <a:avLst/>
          </a:prstGeom>
        </p:spPr>
      </p:pic>
      <p:sp>
        <p:nvSpPr>
          <p:cNvPr id="9" name="TextBox 8"/>
          <p:cNvSpPr txBox="1"/>
          <p:nvPr/>
        </p:nvSpPr>
        <p:spPr>
          <a:xfrm>
            <a:off x="5184648" y="5989320"/>
            <a:ext cx="2286000" cy="548640"/>
          </a:xfrm>
          <a:prstGeom prst="rect">
            <a:avLst/>
          </a:prstGeom>
          <a:noFill/>
        </p:spPr>
        <p:txBody>
          <a:bodyPr wrap="square">
            <a:spAutoFit/>
          </a:bodyPr>
          <a:lstStyle/>
          <a:p>
            <a:pPr algn="ctr">
              <a:spcAft>
                <a:spcPts val="0"/>
              </a:spcAft>
            </a:pPr>
            <a:r>
              <a:rPr sz="1100" b="0">
                <a:solidFill>
                  <a:srgbClr val="6F6D66"/>
                </a:solidFill>
                <a:latin typeface="Helvetica Neue"/>
              </a:rPr>
              <a:t>Points and streak, earned daily</a:t>
            </a:r>
          </a:p>
        </p:txBody>
      </p:sp>
      <p:pic>
        <p:nvPicPr>
          <p:cNvPr id="10" name="Picture 9" descr="m4-report.png"/>
          <p:cNvPicPr>
            <a:picLocks noChangeAspect="1"/>
          </p:cNvPicPr>
          <p:nvPr/>
        </p:nvPicPr>
        <p:blipFill>
          <a:blip r:embed="rId5"/>
          <a:stretch>
            <a:fillRect/>
          </a:stretch>
        </p:blipFill>
        <p:spPr>
          <a:xfrm>
            <a:off x="7739896" y="1965960"/>
            <a:ext cx="1857232" cy="3840480"/>
          </a:xfrm>
          <a:prstGeom prst="rect">
            <a:avLst/>
          </a:prstGeom>
        </p:spPr>
      </p:pic>
      <p:sp>
        <p:nvSpPr>
          <p:cNvPr id="11" name="TextBox 10"/>
          <p:cNvSpPr txBox="1"/>
          <p:nvPr/>
        </p:nvSpPr>
        <p:spPr>
          <a:xfrm>
            <a:off x="7525512" y="5989320"/>
            <a:ext cx="2286000" cy="548640"/>
          </a:xfrm>
          <a:prstGeom prst="rect">
            <a:avLst/>
          </a:prstGeom>
          <a:noFill/>
        </p:spPr>
        <p:txBody>
          <a:bodyPr wrap="square">
            <a:spAutoFit/>
          </a:bodyPr>
          <a:lstStyle/>
          <a:p>
            <a:pPr algn="ctr">
              <a:spcAft>
                <a:spcPts val="0"/>
              </a:spcAft>
            </a:pPr>
            <a:r>
              <a:rPr sz="1100" b="0">
                <a:solidFill>
                  <a:srgbClr val="6F6D66"/>
                </a:solidFill>
                <a:latin typeface="Helvetica Neue"/>
              </a:rPr>
              <a:t>Report a hazard with a photo</a:t>
            </a:r>
          </a:p>
        </p:txBody>
      </p:sp>
      <p:pic>
        <p:nvPicPr>
          <p:cNvPr id="12" name="Picture 11" descr="m5-twi.png"/>
          <p:cNvPicPr>
            <a:picLocks noChangeAspect="1"/>
          </p:cNvPicPr>
          <p:nvPr/>
        </p:nvPicPr>
        <p:blipFill>
          <a:blip r:embed="rId6"/>
          <a:stretch>
            <a:fillRect/>
          </a:stretch>
        </p:blipFill>
        <p:spPr>
          <a:xfrm>
            <a:off x="10080760" y="1965960"/>
            <a:ext cx="1857232" cy="3840480"/>
          </a:xfrm>
          <a:prstGeom prst="rect">
            <a:avLst/>
          </a:prstGeom>
        </p:spPr>
      </p:pic>
      <p:sp>
        <p:nvSpPr>
          <p:cNvPr id="13" name="TextBox 12"/>
          <p:cNvSpPr txBox="1"/>
          <p:nvPr/>
        </p:nvSpPr>
        <p:spPr>
          <a:xfrm>
            <a:off x="9866376" y="5989320"/>
            <a:ext cx="2286000" cy="548640"/>
          </a:xfrm>
          <a:prstGeom prst="rect">
            <a:avLst/>
          </a:prstGeom>
          <a:noFill/>
        </p:spPr>
        <p:txBody>
          <a:bodyPr wrap="square">
            <a:spAutoFit/>
          </a:bodyPr>
          <a:lstStyle/>
          <a:p>
            <a:pPr algn="ctr">
              <a:spcAft>
                <a:spcPts val="0"/>
              </a:spcAft>
            </a:pPr>
            <a:r>
              <a:rPr sz="1100" b="0">
                <a:solidFill>
                  <a:srgbClr val="6F6D66"/>
                </a:solidFill>
                <a:latin typeface="Helvetica Neue"/>
              </a:rPr>
              <a:t>The same warning in Twi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ACCESSIBILITY</a:t>
            </a:r>
          </a:p>
        </p:txBody>
      </p:sp>
      <p:sp>
        <p:nvSpPr>
          <p:cNvPr id="3" name="TextBox 2"/>
          <p:cNvSpPr txBox="1"/>
          <p:nvPr/>
        </p:nvSpPr>
        <p:spPr>
          <a:xfrm>
            <a:off x="777240" y="960120"/>
            <a:ext cx="4846320" cy="3566160"/>
          </a:xfrm>
          <a:prstGeom prst="rect">
            <a:avLst/>
          </a:prstGeom>
          <a:noFill/>
        </p:spPr>
        <p:txBody>
          <a:bodyPr wrap="square">
            <a:spAutoFit/>
          </a:bodyPr>
          <a:lstStyle/>
          <a:p>
            <a:pPr algn="l">
              <a:lnSpc>
                <a:spcPct val="108000"/>
              </a:lnSpc>
              <a:spcAft>
                <a:spcPts val="200"/>
              </a:spcAft>
            </a:pPr>
            <a:r>
              <a:rPr sz="3200" b="0">
                <a:solidFill>
                  <a:srgbClr val="1A1D1B"/>
                </a:solidFill>
                <a:latin typeface="Georgia"/>
              </a:rPr>
              <a:t>Built for the people</a:t>
            </a:r>
          </a:p>
          <a:p>
            <a:pPr>
              <a:lnSpc>
                <a:spcPct val="108000"/>
              </a:lnSpc>
              <a:spcAft>
                <a:spcPts val="200"/>
              </a:spcAft>
            </a:pPr>
            <a:r>
              <a:rPr sz="3200" b="0">
                <a:solidFill>
                  <a:srgbClr val="1A1D1B"/>
                </a:solidFill>
                <a:latin typeface="Georgia"/>
              </a:rPr>
              <a:t>most exposed, not the</a:t>
            </a:r>
          </a:p>
          <a:p>
            <a:pPr>
              <a:lnSpc>
                <a:spcPct val="108000"/>
              </a:lnSpc>
              <a:spcAft>
                <a:spcPts val="1600"/>
              </a:spcAft>
            </a:pPr>
            <a:r>
              <a:rPr sz="3200" b="0">
                <a:solidFill>
                  <a:srgbClr val="0E6E63"/>
                </a:solidFill>
                <a:latin typeface="Georgia"/>
              </a:rPr>
              <a:t>easiest to reach.</a:t>
            </a:r>
          </a:p>
          <a:p>
            <a:pPr>
              <a:lnSpc>
                <a:spcPct val="150000"/>
              </a:lnSpc>
              <a:spcAft>
                <a:spcPts val="0"/>
              </a:spcAft>
            </a:pPr>
            <a:r>
              <a:rPr sz="1500" b="0">
                <a:solidFill>
                  <a:srgbClr val="6F6D66"/>
                </a:solidFill>
                <a:latin typeface="Helvetica Neue"/>
              </a:rPr>
              <a:t>The hackathon asks us to reach youth and marginalised groups. Those are the people least likely to own a smartphone, read fluently, or speak English at home. Every one of those is designed for, not apologised for.</a:t>
            </a:r>
          </a:p>
        </p:txBody>
      </p:sp>
      <p:pic>
        <p:nvPicPr>
          <p:cNvPr id="4" name="Picture 3" descr="m6-language.png"/>
          <p:cNvPicPr>
            <a:picLocks noChangeAspect="1"/>
          </p:cNvPicPr>
          <p:nvPr/>
        </p:nvPicPr>
        <p:blipFill>
          <a:blip r:embed="rId2"/>
          <a:stretch>
            <a:fillRect/>
          </a:stretch>
        </p:blipFill>
        <p:spPr>
          <a:xfrm>
            <a:off x="8732520" y="1097280"/>
            <a:ext cx="2387870" cy="4937760"/>
          </a:xfrm>
          <a:prstGeom prst="rect">
            <a:avLst/>
          </a:prstGeom>
        </p:spPr>
      </p:pic>
      <p:sp>
        <p:nvSpPr>
          <p:cNvPr id="5" name="TextBox 4"/>
          <p:cNvSpPr txBox="1"/>
          <p:nvPr/>
        </p:nvSpPr>
        <p:spPr>
          <a:xfrm>
            <a:off x="5852160" y="1143000"/>
            <a:ext cx="2743200" cy="777240"/>
          </a:xfrm>
          <a:prstGeom prst="rect">
            <a:avLst/>
          </a:prstGeom>
          <a:noFill/>
        </p:spPr>
        <p:txBody>
          <a:bodyPr wrap="square">
            <a:spAutoFit/>
          </a:bodyPr>
          <a:lstStyle/>
          <a:p>
            <a:pPr algn="l">
              <a:spcAft>
                <a:spcPts val="200"/>
              </a:spcAft>
            </a:pPr>
            <a:r>
              <a:rPr sz="1500" b="1">
                <a:solidFill>
                  <a:srgbClr val="0E6E63"/>
                </a:solidFill>
                <a:latin typeface="Helvetica Neue"/>
              </a:rPr>
              <a:t>Five languages</a:t>
            </a:r>
          </a:p>
          <a:p>
            <a:pPr>
              <a:lnSpc>
                <a:spcPct val="135000"/>
              </a:lnSpc>
              <a:spcAft>
                <a:spcPts val="0"/>
              </a:spcAft>
            </a:pPr>
            <a:r>
              <a:rPr sz="1300" b="0">
                <a:solidFill>
                  <a:srgbClr val="6F6D66"/>
                </a:solidFill>
                <a:latin typeface="Helvetica Neue"/>
              </a:rPr>
              <a:t>English, Twi, Ga, Ewe, Dagbani, chosen at sign-up</a:t>
            </a:r>
          </a:p>
        </p:txBody>
      </p:sp>
      <p:sp>
        <p:nvSpPr>
          <p:cNvPr id="6" name="TextBox 5"/>
          <p:cNvSpPr txBox="1"/>
          <p:nvPr/>
        </p:nvSpPr>
        <p:spPr>
          <a:xfrm>
            <a:off x="5852160" y="1947672"/>
            <a:ext cx="2743200" cy="777240"/>
          </a:xfrm>
          <a:prstGeom prst="rect">
            <a:avLst/>
          </a:prstGeom>
          <a:noFill/>
        </p:spPr>
        <p:txBody>
          <a:bodyPr wrap="square">
            <a:spAutoFit/>
          </a:bodyPr>
          <a:lstStyle/>
          <a:p>
            <a:pPr algn="l">
              <a:spcAft>
                <a:spcPts val="200"/>
              </a:spcAft>
            </a:pPr>
            <a:r>
              <a:rPr sz="1500" b="1">
                <a:solidFill>
                  <a:srgbClr val="0E6E63"/>
                </a:solidFill>
                <a:latin typeface="Helvetica Neue"/>
              </a:rPr>
              <a:t>Read aloud</a:t>
            </a:r>
          </a:p>
          <a:p>
            <a:pPr>
              <a:lnSpc>
                <a:spcPct val="135000"/>
              </a:lnSpc>
              <a:spcAft>
                <a:spcPts val="0"/>
              </a:spcAft>
            </a:pPr>
            <a:r>
              <a:rPr sz="1300" b="0">
                <a:solidFill>
                  <a:srgbClr val="6F6D66"/>
                </a:solidFill>
                <a:latin typeface="Helvetica Neue"/>
              </a:rPr>
              <a:t>Every forecast, lesson and quiz answer can be spoken</a:t>
            </a:r>
          </a:p>
        </p:txBody>
      </p:sp>
      <p:sp>
        <p:nvSpPr>
          <p:cNvPr id="7" name="TextBox 6"/>
          <p:cNvSpPr txBox="1"/>
          <p:nvPr/>
        </p:nvSpPr>
        <p:spPr>
          <a:xfrm>
            <a:off x="5852160" y="2752344"/>
            <a:ext cx="2743200" cy="777240"/>
          </a:xfrm>
          <a:prstGeom prst="rect">
            <a:avLst/>
          </a:prstGeom>
          <a:noFill/>
        </p:spPr>
        <p:txBody>
          <a:bodyPr wrap="square">
            <a:spAutoFit/>
          </a:bodyPr>
          <a:lstStyle/>
          <a:p>
            <a:pPr algn="l">
              <a:spcAft>
                <a:spcPts val="200"/>
              </a:spcAft>
            </a:pPr>
            <a:r>
              <a:rPr sz="1500" b="1">
                <a:solidFill>
                  <a:srgbClr val="0E6E63"/>
                </a:solidFill>
                <a:latin typeface="Helvetica Neue"/>
              </a:rPr>
              <a:t>Never a wrong voice</a:t>
            </a:r>
          </a:p>
          <a:p>
            <a:pPr>
              <a:lnSpc>
                <a:spcPct val="135000"/>
              </a:lnSpc>
              <a:spcAft>
                <a:spcPts val="0"/>
              </a:spcAft>
            </a:pPr>
            <a:r>
              <a:rPr sz="1300" b="0">
                <a:solidFill>
                  <a:srgbClr val="6F6D66"/>
                </a:solidFill>
                <a:latin typeface="Helvetica Neue"/>
              </a:rPr>
              <a:t>If the phone has no voice for a language, it says so and stays silent</a:t>
            </a:r>
          </a:p>
        </p:txBody>
      </p:sp>
      <p:sp>
        <p:nvSpPr>
          <p:cNvPr id="8" name="TextBox 7"/>
          <p:cNvSpPr txBox="1"/>
          <p:nvPr/>
        </p:nvSpPr>
        <p:spPr>
          <a:xfrm>
            <a:off x="5852160" y="3557016"/>
            <a:ext cx="2743200" cy="777240"/>
          </a:xfrm>
          <a:prstGeom prst="rect">
            <a:avLst/>
          </a:prstGeom>
          <a:noFill/>
        </p:spPr>
        <p:txBody>
          <a:bodyPr wrap="square">
            <a:spAutoFit/>
          </a:bodyPr>
          <a:lstStyle/>
          <a:p>
            <a:pPr algn="l">
              <a:spcAft>
                <a:spcPts val="200"/>
              </a:spcAft>
            </a:pPr>
            <a:r>
              <a:rPr sz="1500" b="1">
                <a:solidFill>
                  <a:srgbClr val="0E6E63"/>
                </a:solidFill>
                <a:latin typeface="Helvetica Neue"/>
              </a:rPr>
              <a:t>Age-banded content</a:t>
            </a:r>
          </a:p>
          <a:p>
            <a:pPr>
              <a:lnSpc>
                <a:spcPct val="135000"/>
              </a:lnSpc>
              <a:spcAft>
                <a:spcPts val="0"/>
              </a:spcAft>
            </a:pPr>
            <a:r>
              <a:rPr sz="1300" b="0">
                <a:solidFill>
                  <a:srgbClr val="6F6D66"/>
                </a:solidFill>
                <a:latin typeface="Helvetica Neue"/>
              </a:rPr>
              <a:t>A nine-year-old and a grandmother get different wording</a:t>
            </a:r>
          </a:p>
        </p:txBody>
      </p:sp>
      <p:sp>
        <p:nvSpPr>
          <p:cNvPr id="9" name="TextBox 8"/>
          <p:cNvSpPr txBox="1"/>
          <p:nvPr/>
        </p:nvSpPr>
        <p:spPr>
          <a:xfrm>
            <a:off x="5852160" y="4361688"/>
            <a:ext cx="2743200" cy="777240"/>
          </a:xfrm>
          <a:prstGeom prst="rect">
            <a:avLst/>
          </a:prstGeom>
          <a:noFill/>
        </p:spPr>
        <p:txBody>
          <a:bodyPr wrap="square">
            <a:spAutoFit/>
          </a:bodyPr>
          <a:lstStyle/>
          <a:p>
            <a:pPr algn="l">
              <a:spcAft>
                <a:spcPts val="200"/>
              </a:spcAft>
            </a:pPr>
            <a:r>
              <a:rPr sz="1500" b="1">
                <a:solidFill>
                  <a:srgbClr val="0E6E63"/>
                </a:solidFill>
                <a:latin typeface="Helvetica Neue"/>
              </a:rPr>
              <a:t>No smartphone needed</a:t>
            </a:r>
          </a:p>
          <a:p>
            <a:pPr>
              <a:lnSpc>
                <a:spcPct val="135000"/>
              </a:lnSpc>
              <a:spcAft>
                <a:spcPts val="0"/>
              </a:spcAft>
            </a:pPr>
            <a:r>
              <a:rPr sz="1300" b="0">
                <a:solidFill>
                  <a:srgbClr val="6F6D66"/>
                </a:solidFill>
                <a:latin typeface="Helvetica Neue"/>
              </a:rPr>
              <a:t>USSD on any handset; SMS for people who open nothing</a:t>
            </a:r>
          </a:p>
        </p:txBody>
      </p:sp>
      <p:sp>
        <p:nvSpPr>
          <p:cNvPr id="10" name="TextBox 9"/>
          <p:cNvSpPr txBox="1"/>
          <p:nvPr/>
        </p:nvSpPr>
        <p:spPr>
          <a:xfrm>
            <a:off x="5852160" y="5166360"/>
            <a:ext cx="2743200" cy="777240"/>
          </a:xfrm>
          <a:prstGeom prst="rect">
            <a:avLst/>
          </a:prstGeom>
          <a:noFill/>
        </p:spPr>
        <p:txBody>
          <a:bodyPr wrap="square">
            <a:spAutoFit/>
          </a:bodyPr>
          <a:lstStyle/>
          <a:p>
            <a:pPr algn="l">
              <a:spcAft>
                <a:spcPts val="200"/>
              </a:spcAft>
            </a:pPr>
            <a:r>
              <a:rPr sz="1500" b="1">
                <a:solidFill>
                  <a:srgbClr val="0E6E63"/>
                </a:solidFill>
                <a:latin typeface="Helvetica Neue"/>
              </a:rPr>
              <a:t>Works offline</a:t>
            </a:r>
          </a:p>
          <a:p>
            <a:pPr>
              <a:lnSpc>
                <a:spcPct val="135000"/>
              </a:lnSpc>
              <a:spcAft>
                <a:spcPts val="0"/>
              </a:spcAft>
            </a:pPr>
            <a:r>
              <a:rPr sz="1300" b="0">
                <a:solidFill>
                  <a:srgbClr val="6F6D66"/>
                </a:solidFill>
                <a:latin typeface="Helvetica Neue"/>
              </a:rPr>
              <a:t>The last forecast is kept; reports queue and send themselves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THE RENEWAL QUEUE</a:t>
            </a:r>
          </a:p>
        </p:txBody>
      </p:sp>
      <p:sp>
        <p:nvSpPr>
          <p:cNvPr id="3" name="TextBox 2"/>
          <p:cNvSpPr txBox="1"/>
          <p:nvPr/>
        </p:nvSpPr>
        <p:spPr>
          <a:xfrm>
            <a:off x="777240" y="1005840"/>
            <a:ext cx="10607040" cy="914400"/>
          </a:xfrm>
          <a:prstGeom prst="rect">
            <a:avLst/>
          </a:prstGeom>
          <a:noFill/>
        </p:spPr>
        <p:txBody>
          <a:bodyPr wrap="square">
            <a:spAutoFit/>
          </a:bodyPr>
          <a:lstStyle/>
          <a:p>
            <a:pPr algn="l">
              <a:spcAft>
                <a:spcPts val="800"/>
              </a:spcAft>
            </a:pPr>
            <a:r>
              <a:rPr sz="3000" b="0">
                <a:solidFill>
                  <a:srgbClr val="1A1D1B"/>
                </a:solidFill>
                <a:latin typeface="Georgia"/>
              </a:rPr>
              <a:t>Ghana Health Service sees who has earned cover, and who is close.</a:t>
            </a:r>
          </a:p>
          <a:p>
            <a:pPr>
              <a:lnSpc>
                <a:spcPct val="140000"/>
              </a:lnSpc>
              <a:spcAft>
                <a:spcPts val="0"/>
              </a:spcAft>
            </a:pPr>
            <a:r>
              <a:rPr sz="1500" b="0">
                <a:solidFill>
                  <a:srgbClr val="6F6D66"/>
                </a:solidFill>
                <a:latin typeface="Helvetica Neue"/>
              </a:rPr>
              <a:t>Ranked by points, with the phone number to reach them on. Under-18s are flagged as already exempt rather than shown a target.</a:t>
            </a:r>
          </a:p>
        </p:txBody>
      </p:sp>
      <p:pic>
        <p:nvPicPr>
          <p:cNvPr id="4" name="Picture 3" descr="w2-renewals.png"/>
          <p:cNvPicPr>
            <a:picLocks noChangeAspect="1"/>
          </p:cNvPicPr>
          <p:nvPr/>
        </p:nvPicPr>
        <p:blipFill>
          <a:blip r:embed="rId2"/>
          <a:stretch>
            <a:fillRect/>
          </a:stretch>
        </p:blipFill>
        <p:spPr>
          <a:xfrm>
            <a:off x="2397607" y="1965960"/>
            <a:ext cx="7396480" cy="4160520"/>
          </a:xfrm>
          <a:prstGeom prst="rect">
            <a:avLst/>
          </a:prstGeom>
        </p:spPr>
      </p:pic>
      <p:sp>
        <p:nvSpPr>
          <p:cNvPr id="5" name="Rectangle 4"/>
          <p:cNvSpPr/>
          <p:nvPr/>
        </p:nvSpPr>
        <p:spPr>
          <a:xfrm>
            <a:off x="2397607" y="1965960"/>
            <a:ext cx="7396480" cy="4160520"/>
          </a:xfrm>
          <a:prstGeom prst="rect">
            <a:avLst/>
          </a:prstGeom>
          <a:noFill/>
          <a:ln>
            <a:solidFill>
              <a:srgbClr val="E4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263640"/>
            <a:ext cx="10637215" cy="365760"/>
          </a:xfrm>
          <a:prstGeom prst="rect">
            <a:avLst/>
          </a:prstGeom>
          <a:noFill/>
        </p:spPr>
        <p:txBody>
          <a:bodyPr wrap="square">
            <a:spAutoFit/>
          </a:bodyPr>
          <a:lstStyle/>
          <a:p>
            <a:pPr algn="ctr">
              <a:spcAft>
                <a:spcPts val="0"/>
              </a:spcAft>
            </a:pPr>
            <a:r>
              <a:rPr sz="1200" b="0">
                <a:solidFill>
                  <a:srgbClr val="A8A59E"/>
                </a:solidFill>
                <a:latin typeface="Helvetica Neue"/>
              </a:rPr>
              <a:t>NHIS renewals · Ghana Health Service only · seeded demonstration Guardians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REWARD FEASIBILITY</a:t>
            </a:r>
          </a:p>
        </p:txBody>
      </p:sp>
      <p:sp>
        <p:nvSpPr>
          <p:cNvPr id="3" name="TextBox 2"/>
          <p:cNvSpPr txBox="1"/>
          <p:nvPr/>
        </p:nvSpPr>
        <p:spPr>
          <a:xfrm>
            <a:off x="777240" y="1005840"/>
            <a:ext cx="5943600" cy="3291840"/>
          </a:xfrm>
          <a:prstGeom prst="rect">
            <a:avLst/>
          </a:prstGeom>
          <a:noFill/>
        </p:spPr>
        <p:txBody>
          <a:bodyPr wrap="square">
            <a:spAutoFit/>
          </a:bodyPr>
          <a:lstStyle/>
          <a:p>
            <a:pPr algn="l">
              <a:lnSpc>
                <a:spcPct val="108000"/>
              </a:lnSpc>
              <a:spcAft>
                <a:spcPts val="200"/>
              </a:spcAft>
            </a:pPr>
            <a:r>
              <a:rPr sz="3200" b="0">
                <a:solidFill>
                  <a:srgbClr val="1A1D1B"/>
                </a:solidFill>
                <a:latin typeface="Georgia"/>
              </a:rPr>
              <a:t>Points buy health cover,</a:t>
            </a:r>
          </a:p>
          <a:p>
            <a:pPr>
              <a:lnSpc>
                <a:spcPct val="108000"/>
              </a:lnSpc>
              <a:spcAft>
                <a:spcPts val="1600"/>
              </a:spcAft>
            </a:pPr>
            <a:r>
              <a:rPr sz="3200" b="0">
                <a:solidFill>
                  <a:srgbClr val="0E6E63"/>
                </a:solidFill>
                <a:latin typeface="Georgia"/>
              </a:rPr>
              <a:t>not cash.</a:t>
            </a:r>
          </a:p>
          <a:p>
            <a:pPr>
              <a:lnSpc>
                <a:spcPct val="145000"/>
              </a:lnSpc>
              <a:spcAft>
                <a:spcPts val="1400"/>
              </a:spcAft>
            </a:pPr>
            <a:r>
              <a:rPr sz="1600" b="0">
                <a:solidFill>
                  <a:srgbClr val="6F6D66"/>
                </a:solidFill>
                <a:latin typeface="Helvetica Neue"/>
              </a:rPr>
              <a:t>3,500 points is one year of NHIS cover. The number is derived, not chosen: the adult premium runs GHS 7.20 to 48 by income band, about GHS 30 to 50 a year for informal workers. We price a point at one pesewa and take the middle of that band.</a:t>
            </a:r>
          </a:p>
          <a:p>
            <a:pPr>
              <a:lnSpc>
                <a:spcPct val="145000"/>
              </a:lnSpc>
              <a:spcAft>
                <a:spcPts val="0"/>
              </a:spcAft>
            </a:pPr>
            <a:r>
              <a:rPr sz="1600" b="1">
                <a:solidFill>
                  <a:srgbClr val="1A1D1B"/>
                </a:solidFill>
                <a:latin typeface="Helvetica Neue"/>
              </a:rPr>
              <a:t>No money leaves the platform. No float to hold, no payout licence, no transfer that cannot be recalled.</a:t>
            </a:r>
          </a:p>
        </p:txBody>
      </p:sp>
      <p:sp>
        <p:nvSpPr>
          <p:cNvPr id="4" name="TextBox 3"/>
          <p:cNvSpPr txBox="1"/>
          <p:nvPr/>
        </p:nvSpPr>
        <p:spPr>
          <a:xfrm>
            <a:off x="7040880" y="1188720"/>
            <a:ext cx="4389120" cy="1005840"/>
          </a:xfrm>
          <a:prstGeom prst="rect">
            <a:avLst/>
          </a:prstGeom>
          <a:noFill/>
        </p:spPr>
        <p:txBody>
          <a:bodyPr wrap="square">
            <a:spAutoFit/>
          </a:bodyPr>
          <a:lstStyle/>
          <a:p>
            <a:pPr algn="l">
              <a:spcAft>
                <a:spcPts val="200"/>
              </a:spcAft>
            </a:pPr>
            <a:r>
              <a:rPr sz="3400" b="0">
                <a:solidFill>
                  <a:srgbClr val="0E6E63"/>
                </a:solidFill>
                <a:latin typeface="Georgia"/>
              </a:rPr>
              <a:t>3,500</a:t>
            </a:r>
          </a:p>
          <a:p>
            <a:pPr>
              <a:spcAft>
                <a:spcPts val="0"/>
              </a:spcAft>
            </a:pPr>
            <a:r>
              <a:rPr sz="1400" b="0">
                <a:solidFill>
                  <a:srgbClr val="6F6D66"/>
                </a:solidFill>
                <a:latin typeface="Helvetica Neue"/>
              </a:rPr>
              <a:t>points for a year of cover</a:t>
            </a:r>
          </a:p>
        </p:txBody>
      </p:sp>
      <p:sp>
        <p:nvSpPr>
          <p:cNvPr id="5" name="TextBox 4"/>
          <p:cNvSpPr txBox="1"/>
          <p:nvPr/>
        </p:nvSpPr>
        <p:spPr>
          <a:xfrm>
            <a:off x="7040880" y="2377440"/>
            <a:ext cx="4389120" cy="1005840"/>
          </a:xfrm>
          <a:prstGeom prst="rect">
            <a:avLst/>
          </a:prstGeom>
          <a:noFill/>
        </p:spPr>
        <p:txBody>
          <a:bodyPr wrap="square">
            <a:spAutoFit/>
          </a:bodyPr>
          <a:lstStyle/>
          <a:p>
            <a:pPr algn="l">
              <a:spcAft>
                <a:spcPts val="200"/>
              </a:spcAft>
            </a:pPr>
            <a:r>
              <a:rPr sz="3400" b="0">
                <a:solidFill>
                  <a:srgbClr val="0E6E63"/>
                </a:solidFill>
                <a:latin typeface="Georgia"/>
              </a:rPr>
              <a:t>~35 days</a:t>
            </a:r>
          </a:p>
          <a:p>
            <a:pPr>
              <a:spcAft>
                <a:spcPts val="0"/>
              </a:spcAft>
            </a:pPr>
            <a:r>
              <a:rPr sz="1400" b="0">
                <a:solidFill>
                  <a:srgbClr val="6F6D66"/>
                </a:solidFill>
                <a:latin typeface="Helvetica Neue"/>
              </a:rPr>
              <a:t>of daily use to earn it</a:t>
            </a:r>
          </a:p>
        </p:txBody>
      </p:sp>
      <p:sp>
        <p:nvSpPr>
          <p:cNvPr id="6" name="TextBox 5"/>
          <p:cNvSpPr txBox="1"/>
          <p:nvPr/>
        </p:nvSpPr>
        <p:spPr>
          <a:xfrm>
            <a:off x="7040880" y="3566160"/>
            <a:ext cx="4389120" cy="1005840"/>
          </a:xfrm>
          <a:prstGeom prst="rect">
            <a:avLst/>
          </a:prstGeom>
          <a:noFill/>
        </p:spPr>
        <p:txBody>
          <a:bodyPr wrap="square">
            <a:spAutoFit/>
          </a:bodyPr>
          <a:lstStyle/>
          <a:p>
            <a:pPr algn="l">
              <a:spcAft>
                <a:spcPts val="200"/>
              </a:spcAft>
            </a:pPr>
            <a:r>
              <a:rPr sz="3400" b="0">
                <a:solidFill>
                  <a:srgbClr val="0E6E63"/>
                </a:solidFill>
                <a:latin typeface="Georgia"/>
              </a:rPr>
              <a:t>0</a:t>
            </a:r>
          </a:p>
          <a:p>
            <a:pPr>
              <a:spcAft>
                <a:spcPts val="0"/>
              </a:spcAft>
            </a:pPr>
            <a:r>
              <a:rPr sz="1400" b="0">
                <a:solidFill>
                  <a:srgbClr val="6F6D66"/>
                </a:solidFill>
                <a:latin typeface="Helvetica Neue"/>
              </a:rPr>
              <a:t>cedis of platform liability</a:t>
            </a:r>
          </a:p>
        </p:txBody>
      </p:sp>
      <p:sp>
        <p:nvSpPr>
          <p:cNvPr id="7" name="Rectangle 6"/>
          <p:cNvSpPr/>
          <p:nvPr/>
        </p:nvSpPr>
        <p:spPr>
          <a:xfrm>
            <a:off x="777240" y="489204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120640"/>
            <a:ext cx="10637215" cy="1097280"/>
          </a:xfrm>
          <a:prstGeom prst="rect">
            <a:avLst/>
          </a:prstGeom>
          <a:noFill/>
        </p:spPr>
        <p:txBody>
          <a:bodyPr wrap="square">
            <a:spAutoFit/>
          </a:bodyPr>
          <a:lstStyle/>
          <a:p>
            <a:pPr algn="l">
              <a:spcAft>
                <a:spcPts val="800"/>
              </a:spcAft>
            </a:pPr>
            <a:r>
              <a:rPr sz="1700" b="1">
                <a:solidFill>
                  <a:srgbClr val="1A1D1B"/>
                </a:solidFill>
                <a:latin typeface="Helvetica Neue"/>
              </a:rPr>
              <a:t>The platform never says a renewal happened.</a:t>
            </a:r>
          </a:p>
          <a:p>
            <a:pPr>
              <a:lnSpc>
                <a:spcPct val="145000"/>
              </a:lnSpc>
              <a:spcAft>
                <a:spcPts val="0"/>
              </a:spcAft>
            </a:pPr>
            <a:r>
              <a:rPr sz="1500" b="0">
                <a:solidFill>
                  <a:srgbClr val="6F6D66"/>
                </a:solidFill>
                <a:latin typeface="Helvetica Neue"/>
              </a:rPr>
              <a:t>It records who earned one and hands that to Ghana Health Service, who renew and confirm. Claiming otherwise would be the platform speaking for a government scheme.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WHY THEY COME BACK</a:t>
            </a:r>
          </a:p>
        </p:txBody>
      </p:sp>
      <p:sp>
        <p:nvSpPr>
          <p:cNvPr id="3" name="TextBox 2"/>
          <p:cNvSpPr txBox="1"/>
          <p:nvPr/>
        </p:nvSpPr>
        <p:spPr>
          <a:xfrm>
            <a:off x="777240" y="914400"/>
            <a:ext cx="10607040" cy="914400"/>
          </a:xfrm>
          <a:prstGeom prst="rect">
            <a:avLst/>
          </a:prstGeom>
          <a:noFill/>
        </p:spPr>
        <p:txBody>
          <a:bodyPr wrap="square">
            <a:spAutoFit/>
          </a:bodyPr>
          <a:lstStyle/>
          <a:p>
            <a:pPr algn="l">
              <a:spcAft>
                <a:spcPts val="800"/>
              </a:spcAft>
            </a:pPr>
            <a:r>
              <a:rPr sz="3200" b="0">
                <a:solidFill>
                  <a:srgbClr val="1A1D1B"/>
                </a:solidFill>
                <a:latin typeface="Georgia"/>
              </a:rPr>
              <a:t>The reward is the thing they were going without.</a:t>
            </a:r>
          </a:p>
          <a:p>
            <a:pPr>
              <a:lnSpc>
                <a:spcPct val="140000"/>
              </a:lnSpc>
              <a:spcAft>
                <a:spcPts val="0"/>
              </a:spcAft>
            </a:pPr>
            <a:r>
              <a:rPr sz="1600" b="0">
                <a:solidFill>
                  <a:srgbClr val="6F6D66"/>
                </a:solidFill>
                <a:latin typeface="Helvetica Neue"/>
              </a:rPr>
              <a:t>About 44% of Ghanaians hold no active NHIS cover. The people most exposed to climate-driven illness are the same people who cannot afford the premium.</a:t>
            </a:r>
          </a:p>
        </p:txBody>
      </p:sp>
      <p:sp>
        <p:nvSpPr>
          <p:cNvPr id="4" name="TextBox 3"/>
          <p:cNvSpPr txBox="1"/>
          <p:nvPr/>
        </p:nvSpPr>
        <p:spPr>
          <a:xfrm>
            <a:off x="777240" y="2468880"/>
            <a:ext cx="2606040" cy="1463040"/>
          </a:xfrm>
          <a:prstGeom prst="rect">
            <a:avLst/>
          </a:prstGeom>
          <a:noFill/>
        </p:spPr>
        <p:txBody>
          <a:bodyPr wrap="square">
            <a:spAutoFit/>
          </a:bodyPr>
          <a:lstStyle/>
          <a:p>
            <a:pPr algn="l">
              <a:spcAft>
                <a:spcPts val="600"/>
              </a:spcAft>
            </a:pPr>
            <a:r>
              <a:rPr sz="1300" b="1">
                <a:solidFill>
                  <a:srgbClr val="0E6E63"/>
                </a:solidFill>
                <a:latin typeface="Georgia"/>
              </a:rPr>
              <a:t>01</a:t>
            </a:r>
          </a:p>
          <a:p>
            <a:pPr>
              <a:spcAft>
                <a:spcPts val="400"/>
              </a:spcAft>
            </a:pPr>
            <a:r>
              <a:rPr sz="1800" b="1">
                <a:solidFill>
                  <a:srgbClr val="1A1D1B"/>
                </a:solidFill>
                <a:latin typeface="Helvetica Neue"/>
              </a:rPr>
              <a:t>Open it</a:t>
            </a:r>
          </a:p>
          <a:p>
            <a:pPr>
              <a:lnSpc>
                <a:spcPct val="135000"/>
              </a:lnSpc>
              <a:spcAft>
                <a:spcPts val="0"/>
              </a:spcAft>
            </a:pPr>
            <a:r>
              <a:rPr sz="1300" b="0">
                <a:solidFill>
                  <a:srgbClr val="6F6D66"/>
                </a:solidFill>
                <a:latin typeface="Helvetica Neue"/>
              </a:rPr>
              <a:t>A warning that names your district and your risk</a:t>
            </a:r>
          </a:p>
        </p:txBody>
      </p:sp>
      <p:sp>
        <p:nvSpPr>
          <p:cNvPr id="5" name="TextBox 4"/>
          <p:cNvSpPr txBox="1"/>
          <p:nvPr/>
        </p:nvSpPr>
        <p:spPr>
          <a:xfrm>
            <a:off x="3383280" y="2514600"/>
            <a:ext cx="365760" cy="365760"/>
          </a:xfrm>
          <a:prstGeom prst="rect">
            <a:avLst/>
          </a:prstGeom>
          <a:noFill/>
        </p:spPr>
        <p:txBody>
          <a:bodyPr wrap="square">
            <a:spAutoFit/>
          </a:bodyPr>
          <a:lstStyle/>
          <a:p>
            <a:pPr algn="l">
              <a:spcAft>
                <a:spcPts val="0"/>
              </a:spcAft>
            </a:pPr>
            <a:r>
              <a:rPr sz="1600" b="0">
                <a:solidFill>
                  <a:srgbClr val="A8A59E"/>
                </a:solidFill>
                <a:latin typeface="Helvetica Neue"/>
              </a:rPr>
              <a:t>→</a:t>
            </a:r>
          </a:p>
        </p:txBody>
      </p:sp>
      <p:sp>
        <p:nvSpPr>
          <p:cNvPr id="6" name="TextBox 5"/>
          <p:cNvSpPr txBox="1"/>
          <p:nvPr/>
        </p:nvSpPr>
        <p:spPr>
          <a:xfrm>
            <a:off x="3566160" y="2468880"/>
            <a:ext cx="2606040" cy="1463040"/>
          </a:xfrm>
          <a:prstGeom prst="rect">
            <a:avLst/>
          </a:prstGeom>
          <a:noFill/>
        </p:spPr>
        <p:txBody>
          <a:bodyPr wrap="square">
            <a:spAutoFit/>
          </a:bodyPr>
          <a:lstStyle/>
          <a:p>
            <a:pPr algn="l">
              <a:spcAft>
                <a:spcPts val="600"/>
              </a:spcAft>
            </a:pPr>
            <a:r>
              <a:rPr sz="1300" b="1">
                <a:solidFill>
                  <a:srgbClr val="0E6E63"/>
                </a:solidFill>
                <a:latin typeface="Georgia"/>
              </a:rPr>
              <a:t>02</a:t>
            </a:r>
          </a:p>
          <a:p>
            <a:pPr>
              <a:spcAft>
                <a:spcPts val="400"/>
              </a:spcAft>
            </a:pPr>
            <a:r>
              <a:rPr sz="1800" b="1">
                <a:solidFill>
                  <a:srgbClr val="1A1D1B"/>
                </a:solidFill>
                <a:latin typeface="Helvetica Neue"/>
              </a:rPr>
              <a:t>Learn one thing</a:t>
            </a:r>
          </a:p>
          <a:p>
            <a:pPr>
              <a:lnSpc>
                <a:spcPct val="135000"/>
              </a:lnSpc>
              <a:spcAft>
                <a:spcPts val="0"/>
              </a:spcAft>
            </a:pPr>
            <a:r>
              <a:rPr sz="1300" b="0">
                <a:solidFill>
                  <a:srgbClr val="6F6D66"/>
                </a:solidFill>
                <a:latin typeface="Helvetica Neue"/>
              </a:rPr>
              <a:t>Five questions, and the reason behind each answer</a:t>
            </a:r>
          </a:p>
        </p:txBody>
      </p:sp>
      <p:sp>
        <p:nvSpPr>
          <p:cNvPr id="7" name="TextBox 6"/>
          <p:cNvSpPr txBox="1"/>
          <p:nvPr/>
        </p:nvSpPr>
        <p:spPr>
          <a:xfrm>
            <a:off x="6172200" y="2514600"/>
            <a:ext cx="365760" cy="365760"/>
          </a:xfrm>
          <a:prstGeom prst="rect">
            <a:avLst/>
          </a:prstGeom>
          <a:noFill/>
        </p:spPr>
        <p:txBody>
          <a:bodyPr wrap="square">
            <a:spAutoFit/>
          </a:bodyPr>
          <a:lstStyle/>
          <a:p>
            <a:pPr algn="l">
              <a:spcAft>
                <a:spcPts val="0"/>
              </a:spcAft>
            </a:pPr>
            <a:r>
              <a:rPr sz="1600" b="0">
                <a:solidFill>
                  <a:srgbClr val="A8A59E"/>
                </a:solidFill>
                <a:latin typeface="Helvetica Neue"/>
              </a:rPr>
              <a:t>→</a:t>
            </a:r>
          </a:p>
        </p:txBody>
      </p:sp>
      <p:sp>
        <p:nvSpPr>
          <p:cNvPr id="8" name="TextBox 7"/>
          <p:cNvSpPr txBox="1"/>
          <p:nvPr/>
        </p:nvSpPr>
        <p:spPr>
          <a:xfrm>
            <a:off x="6355080" y="2468880"/>
            <a:ext cx="2606040" cy="1463040"/>
          </a:xfrm>
          <a:prstGeom prst="rect">
            <a:avLst/>
          </a:prstGeom>
          <a:noFill/>
        </p:spPr>
        <p:txBody>
          <a:bodyPr wrap="square">
            <a:spAutoFit/>
          </a:bodyPr>
          <a:lstStyle/>
          <a:p>
            <a:pPr algn="l">
              <a:spcAft>
                <a:spcPts val="600"/>
              </a:spcAft>
            </a:pPr>
            <a:r>
              <a:rPr sz="1300" b="1">
                <a:solidFill>
                  <a:srgbClr val="0E6E63"/>
                </a:solidFill>
                <a:latin typeface="Georgia"/>
              </a:rPr>
              <a:t>03</a:t>
            </a:r>
          </a:p>
          <a:p>
            <a:pPr>
              <a:spcAft>
                <a:spcPts val="400"/>
              </a:spcAft>
            </a:pPr>
            <a:r>
              <a:rPr sz="1800" b="1">
                <a:solidFill>
                  <a:srgbClr val="1A1D1B"/>
                </a:solidFill>
                <a:latin typeface="Helvetica Neue"/>
              </a:rPr>
              <a:t>Earn</a:t>
            </a:r>
          </a:p>
          <a:p>
            <a:pPr>
              <a:lnSpc>
                <a:spcPct val="135000"/>
              </a:lnSpc>
              <a:spcAft>
                <a:spcPts val="0"/>
              </a:spcAft>
            </a:pPr>
            <a:r>
              <a:rPr sz="1300" b="0">
                <a:solidFill>
                  <a:srgbClr val="6F6D66"/>
                </a:solidFill>
                <a:latin typeface="Helvetica Neue"/>
              </a:rPr>
              <a:t>Points for every answer, right or wrong</a:t>
            </a:r>
          </a:p>
        </p:txBody>
      </p:sp>
      <p:sp>
        <p:nvSpPr>
          <p:cNvPr id="9" name="TextBox 8"/>
          <p:cNvSpPr txBox="1"/>
          <p:nvPr/>
        </p:nvSpPr>
        <p:spPr>
          <a:xfrm>
            <a:off x="8961120" y="2514600"/>
            <a:ext cx="365760" cy="365760"/>
          </a:xfrm>
          <a:prstGeom prst="rect">
            <a:avLst/>
          </a:prstGeom>
          <a:noFill/>
        </p:spPr>
        <p:txBody>
          <a:bodyPr wrap="square">
            <a:spAutoFit/>
          </a:bodyPr>
          <a:lstStyle/>
          <a:p>
            <a:pPr algn="l">
              <a:spcAft>
                <a:spcPts val="0"/>
              </a:spcAft>
            </a:pPr>
            <a:r>
              <a:rPr sz="1600" b="0">
                <a:solidFill>
                  <a:srgbClr val="A8A59E"/>
                </a:solidFill>
                <a:latin typeface="Helvetica Neue"/>
              </a:rPr>
              <a:t>→</a:t>
            </a:r>
          </a:p>
        </p:txBody>
      </p:sp>
      <p:sp>
        <p:nvSpPr>
          <p:cNvPr id="10" name="TextBox 9"/>
          <p:cNvSpPr txBox="1"/>
          <p:nvPr/>
        </p:nvSpPr>
        <p:spPr>
          <a:xfrm>
            <a:off x="9144000" y="2468880"/>
            <a:ext cx="2606040" cy="1463040"/>
          </a:xfrm>
          <a:prstGeom prst="rect">
            <a:avLst/>
          </a:prstGeom>
          <a:noFill/>
        </p:spPr>
        <p:txBody>
          <a:bodyPr wrap="square">
            <a:spAutoFit/>
          </a:bodyPr>
          <a:lstStyle/>
          <a:p>
            <a:pPr algn="l">
              <a:spcAft>
                <a:spcPts val="600"/>
              </a:spcAft>
            </a:pPr>
            <a:r>
              <a:rPr sz="1300" b="1">
                <a:solidFill>
                  <a:srgbClr val="0E6E63"/>
                </a:solidFill>
                <a:latin typeface="Georgia"/>
              </a:rPr>
              <a:t>04</a:t>
            </a:r>
          </a:p>
          <a:p>
            <a:pPr>
              <a:spcAft>
                <a:spcPts val="400"/>
              </a:spcAft>
            </a:pPr>
            <a:r>
              <a:rPr sz="1800" b="1">
                <a:solidFill>
                  <a:srgbClr val="1A1D1B"/>
                </a:solidFill>
                <a:latin typeface="Helvetica Neue"/>
              </a:rPr>
              <a:t>Get covered</a:t>
            </a:r>
          </a:p>
          <a:p>
            <a:pPr>
              <a:lnSpc>
                <a:spcPct val="135000"/>
              </a:lnSpc>
              <a:spcAft>
                <a:spcPts val="0"/>
              </a:spcAft>
            </a:pPr>
            <a:r>
              <a:rPr sz="1300" b="0">
                <a:solidFill>
                  <a:srgbClr val="6F6D66"/>
                </a:solidFill>
                <a:latin typeface="Helvetica Neue"/>
              </a:rPr>
              <a:t>3,500 points is a year of NHIS cover</a:t>
            </a:r>
          </a:p>
        </p:txBody>
      </p:sp>
      <p:sp>
        <p:nvSpPr>
          <p:cNvPr id="11" name="Rectangle 10"/>
          <p:cNvSpPr/>
          <p:nvPr/>
        </p:nvSpPr>
        <p:spPr>
          <a:xfrm>
            <a:off x="777240" y="425196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526280"/>
            <a:ext cx="3291840" cy="1737360"/>
          </a:xfrm>
          <a:prstGeom prst="rect">
            <a:avLst/>
          </a:prstGeom>
          <a:noFill/>
        </p:spPr>
        <p:txBody>
          <a:bodyPr wrap="square">
            <a:spAutoFit/>
          </a:bodyPr>
          <a:lstStyle/>
          <a:p>
            <a:pPr algn="l">
              <a:lnSpc>
                <a:spcPct val="130000"/>
              </a:lnSpc>
              <a:spcAft>
                <a:spcPts val="600"/>
              </a:spcAft>
            </a:pPr>
            <a:r>
              <a:rPr sz="1500" b="1">
                <a:solidFill>
                  <a:srgbClr val="0E6E63"/>
                </a:solidFill>
                <a:latin typeface="Helvetica Neue"/>
              </a:rPr>
              <a:t>It pays in health, not cash</a:t>
            </a:r>
          </a:p>
          <a:p>
            <a:pPr>
              <a:lnSpc>
                <a:spcPct val="145000"/>
              </a:lnSpc>
              <a:spcAft>
                <a:spcPts val="0"/>
              </a:spcAft>
            </a:pPr>
            <a:r>
              <a:rPr sz="1300" b="0">
                <a:solidFill>
                  <a:srgbClr val="6F6D66"/>
                </a:solidFill>
                <a:latin typeface="Helvetica Neue"/>
              </a:rPr>
              <a:t>A person who skips the premium is exactly who this reaches. The reward removes the cost that kept them out.</a:t>
            </a:r>
          </a:p>
        </p:txBody>
      </p:sp>
      <p:sp>
        <p:nvSpPr>
          <p:cNvPr id="13" name="TextBox 12"/>
          <p:cNvSpPr txBox="1"/>
          <p:nvPr/>
        </p:nvSpPr>
        <p:spPr>
          <a:xfrm>
            <a:off x="4343400" y="4526280"/>
            <a:ext cx="3291840" cy="1737360"/>
          </a:xfrm>
          <a:prstGeom prst="rect">
            <a:avLst/>
          </a:prstGeom>
          <a:noFill/>
        </p:spPr>
        <p:txBody>
          <a:bodyPr wrap="square">
            <a:spAutoFit/>
          </a:bodyPr>
          <a:lstStyle/>
          <a:p>
            <a:pPr algn="l">
              <a:lnSpc>
                <a:spcPct val="130000"/>
              </a:lnSpc>
              <a:spcAft>
                <a:spcPts val="600"/>
              </a:spcAft>
            </a:pPr>
            <a:r>
              <a:rPr sz="1500" b="1">
                <a:solidFill>
                  <a:srgbClr val="0E6E63"/>
                </a:solidFill>
                <a:latin typeface="Helvetica Neue"/>
              </a:rPr>
              <a:t>The streak forgives</a:t>
            </a:r>
          </a:p>
          <a:p>
            <a:pPr>
              <a:lnSpc>
                <a:spcPct val="145000"/>
              </a:lnSpc>
              <a:spcAft>
                <a:spcPts val="0"/>
              </a:spcAft>
            </a:pPr>
            <a:r>
              <a:rPr sz="1300" b="0">
                <a:solidFill>
                  <a:srgbClr val="6F6D66"/>
                </a:solidFill>
                <a:latin typeface="Helvetica Neue"/>
              </a:rPr>
              <a:t>One missed day a week is forgiven. People miss days for illness, travel, a dead battery, or the flood we just warned them about.</a:t>
            </a:r>
          </a:p>
        </p:txBody>
      </p:sp>
      <p:sp>
        <p:nvSpPr>
          <p:cNvPr id="14" name="TextBox 13"/>
          <p:cNvSpPr txBox="1"/>
          <p:nvPr/>
        </p:nvSpPr>
        <p:spPr>
          <a:xfrm>
            <a:off x="7909560" y="4526280"/>
            <a:ext cx="3291840" cy="1737360"/>
          </a:xfrm>
          <a:prstGeom prst="rect">
            <a:avLst/>
          </a:prstGeom>
          <a:noFill/>
        </p:spPr>
        <p:txBody>
          <a:bodyPr wrap="square">
            <a:spAutoFit/>
          </a:bodyPr>
          <a:lstStyle/>
          <a:p>
            <a:pPr algn="l">
              <a:lnSpc>
                <a:spcPct val="130000"/>
              </a:lnSpc>
              <a:spcAft>
                <a:spcPts val="600"/>
              </a:spcAft>
            </a:pPr>
            <a:r>
              <a:rPr sz="1500" b="1">
                <a:solidFill>
                  <a:srgbClr val="0E6E63"/>
                </a:solidFill>
                <a:latin typeface="Helvetica Neue"/>
              </a:rPr>
              <a:t>Wrong answers still earn</a:t>
            </a:r>
          </a:p>
          <a:p>
            <a:pPr>
              <a:lnSpc>
                <a:spcPct val="145000"/>
              </a:lnSpc>
              <a:spcAft>
                <a:spcPts val="0"/>
              </a:spcAft>
            </a:pPr>
            <a:r>
              <a:rPr sz="1300" b="0">
                <a:solidFill>
                  <a:srgbClr val="6F6D66"/>
                </a:solidFill>
                <a:latin typeface="Helvetica Neue"/>
              </a:rPr>
              <a:t>Getting it wrong is the best moment to read why, so that is exactly when the explanation appears. Nobody is locked out of health information.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REACH</a:t>
            </a:r>
          </a:p>
        </p:txBody>
      </p:sp>
      <p:sp>
        <p:nvSpPr>
          <p:cNvPr id="3" name="TextBox 2"/>
          <p:cNvSpPr txBox="1"/>
          <p:nvPr/>
        </p:nvSpPr>
        <p:spPr>
          <a:xfrm>
            <a:off x="777240" y="1005840"/>
            <a:ext cx="10607040" cy="914400"/>
          </a:xfrm>
          <a:prstGeom prst="rect">
            <a:avLst/>
          </a:prstGeom>
          <a:noFill/>
        </p:spPr>
        <p:txBody>
          <a:bodyPr wrap="square">
            <a:spAutoFit/>
          </a:bodyPr>
          <a:lstStyle/>
          <a:p>
            <a:pPr algn="l">
              <a:spcAft>
                <a:spcPts val="800"/>
              </a:spcAft>
            </a:pPr>
            <a:r>
              <a:rPr sz="3200" b="0">
                <a:solidFill>
                  <a:srgbClr val="1A1D1B"/>
                </a:solidFill>
                <a:latin typeface="Georgia"/>
              </a:rPr>
              <a:t>A smartphone is not a requirement.</a:t>
            </a:r>
          </a:p>
          <a:p>
            <a:pPr>
              <a:lnSpc>
                <a:spcPct val="140000"/>
              </a:lnSpc>
              <a:spcAft>
                <a:spcPts val="0"/>
              </a:spcAft>
            </a:pPr>
            <a:r>
              <a:rPr sz="1600" b="0">
                <a:solidFill>
                  <a:srgbClr val="6F6D66"/>
                </a:solidFill>
                <a:latin typeface="Helvetica Neue"/>
              </a:rPr>
              <a:t>The people most exposed to climate-driven illness are the least likely to own one. Three front doors, one engine behind all of them.</a:t>
            </a:r>
          </a:p>
        </p:txBody>
      </p:sp>
      <p:sp>
        <p:nvSpPr>
          <p:cNvPr id="4" name="TextBox 3"/>
          <p:cNvSpPr txBox="1"/>
          <p:nvPr/>
        </p:nvSpPr>
        <p:spPr>
          <a:xfrm>
            <a:off x="777240" y="2651760"/>
            <a:ext cx="3291840" cy="2377440"/>
          </a:xfrm>
          <a:prstGeom prst="rect">
            <a:avLst/>
          </a:prstGeom>
          <a:noFill/>
        </p:spPr>
        <p:txBody>
          <a:bodyPr wrap="square">
            <a:spAutoFit/>
          </a:bodyPr>
          <a:lstStyle/>
          <a:p>
            <a:pPr algn="l">
              <a:spcAft>
                <a:spcPts val="400"/>
              </a:spcAft>
            </a:pPr>
            <a:r>
              <a:rPr sz="2200" b="0">
                <a:solidFill>
                  <a:srgbClr val="1A1D1B"/>
                </a:solidFill>
                <a:latin typeface="Georgia"/>
              </a:rPr>
              <a:t>Dawuro app</a:t>
            </a:r>
          </a:p>
          <a:p>
            <a:pPr>
              <a:spcAft>
                <a:spcPts val="1000"/>
              </a:spcAft>
            </a:pPr>
            <a:r>
              <a:rPr sz="1100" b="1" spc="140">
                <a:solidFill>
                  <a:srgbClr val="0E6E63"/>
                </a:solidFill>
                <a:latin typeface="Helvetica Neue"/>
              </a:rPr>
              <a:t>ANDROID AND IOS</a:t>
            </a:r>
          </a:p>
          <a:p>
            <a:pPr>
              <a:lnSpc>
                <a:spcPct val="145000"/>
              </a:lnSpc>
              <a:spcAft>
                <a:spcPts val="0"/>
              </a:spcAft>
            </a:pPr>
            <a:r>
              <a:rPr sz="1400" b="0">
                <a:solidFill>
                  <a:srgbClr val="6F6D66"/>
                </a:solidFill>
                <a:latin typeface="Helvetica Neue"/>
              </a:rPr>
              <a:t>Forecast, weather, daily quiz, hazard reporting with photo, progress on what you reported. English and Twi, read aloud.</a:t>
            </a:r>
          </a:p>
        </p:txBody>
      </p:sp>
      <p:sp>
        <p:nvSpPr>
          <p:cNvPr id="5" name="TextBox 4"/>
          <p:cNvSpPr txBox="1"/>
          <p:nvPr/>
        </p:nvSpPr>
        <p:spPr>
          <a:xfrm>
            <a:off x="4343400" y="2651760"/>
            <a:ext cx="3291840" cy="2377440"/>
          </a:xfrm>
          <a:prstGeom prst="rect">
            <a:avLst/>
          </a:prstGeom>
          <a:noFill/>
        </p:spPr>
        <p:txBody>
          <a:bodyPr wrap="square">
            <a:spAutoFit/>
          </a:bodyPr>
          <a:lstStyle/>
          <a:p>
            <a:pPr algn="l">
              <a:spcAft>
                <a:spcPts val="400"/>
              </a:spcAft>
            </a:pPr>
            <a:r>
              <a:rPr sz="2200" b="0">
                <a:solidFill>
                  <a:srgbClr val="1A1D1B"/>
                </a:solidFill>
                <a:latin typeface="Georgia"/>
              </a:rPr>
              <a:t>USSD</a:t>
            </a:r>
          </a:p>
          <a:p>
            <a:pPr>
              <a:spcAft>
                <a:spcPts val="1000"/>
              </a:spcAft>
            </a:pPr>
            <a:r>
              <a:rPr sz="1100" b="1" spc="140">
                <a:solidFill>
                  <a:srgbClr val="0E6E63"/>
                </a:solidFill>
                <a:latin typeface="Helvetica Neue"/>
              </a:rPr>
              <a:t>AFRICA'S TALKING</a:t>
            </a:r>
          </a:p>
          <a:p>
            <a:pPr>
              <a:lnSpc>
                <a:spcPct val="145000"/>
              </a:lnSpc>
              <a:spcAft>
                <a:spcPts val="0"/>
              </a:spcAft>
            </a:pPr>
            <a:r>
              <a:rPr sz="1400" b="0">
                <a:solidFill>
                  <a:srgbClr val="6F6D66"/>
                </a:solidFill>
                <a:latin typeface="Helvetica Neue"/>
              </a:rPr>
              <a:t>Any feature phone, no data, no app. Dial the shortcode, choose language and district, get today's warning.</a:t>
            </a:r>
          </a:p>
        </p:txBody>
      </p:sp>
      <p:sp>
        <p:nvSpPr>
          <p:cNvPr id="6" name="TextBox 5"/>
          <p:cNvSpPr txBox="1"/>
          <p:nvPr/>
        </p:nvSpPr>
        <p:spPr>
          <a:xfrm>
            <a:off x="7909560" y="2651760"/>
            <a:ext cx="3291840" cy="2377440"/>
          </a:xfrm>
          <a:prstGeom prst="rect">
            <a:avLst/>
          </a:prstGeom>
          <a:noFill/>
        </p:spPr>
        <p:txBody>
          <a:bodyPr wrap="square">
            <a:spAutoFit/>
          </a:bodyPr>
          <a:lstStyle/>
          <a:p>
            <a:pPr algn="l">
              <a:spcAft>
                <a:spcPts val="400"/>
              </a:spcAft>
            </a:pPr>
            <a:r>
              <a:rPr sz="2200" b="0">
                <a:solidFill>
                  <a:srgbClr val="1A1D1B"/>
                </a:solidFill>
                <a:latin typeface="Georgia"/>
              </a:rPr>
              <a:t>SMS</a:t>
            </a:r>
          </a:p>
          <a:p>
            <a:pPr>
              <a:spcAft>
                <a:spcPts val="1000"/>
              </a:spcAft>
            </a:pPr>
            <a:r>
              <a:rPr sz="1100" b="1" spc="140">
                <a:solidFill>
                  <a:srgbClr val="0E6E63"/>
                </a:solidFill>
                <a:latin typeface="Helvetica Neue"/>
              </a:rPr>
              <a:t>MOOLRE</a:t>
            </a:r>
          </a:p>
          <a:p>
            <a:pPr>
              <a:lnSpc>
                <a:spcPct val="145000"/>
              </a:lnSpc>
              <a:spcAft>
                <a:spcPts val="0"/>
              </a:spcAft>
            </a:pPr>
            <a:r>
              <a:rPr sz="1400" b="0">
                <a:solidFill>
                  <a:srgbClr val="6F6D66"/>
                </a:solidFill>
                <a:latin typeface="Helvetica Neue"/>
              </a:rPr>
              <a:t>Push warnings to a district when risk crosses the threshold, for people who never open anything.</a:t>
            </a:r>
          </a:p>
        </p:txBody>
      </p:sp>
      <p:sp>
        <p:nvSpPr>
          <p:cNvPr id="7" name="Rectangle 6"/>
          <p:cNvSpPr/>
          <p:nvPr/>
        </p:nvSpPr>
        <p:spPr>
          <a:xfrm>
            <a:off x="777240" y="521208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440680"/>
            <a:ext cx="3566160" cy="822960"/>
          </a:xfrm>
          <a:prstGeom prst="rect">
            <a:avLst/>
          </a:prstGeom>
          <a:noFill/>
        </p:spPr>
        <p:txBody>
          <a:bodyPr wrap="square">
            <a:spAutoFit/>
          </a:bodyPr>
          <a:lstStyle/>
          <a:p>
            <a:pPr algn="l">
              <a:spcAft>
                <a:spcPts val="200"/>
              </a:spcAft>
            </a:pPr>
            <a:r>
              <a:rPr sz="2600" b="0">
                <a:solidFill>
                  <a:srgbClr val="0E6E63"/>
                </a:solidFill>
                <a:latin typeface="Georgia"/>
              </a:rPr>
              <a:t>38.3m</a:t>
            </a:r>
          </a:p>
          <a:p>
            <a:pPr>
              <a:lnSpc>
                <a:spcPct val="130000"/>
              </a:lnSpc>
              <a:spcAft>
                <a:spcPts val="0"/>
              </a:spcAft>
            </a:pPr>
            <a:r>
              <a:rPr sz="1200" b="0">
                <a:solidFill>
                  <a:srgbClr val="6F6D66"/>
                </a:solidFill>
                <a:latin typeface="Helvetica Neue"/>
              </a:rPr>
              <a:t>mobile connections, 110% of the population</a:t>
            </a:r>
          </a:p>
        </p:txBody>
      </p:sp>
      <p:sp>
        <p:nvSpPr>
          <p:cNvPr id="9" name="TextBox 8"/>
          <p:cNvSpPr txBox="1"/>
          <p:nvPr/>
        </p:nvSpPr>
        <p:spPr>
          <a:xfrm>
            <a:off x="4343400" y="5440680"/>
            <a:ext cx="3566160" cy="822960"/>
          </a:xfrm>
          <a:prstGeom prst="rect">
            <a:avLst/>
          </a:prstGeom>
          <a:noFill/>
        </p:spPr>
        <p:txBody>
          <a:bodyPr wrap="square">
            <a:spAutoFit/>
          </a:bodyPr>
          <a:lstStyle/>
          <a:p>
            <a:pPr algn="l">
              <a:spcAft>
                <a:spcPts val="200"/>
              </a:spcAft>
            </a:pPr>
            <a:r>
              <a:rPr sz="2600" b="0">
                <a:solidFill>
                  <a:srgbClr val="0E6E63"/>
                </a:solidFill>
                <a:latin typeface="Georgia"/>
              </a:rPr>
              <a:t>69.9%</a:t>
            </a:r>
          </a:p>
          <a:p>
            <a:pPr>
              <a:lnSpc>
                <a:spcPct val="130000"/>
              </a:lnSpc>
              <a:spcAft>
                <a:spcPts val="0"/>
              </a:spcAft>
            </a:pPr>
            <a:r>
              <a:rPr sz="1200" b="0">
                <a:solidFill>
                  <a:srgbClr val="6F6D66"/>
                </a:solidFill>
                <a:latin typeface="Helvetica Neue"/>
              </a:rPr>
              <a:t>use the internet, so three in ten do not</a:t>
            </a:r>
          </a:p>
        </p:txBody>
      </p:sp>
      <p:sp>
        <p:nvSpPr>
          <p:cNvPr id="10" name="TextBox 9"/>
          <p:cNvSpPr txBox="1"/>
          <p:nvPr/>
        </p:nvSpPr>
        <p:spPr>
          <a:xfrm>
            <a:off x="7909560" y="5440680"/>
            <a:ext cx="3566160" cy="822960"/>
          </a:xfrm>
          <a:prstGeom prst="rect">
            <a:avLst/>
          </a:prstGeom>
          <a:noFill/>
        </p:spPr>
        <p:txBody>
          <a:bodyPr wrap="square">
            <a:spAutoFit/>
          </a:bodyPr>
          <a:lstStyle/>
          <a:p>
            <a:pPr algn="l">
              <a:spcAft>
                <a:spcPts val="200"/>
              </a:spcAft>
            </a:pPr>
            <a:r>
              <a:rPr sz="2600" b="0">
                <a:solidFill>
                  <a:srgbClr val="0E6E63"/>
                </a:solidFill>
                <a:latin typeface="Georgia"/>
              </a:rPr>
              <a:t>0 kb</a:t>
            </a:r>
          </a:p>
          <a:p>
            <a:pPr>
              <a:lnSpc>
                <a:spcPct val="130000"/>
              </a:lnSpc>
              <a:spcAft>
                <a:spcPts val="0"/>
              </a:spcAft>
            </a:pPr>
            <a:r>
              <a:rPr sz="1200" b="0">
                <a:solidFill>
                  <a:srgbClr val="6F6D66"/>
                </a:solidFill>
                <a:latin typeface="Helvetica Neue"/>
              </a:rPr>
              <a:t>of data needed to dial the USSD shortcode</a:t>
            </a:r>
          </a:p>
        </p:txBody>
      </p:sp>
      <p:sp>
        <p:nvSpPr>
          <p:cNvPr id="11" name="TextBox 10"/>
          <p:cNvSpPr txBox="1"/>
          <p:nvPr/>
        </p:nvSpPr>
        <p:spPr>
          <a:xfrm>
            <a:off x="777240" y="6355080"/>
            <a:ext cx="10637215" cy="320040"/>
          </a:xfrm>
          <a:prstGeom prst="rect">
            <a:avLst/>
          </a:prstGeom>
          <a:noFill/>
        </p:spPr>
        <p:txBody>
          <a:bodyPr wrap="square">
            <a:spAutoFit/>
          </a:bodyPr>
          <a:lstStyle/>
          <a:p>
            <a:pPr algn="l">
              <a:spcAft>
                <a:spcPts val="0"/>
              </a:spcAft>
            </a:pPr>
            <a:r>
              <a:rPr sz="1000" b="0">
                <a:solidFill>
                  <a:srgbClr val="A8A59E"/>
                </a:solidFill>
                <a:latin typeface="Helvetica Neue"/>
              </a:rPr>
              <a:t>GSMA Intelligence / DataReportal, Digital 2025 Ghana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WHAT YOU ASKED US LAST TIME</a:t>
            </a:r>
          </a:p>
        </p:txBody>
      </p:sp>
      <p:sp>
        <p:nvSpPr>
          <p:cNvPr id="3" name="TextBox 2"/>
          <p:cNvSpPr txBox="1"/>
          <p:nvPr/>
        </p:nvSpPr>
        <p:spPr>
          <a:xfrm>
            <a:off x="777240" y="960120"/>
            <a:ext cx="10607040" cy="640080"/>
          </a:xfrm>
          <a:prstGeom prst="rect">
            <a:avLst/>
          </a:prstGeom>
          <a:noFill/>
        </p:spPr>
        <p:txBody>
          <a:bodyPr wrap="square">
            <a:spAutoFit/>
          </a:bodyPr>
          <a:lstStyle/>
          <a:p>
            <a:pPr algn="l">
              <a:spcAft>
                <a:spcPts val="0"/>
              </a:spcAft>
            </a:pPr>
            <a:r>
              <a:rPr sz="3200" b="0">
                <a:solidFill>
                  <a:srgbClr val="1A1D1B"/>
                </a:solidFill>
                <a:latin typeface="Georgia"/>
              </a:rPr>
              <a:t>Three criticisms, three answers.</a:t>
            </a:r>
          </a:p>
        </p:txBody>
      </p:sp>
      <p:sp>
        <p:nvSpPr>
          <p:cNvPr id="4" name="Rectangle 3"/>
          <p:cNvSpPr/>
          <p:nvPr/>
        </p:nvSpPr>
        <p:spPr>
          <a:xfrm>
            <a:off x="777240" y="1627632"/>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3840480" cy="1097280"/>
          </a:xfrm>
          <a:prstGeom prst="rect">
            <a:avLst/>
          </a:prstGeom>
          <a:noFill/>
        </p:spPr>
        <p:txBody>
          <a:bodyPr wrap="square">
            <a:spAutoFit/>
          </a:bodyPr>
          <a:lstStyle/>
          <a:p>
            <a:pPr algn="l">
              <a:lnSpc>
                <a:spcPct val="130000"/>
              </a:lnSpc>
              <a:spcAft>
                <a:spcPts val="0"/>
              </a:spcAft>
            </a:pPr>
            <a:r>
              <a:rPr sz="1700" b="1">
                <a:solidFill>
                  <a:srgbClr val="A32118"/>
                </a:solidFill>
                <a:latin typeface="Helvetica Neue"/>
              </a:rPr>
              <a:t>Field validation unproven</a:t>
            </a:r>
          </a:p>
        </p:txBody>
      </p:sp>
      <p:sp>
        <p:nvSpPr>
          <p:cNvPr id="6" name="TextBox 5"/>
          <p:cNvSpPr txBox="1"/>
          <p:nvPr/>
        </p:nvSpPr>
        <p:spPr>
          <a:xfrm>
            <a:off x="5029200" y="1828800"/>
            <a:ext cx="6400800" cy="1097280"/>
          </a:xfrm>
          <a:prstGeom prst="rect">
            <a:avLst/>
          </a:prstGeom>
          <a:noFill/>
        </p:spPr>
        <p:txBody>
          <a:bodyPr wrap="square">
            <a:spAutoFit/>
          </a:bodyPr>
          <a:lstStyle/>
          <a:p>
            <a:pPr algn="l">
              <a:lnSpc>
                <a:spcPct val="145000"/>
              </a:lnSpc>
              <a:spcAft>
                <a:spcPts val="0"/>
              </a:spcAft>
            </a:pPr>
            <a:r>
              <a:rPr sz="1500" b="0">
                <a:solidFill>
                  <a:srgbClr val="1A1D1B"/>
                </a:solidFill>
                <a:latin typeface="Helvetica Neue"/>
              </a:rPr>
              <a:t>Ɔhwɛfoɔ role: an officer stands where the report was filed and confirms it before any agency spends a truck. Every validation is signed and timestamped.</a:t>
            </a:r>
          </a:p>
        </p:txBody>
      </p:sp>
      <p:sp>
        <p:nvSpPr>
          <p:cNvPr id="7" name="Rectangle 6"/>
          <p:cNvSpPr/>
          <p:nvPr/>
        </p:nvSpPr>
        <p:spPr>
          <a:xfrm>
            <a:off x="777240" y="3044952"/>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46120"/>
            <a:ext cx="3840480" cy="1097280"/>
          </a:xfrm>
          <a:prstGeom prst="rect">
            <a:avLst/>
          </a:prstGeom>
          <a:noFill/>
        </p:spPr>
        <p:txBody>
          <a:bodyPr wrap="square">
            <a:spAutoFit/>
          </a:bodyPr>
          <a:lstStyle/>
          <a:p>
            <a:pPr algn="l">
              <a:lnSpc>
                <a:spcPct val="130000"/>
              </a:lnSpc>
              <a:spcAft>
                <a:spcPts val="0"/>
              </a:spcAft>
            </a:pPr>
            <a:r>
              <a:rPr sz="1700" b="1">
                <a:solidFill>
                  <a:srgbClr val="A32118"/>
                </a:solidFill>
                <a:latin typeface="Helvetica Neue"/>
              </a:rPr>
              <a:t>Institutional integration unproven</a:t>
            </a:r>
          </a:p>
        </p:txBody>
      </p:sp>
      <p:sp>
        <p:nvSpPr>
          <p:cNvPr id="9" name="TextBox 8"/>
          <p:cNvSpPr txBox="1"/>
          <p:nvPr/>
        </p:nvSpPr>
        <p:spPr>
          <a:xfrm>
            <a:off x="5029200" y="3246120"/>
            <a:ext cx="6400800" cy="1097280"/>
          </a:xfrm>
          <a:prstGeom prst="rect">
            <a:avLst/>
          </a:prstGeom>
          <a:noFill/>
        </p:spPr>
        <p:txBody>
          <a:bodyPr wrap="square">
            <a:spAutoFit/>
          </a:bodyPr>
          <a:lstStyle/>
          <a:p>
            <a:pPr algn="l">
              <a:lnSpc>
                <a:spcPct val="145000"/>
              </a:lnSpc>
              <a:spcAft>
                <a:spcPts val="0"/>
              </a:spcAft>
            </a:pPr>
            <a:r>
              <a:rPr sz="1500" b="0">
                <a:solidFill>
                  <a:srgbClr val="1A1D1B"/>
                </a:solidFill>
                <a:latin typeface="Helvetica Neue"/>
              </a:rPr>
              <a:t>Reports move through named agency stages with a permission model. Role-scoped views for GHS, EPA, GMet, NADMO and the District Assembly.</a:t>
            </a:r>
          </a:p>
        </p:txBody>
      </p:sp>
      <p:sp>
        <p:nvSpPr>
          <p:cNvPr id="10" name="Rectangle 9"/>
          <p:cNvSpPr/>
          <p:nvPr/>
        </p:nvSpPr>
        <p:spPr>
          <a:xfrm>
            <a:off x="777240" y="4462272"/>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663440"/>
            <a:ext cx="3840480" cy="1097280"/>
          </a:xfrm>
          <a:prstGeom prst="rect">
            <a:avLst/>
          </a:prstGeom>
          <a:noFill/>
        </p:spPr>
        <p:txBody>
          <a:bodyPr wrap="square">
            <a:spAutoFit/>
          </a:bodyPr>
          <a:lstStyle/>
          <a:p>
            <a:pPr algn="l">
              <a:lnSpc>
                <a:spcPct val="130000"/>
              </a:lnSpc>
              <a:spcAft>
                <a:spcPts val="0"/>
              </a:spcAft>
            </a:pPr>
            <a:r>
              <a:rPr sz="1700" b="1">
                <a:solidFill>
                  <a:srgbClr val="A32118"/>
                </a:solidFill>
                <a:latin typeface="Helvetica Neue"/>
              </a:rPr>
              <a:t>Reward feasibility unproven</a:t>
            </a:r>
          </a:p>
        </p:txBody>
      </p:sp>
      <p:sp>
        <p:nvSpPr>
          <p:cNvPr id="12" name="TextBox 11"/>
          <p:cNvSpPr txBox="1"/>
          <p:nvPr/>
        </p:nvSpPr>
        <p:spPr>
          <a:xfrm>
            <a:off x="5029200" y="4663440"/>
            <a:ext cx="6400800" cy="1097280"/>
          </a:xfrm>
          <a:prstGeom prst="rect">
            <a:avLst/>
          </a:prstGeom>
          <a:noFill/>
        </p:spPr>
        <p:txBody>
          <a:bodyPr wrap="square">
            <a:spAutoFit/>
          </a:bodyPr>
          <a:lstStyle/>
          <a:p>
            <a:pPr algn="l">
              <a:lnSpc>
                <a:spcPct val="145000"/>
              </a:lnSpc>
              <a:spcAft>
                <a:spcPts val="0"/>
              </a:spcAft>
            </a:pPr>
            <a:r>
              <a:rPr sz="1500" b="0">
                <a:solidFill>
                  <a:srgbClr val="1A1D1B"/>
                </a:solidFill>
                <a:latin typeface="Helvetica Neue"/>
              </a:rPr>
              <a:t>Cash removed. Points buy NHIS cover priced against the real GHS 7.20-48 premium band, issued by Ghana Health Service, not by 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1051560"/>
            <a:ext cx="10607040" cy="2194560"/>
          </a:xfrm>
          <a:prstGeom prst="rect">
            <a:avLst/>
          </a:prstGeom>
          <a:noFill/>
        </p:spPr>
        <p:txBody>
          <a:bodyPr wrap="square">
            <a:spAutoFit/>
          </a:bodyPr>
          <a:lstStyle/>
          <a:p>
            <a:pPr algn="l">
              <a:spcAft>
                <a:spcPts val="1800"/>
              </a:spcAft>
            </a:pPr>
            <a:r>
              <a:rPr sz="1200" b="1" spc="220">
                <a:solidFill>
                  <a:srgbClr val="0E6E63"/>
                </a:solidFill>
                <a:latin typeface="Helvetica Neue"/>
              </a:rPr>
              <a:t>CLIMAHEALTH PREDICT</a:t>
            </a:r>
          </a:p>
          <a:p>
            <a:pPr>
              <a:lnSpc>
                <a:spcPct val="110000"/>
              </a:lnSpc>
              <a:spcAft>
                <a:spcPts val="200"/>
              </a:spcAft>
            </a:pPr>
            <a:r>
              <a:rPr sz="3400" b="0">
                <a:solidFill>
                  <a:srgbClr val="1A1D1B"/>
                </a:solidFill>
                <a:latin typeface="Georgia"/>
              </a:rPr>
              <a:t>The climate signal is already there.</a:t>
            </a:r>
          </a:p>
          <a:p>
            <a:pPr>
              <a:lnSpc>
                <a:spcPct val="110000"/>
              </a:lnSpc>
              <a:spcAft>
                <a:spcPts val="200"/>
              </a:spcAft>
            </a:pPr>
            <a:r>
              <a:rPr sz="3400" b="0">
                <a:solidFill>
                  <a:srgbClr val="1A1D1B"/>
                </a:solidFill>
                <a:latin typeface="Georgia"/>
              </a:rPr>
              <a:t>We turn it into a warning</a:t>
            </a:r>
          </a:p>
          <a:p>
            <a:pPr>
              <a:lnSpc>
                <a:spcPct val="110000"/>
              </a:lnSpc>
              <a:spcAft>
                <a:spcPts val="0"/>
              </a:spcAft>
            </a:pPr>
            <a:r>
              <a:rPr sz="3400" b="0">
                <a:solidFill>
                  <a:srgbClr val="0E6E63"/>
                </a:solidFill>
                <a:latin typeface="Georgia"/>
              </a:rPr>
              <a:t>somebody can act on.</a:t>
            </a:r>
          </a:p>
        </p:txBody>
      </p:sp>
      <p:sp>
        <p:nvSpPr>
          <p:cNvPr id="3" name="Rectangle 2"/>
          <p:cNvSpPr/>
          <p:nvPr/>
        </p:nvSpPr>
        <p:spPr>
          <a:xfrm>
            <a:off x="777240" y="342900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11880"/>
            <a:ext cx="2606040" cy="868680"/>
          </a:xfrm>
          <a:prstGeom prst="rect">
            <a:avLst/>
          </a:prstGeom>
          <a:noFill/>
        </p:spPr>
        <p:txBody>
          <a:bodyPr wrap="square">
            <a:spAutoFit/>
          </a:bodyPr>
          <a:lstStyle/>
          <a:p>
            <a:pPr algn="l">
              <a:spcAft>
                <a:spcPts val="200"/>
              </a:spcAft>
            </a:pPr>
            <a:r>
              <a:rPr sz="2800" b="0">
                <a:solidFill>
                  <a:srgbClr val="0E6E63"/>
                </a:solidFill>
                <a:latin typeface="Georgia"/>
              </a:rPr>
              <a:t>260</a:t>
            </a:r>
          </a:p>
          <a:p>
            <a:pPr>
              <a:lnSpc>
                <a:spcPct val="130000"/>
              </a:lnSpc>
              <a:spcAft>
                <a:spcPts val="0"/>
              </a:spcAft>
            </a:pPr>
            <a:r>
              <a:rPr sz="1200" b="0">
                <a:solidFill>
                  <a:srgbClr val="6F6D66"/>
                </a:solidFill>
                <a:latin typeface="Helvetica Neue"/>
              </a:rPr>
              <a:t>districts evaluated daily</a:t>
            </a:r>
          </a:p>
        </p:txBody>
      </p:sp>
      <p:sp>
        <p:nvSpPr>
          <p:cNvPr id="5" name="TextBox 4"/>
          <p:cNvSpPr txBox="1"/>
          <p:nvPr/>
        </p:nvSpPr>
        <p:spPr>
          <a:xfrm>
            <a:off x="3566160" y="3611880"/>
            <a:ext cx="2606040" cy="868680"/>
          </a:xfrm>
          <a:prstGeom prst="rect">
            <a:avLst/>
          </a:prstGeom>
          <a:noFill/>
        </p:spPr>
        <p:txBody>
          <a:bodyPr wrap="square">
            <a:spAutoFit/>
          </a:bodyPr>
          <a:lstStyle/>
          <a:p>
            <a:pPr algn="l">
              <a:spcAft>
                <a:spcPts val="200"/>
              </a:spcAft>
            </a:pPr>
            <a:r>
              <a:rPr sz="2800" b="0">
                <a:solidFill>
                  <a:srgbClr val="0E6E63"/>
                </a:solidFill>
                <a:latin typeface="Georgia"/>
              </a:rPr>
              <a:t>5</a:t>
            </a:r>
          </a:p>
          <a:p>
            <a:pPr>
              <a:lnSpc>
                <a:spcPct val="130000"/>
              </a:lnSpc>
              <a:spcAft>
                <a:spcPts val="0"/>
              </a:spcAft>
            </a:pPr>
            <a:r>
              <a:rPr sz="1200" b="0">
                <a:solidFill>
                  <a:srgbClr val="6F6D66"/>
                </a:solidFill>
                <a:latin typeface="Helvetica Neue"/>
              </a:rPr>
              <a:t>disease pathways, explainable</a:t>
            </a:r>
          </a:p>
        </p:txBody>
      </p:sp>
      <p:sp>
        <p:nvSpPr>
          <p:cNvPr id="6" name="TextBox 5"/>
          <p:cNvSpPr txBox="1"/>
          <p:nvPr/>
        </p:nvSpPr>
        <p:spPr>
          <a:xfrm>
            <a:off x="6355080" y="3611880"/>
            <a:ext cx="2606040" cy="868680"/>
          </a:xfrm>
          <a:prstGeom prst="rect">
            <a:avLst/>
          </a:prstGeom>
          <a:noFill/>
        </p:spPr>
        <p:txBody>
          <a:bodyPr wrap="square">
            <a:spAutoFit/>
          </a:bodyPr>
          <a:lstStyle/>
          <a:p>
            <a:pPr algn="l">
              <a:spcAft>
                <a:spcPts val="200"/>
              </a:spcAft>
            </a:pPr>
            <a:r>
              <a:rPr sz="2800" b="0">
                <a:solidFill>
                  <a:srgbClr val="0E6E63"/>
                </a:solidFill>
                <a:latin typeface="Georgia"/>
              </a:rPr>
              <a:t>3</a:t>
            </a:r>
          </a:p>
          <a:p>
            <a:pPr>
              <a:lnSpc>
                <a:spcPct val="130000"/>
              </a:lnSpc>
              <a:spcAft>
                <a:spcPts val="0"/>
              </a:spcAft>
            </a:pPr>
            <a:r>
              <a:rPr sz="1200" b="0">
                <a:solidFill>
                  <a:srgbClr val="6F6D66"/>
                </a:solidFill>
                <a:latin typeface="Helvetica Neue"/>
              </a:rPr>
              <a:t>ways in: app, USSD, SMS</a:t>
            </a:r>
          </a:p>
        </p:txBody>
      </p:sp>
      <p:sp>
        <p:nvSpPr>
          <p:cNvPr id="7" name="TextBox 6"/>
          <p:cNvSpPr txBox="1"/>
          <p:nvPr/>
        </p:nvSpPr>
        <p:spPr>
          <a:xfrm>
            <a:off x="9144000" y="3611880"/>
            <a:ext cx="2606040" cy="868680"/>
          </a:xfrm>
          <a:prstGeom prst="rect">
            <a:avLst/>
          </a:prstGeom>
          <a:noFill/>
        </p:spPr>
        <p:txBody>
          <a:bodyPr wrap="square">
            <a:spAutoFit/>
          </a:bodyPr>
          <a:lstStyle/>
          <a:p>
            <a:pPr algn="l">
              <a:spcAft>
                <a:spcPts val="200"/>
              </a:spcAft>
            </a:pPr>
            <a:r>
              <a:rPr sz="2800" b="0">
                <a:solidFill>
                  <a:srgbClr val="0E6E63"/>
                </a:solidFill>
                <a:latin typeface="Georgia"/>
              </a:rPr>
              <a:t>963</a:t>
            </a:r>
          </a:p>
          <a:p>
            <a:pPr>
              <a:lnSpc>
                <a:spcPct val="130000"/>
              </a:lnSpc>
              <a:spcAft>
                <a:spcPts val="0"/>
              </a:spcAft>
            </a:pPr>
            <a:r>
              <a:rPr sz="1200" b="0">
                <a:solidFill>
                  <a:srgbClr val="6F6D66"/>
                </a:solidFill>
                <a:latin typeface="Helvetica Neue"/>
              </a:rPr>
              <a:t>tests passing</a:t>
            </a:r>
          </a:p>
        </p:txBody>
      </p:sp>
      <p:sp>
        <p:nvSpPr>
          <p:cNvPr id="8" name="Rectangle 7"/>
          <p:cNvSpPr/>
          <p:nvPr/>
        </p:nvSpPr>
        <p:spPr>
          <a:xfrm>
            <a:off x="777240" y="470916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937760"/>
            <a:ext cx="10607040" cy="1645920"/>
          </a:xfrm>
          <a:prstGeom prst="rect">
            <a:avLst/>
          </a:prstGeom>
          <a:noFill/>
        </p:spPr>
        <p:txBody>
          <a:bodyPr wrap="square">
            <a:spAutoFit/>
          </a:bodyPr>
          <a:lstStyle/>
          <a:p>
            <a:pPr algn="l">
              <a:spcAft>
                <a:spcPts val="1000"/>
              </a:spcAft>
            </a:pPr>
            <a:r>
              <a:rPr sz="1100" b="1" spc="160">
                <a:solidFill>
                  <a:srgbClr val="6F6D66"/>
                </a:solidFill>
                <a:latin typeface="Helvetica Neue"/>
              </a:rPr>
              <a:t>WHAT WE ARE ASKING FOR</a:t>
            </a:r>
          </a:p>
          <a:p>
            <a:pPr>
              <a:lnSpc>
                <a:spcPct val="140000"/>
              </a:lnSpc>
              <a:spcAft>
                <a:spcPts val="800"/>
              </a:spcAft>
            </a:pPr>
            <a:r>
              <a:rPr sz="1700" b="0">
                <a:solidFill>
                  <a:srgbClr val="1A1D1B"/>
                </a:solidFill>
                <a:latin typeface="Helvetica Neue"/>
              </a:rPr>
              <a:t>One district and one season. Give us Madina and a Ghana Health Service link, and we will run the engine against DHIMS2 case records for a full season to show how early the warning actually was.</a:t>
            </a:r>
          </a:p>
          <a:p>
            <a:pPr>
              <a:lnSpc>
                <a:spcPct val="140000"/>
              </a:lnSpc>
              <a:spcAft>
                <a:spcPts val="0"/>
              </a:spcAft>
            </a:pPr>
            <a:r>
              <a:rPr sz="1400" b="0">
                <a:solidFill>
                  <a:srgbClr val="6F6D66"/>
                </a:solidFill>
                <a:latin typeface="Helvetica Neue"/>
              </a:rPr>
              <a:t>That is the one thing standing between a defensible model and a validated one, and it is the only thing we cannot build ourselves.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SOURCES</a:t>
            </a:r>
          </a:p>
        </p:txBody>
      </p:sp>
      <p:sp>
        <p:nvSpPr>
          <p:cNvPr id="3" name="TextBox 2"/>
          <p:cNvSpPr txBox="1"/>
          <p:nvPr/>
        </p:nvSpPr>
        <p:spPr>
          <a:xfrm>
            <a:off x="777240" y="960120"/>
            <a:ext cx="10607040" cy="640080"/>
          </a:xfrm>
          <a:prstGeom prst="rect">
            <a:avLst/>
          </a:prstGeom>
          <a:noFill/>
        </p:spPr>
        <p:txBody>
          <a:bodyPr wrap="square">
            <a:spAutoFit/>
          </a:bodyPr>
          <a:lstStyle/>
          <a:p>
            <a:pPr algn="l">
              <a:spcAft>
                <a:spcPts val="0"/>
              </a:spcAft>
            </a:pPr>
            <a:r>
              <a:rPr sz="3000" b="0">
                <a:solidFill>
                  <a:srgbClr val="1A1D1B"/>
                </a:solidFill>
                <a:latin typeface="Georgia"/>
              </a:rPr>
              <a:t>Where the numbers come from.</a:t>
            </a:r>
          </a:p>
        </p:txBody>
      </p:sp>
      <p:sp>
        <p:nvSpPr>
          <p:cNvPr id="4" name="Rectangle 3"/>
          <p:cNvSpPr/>
          <p:nvPr/>
        </p:nvSpPr>
        <p:spPr>
          <a:xfrm>
            <a:off x="777240" y="1581912"/>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2651760" cy="566928"/>
          </a:xfrm>
          <a:prstGeom prst="rect">
            <a:avLst/>
          </a:prstGeom>
          <a:noFill/>
        </p:spPr>
        <p:txBody>
          <a:bodyPr wrap="square">
            <a:spAutoFit/>
          </a:bodyPr>
          <a:lstStyle/>
          <a:p>
            <a:pPr algn="l">
              <a:spcAft>
                <a:spcPts val="0"/>
              </a:spcAft>
            </a:pPr>
            <a:r>
              <a:rPr sz="1300" b="1">
                <a:solidFill>
                  <a:srgbClr val="1A1D1B"/>
                </a:solidFill>
                <a:latin typeface="Helvetica Neue"/>
              </a:rPr>
              <a:t>Malaria burden</a:t>
            </a:r>
          </a:p>
        </p:txBody>
      </p:sp>
      <p:sp>
        <p:nvSpPr>
          <p:cNvPr id="6" name="TextBox 5"/>
          <p:cNvSpPr txBox="1"/>
          <p:nvPr/>
        </p:nvSpPr>
        <p:spPr>
          <a:xfrm>
            <a:off x="3566160" y="1691640"/>
            <a:ext cx="4663440" cy="566928"/>
          </a:xfrm>
          <a:prstGeom prst="rect">
            <a:avLst/>
          </a:prstGeom>
          <a:noFill/>
        </p:spPr>
        <p:txBody>
          <a:bodyPr wrap="square">
            <a:spAutoFit/>
          </a:bodyPr>
          <a:lstStyle/>
          <a:p>
            <a:pPr algn="l">
              <a:lnSpc>
                <a:spcPct val="130000"/>
              </a:lnSpc>
              <a:spcAft>
                <a:spcPts val="0"/>
              </a:spcAft>
            </a:pPr>
            <a:r>
              <a:rPr sz="1200" b="0">
                <a:solidFill>
                  <a:srgbClr val="6F6D66"/>
                </a:solidFill>
                <a:latin typeface="Helvetica Neue"/>
              </a:rPr>
              <a:t>6.7m cases and 11,635 deaths in Ghana, 2024</a:t>
            </a:r>
          </a:p>
        </p:txBody>
      </p:sp>
      <p:sp>
        <p:nvSpPr>
          <p:cNvPr id="7" name="TextBox 6"/>
          <p:cNvSpPr txBox="1"/>
          <p:nvPr/>
        </p:nvSpPr>
        <p:spPr>
          <a:xfrm>
            <a:off x="8503920" y="1691640"/>
            <a:ext cx="3017520" cy="566928"/>
          </a:xfrm>
          <a:prstGeom prst="rect">
            <a:avLst/>
          </a:prstGeom>
          <a:noFill/>
        </p:spPr>
        <p:txBody>
          <a:bodyPr wrap="square">
            <a:spAutoFit/>
          </a:bodyPr>
          <a:lstStyle/>
          <a:p>
            <a:pPr algn="l">
              <a:lnSpc>
                <a:spcPct val="130000"/>
              </a:lnSpc>
              <a:spcAft>
                <a:spcPts val="0"/>
              </a:spcAft>
            </a:pPr>
            <a:r>
              <a:rPr sz="1100" b="0">
                <a:solidFill>
                  <a:srgbClr val="0E6E63"/>
                </a:solidFill>
                <a:latin typeface="Helvetica Neue"/>
              </a:rPr>
              <a:t>WHO, World Malaria Report 2024</a:t>
            </a:r>
          </a:p>
        </p:txBody>
      </p:sp>
      <p:sp>
        <p:nvSpPr>
          <p:cNvPr id="8" name="Rectangle 7"/>
          <p:cNvSpPr/>
          <p:nvPr/>
        </p:nvSpPr>
        <p:spPr>
          <a:xfrm>
            <a:off x="777240" y="2249424"/>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59152"/>
            <a:ext cx="2651760" cy="566928"/>
          </a:xfrm>
          <a:prstGeom prst="rect">
            <a:avLst/>
          </a:prstGeom>
          <a:noFill/>
        </p:spPr>
        <p:txBody>
          <a:bodyPr wrap="square">
            <a:spAutoFit/>
          </a:bodyPr>
          <a:lstStyle/>
          <a:p>
            <a:pPr algn="l">
              <a:spcAft>
                <a:spcPts val="0"/>
              </a:spcAft>
            </a:pPr>
            <a:r>
              <a:rPr sz="1300" b="1">
                <a:solidFill>
                  <a:srgbClr val="1A1D1B"/>
                </a:solidFill>
                <a:latin typeface="Helvetica Neue"/>
              </a:rPr>
              <a:t>NHIS coverage</a:t>
            </a:r>
          </a:p>
        </p:txBody>
      </p:sp>
      <p:sp>
        <p:nvSpPr>
          <p:cNvPr id="10" name="TextBox 9"/>
          <p:cNvSpPr txBox="1"/>
          <p:nvPr/>
        </p:nvSpPr>
        <p:spPr>
          <a:xfrm>
            <a:off x="3566160" y="2359152"/>
            <a:ext cx="4663440" cy="566928"/>
          </a:xfrm>
          <a:prstGeom prst="rect">
            <a:avLst/>
          </a:prstGeom>
          <a:noFill/>
        </p:spPr>
        <p:txBody>
          <a:bodyPr wrap="square">
            <a:spAutoFit/>
          </a:bodyPr>
          <a:lstStyle/>
          <a:p>
            <a:pPr algn="l">
              <a:lnSpc>
                <a:spcPct val="130000"/>
              </a:lnSpc>
              <a:spcAft>
                <a:spcPts val="0"/>
              </a:spcAft>
            </a:pPr>
            <a:r>
              <a:rPr sz="1200" b="0">
                <a:solidFill>
                  <a:srgbClr val="6F6D66"/>
                </a:solidFill>
                <a:latin typeface="Helvetica Neue"/>
              </a:rPr>
              <a:t>18.5m active members, about 56% of the population</a:t>
            </a:r>
          </a:p>
        </p:txBody>
      </p:sp>
      <p:sp>
        <p:nvSpPr>
          <p:cNvPr id="11" name="TextBox 10"/>
          <p:cNvSpPr txBox="1"/>
          <p:nvPr/>
        </p:nvSpPr>
        <p:spPr>
          <a:xfrm>
            <a:off x="8503920" y="2359152"/>
            <a:ext cx="3017520" cy="566928"/>
          </a:xfrm>
          <a:prstGeom prst="rect">
            <a:avLst/>
          </a:prstGeom>
          <a:noFill/>
        </p:spPr>
        <p:txBody>
          <a:bodyPr wrap="square">
            <a:spAutoFit/>
          </a:bodyPr>
          <a:lstStyle/>
          <a:p>
            <a:pPr algn="l">
              <a:lnSpc>
                <a:spcPct val="130000"/>
              </a:lnSpc>
              <a:spcAft>
                <a:spcPts val="0"/>
              </a:spcAft>
            </a:pPr>
            <a:r>
              <a:rPr sz="1100" b="0">
                <a:solidFill>
                  <a:srgbClr val="0E6E63"/>
                </a:solidFill>
                <a:latin typeface="Helvetica Neue"/>
              </a:rPr>
              <a:t>National Health Insurance Authority, 2025</a:t>
            </a:r>
          </a:p>
        </p:txBody>
      </p:sp>
      <p:sp>
        <p:nvSpPr>
          <p:cNvPr id="12" name="Rectangle 11"/>
          <p:cNvSpPr/>
          <p:nvPr/>
        </p:nvSpPr>
        <p:spPr>
          <a:xfrm>
            <a:off x="777240" y="2916936"/>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26664"/>
            <a:ext cx="2651760" cy="566928"/>
          </a:xfrm>
          <a:prstGeom prst="rect">
            <a:avLst/>
          </a:prstGeom>
          <a:noFill/>
        </p:spPr>
        <p:txBody>
          <a:bodyPr wrap="square">
            <a:spAutoFit/>
          </a:bodyPr>
          <a:lstStyle/>
          <a:p>
            <a:pPr algn="l">
              <a:spcAft>
                <a:spcPts val="0"/>
              </a:spcAft>
            </a:pPr>
            <a:r>
              <a:rPr sz="1300" b="1">
                <a:solidFill>
                  <a:srgbClr val="1A1D1B"/>
                </a:solidFill>
                <a:latin typeface="Helvetica Neue"/>
              </a:rPr>
              <a:t>NHIS premium</a:t>
            </a:r>
          </a:p>
        </p:txBody>
      </p:sp>
      <p:sp>
        <p:nvSpPr>
          <p:cNvPr id="14" name="TextBox 13"/>
          <p:cNvSpPr txBox="1"/>
          <p:nvPr/>
        </p:nvSpPr>
        <p:spPr>
          <a:xfrm>
            <a:off x="3566160" y="3026664"/>
            <a:ext cx="4663440" cy="566928"/>
          </a:xfrm>
          <a:prstGeom prst="rect">
            <a:avLst/>
          </a:prstGeom>
          <a:noFill/>
        </p:spPr>
        <p:txBody>
          <a:bodyPr wrap="square">
            <a:spAutoFit/>
          </a:bodyPr>
          <a:lstStyle/>
          <a:p>
            <a:pPr algn="l">
              <a:lnSpc>
                <a:spcPct val="130000"/>
              </a:lnSpc>
              <a:spcAft>
                <a:spcPts val="0"/>
              </a:spcAft>
            </a:pPr>
            <a:r>
              <a:rPr sz="1200" b="0">
                <a:solidFill>
                  <a:srgbClr val="6F6D66"/>
                </a:solidFill>
                <a:latin typeface="Helvetica Neue"/>
              </a:rPr>
              <a:t>GHS 7.20 to 48 a year by income band; GHS 30 to 50 informal</a:t>
            </a:r>
          </a:p>
        </p:txBody>
      </p:sp>
      <p:sp>
        <p:nvSpPr>
          <p:cNvPr id="15" name="TextBox 14"/>
          <p:cNvSpPr txBox="1"/>
          <p:nvPr/>
        </p:nvSpPr>
        <p:spPr>
          <a:xfrm>
            <a:off x="8503920" y="3026664"/>
            <a:ext cx="3017520" cy="566928"/>
          </a:xfrm>
          <a:prstGeom prst="rect">
            <a:avLst/>
          </a:prstGeom>
          <a:noFill/>
        </p:spPr>
        <p:txBody>
          <a:bodyPr wrap="square">
            <a:spAutoFit/>
          </a:bodyPr>
          <a:lstStyle/>
          <a:p>
            <a:pPr algn="l">
              <a:lnSpc>
                <a:spcPct val="130000"/>
              </a:lnSpc>
              <a:spcAft>
                <a:spcPts val="0"/>
              </a:spcAft>
            </a:pPr>
            <a:r>
              <a:rPr sz="1100" b="0">
                <a:solidFill>
                  <a:srgbClr val="0E6E63"/>
                </a:solidFill>
                <a:latin typeface="Helvetica Neue"/>
              </a:rPr>
              <a:t>NHIA scheme documentation</a:t>
            </a:r>
          </a:p>
        </p:txBody>
      </p:sp>
      <p:sp>
        <p:nvSpPr>
          <p:cNvPr id="16" name="Rectangle 15"/>
          <p:cNvSpPr/>
          <p:nvPr/>
        </p:nvSpPr>
        <p:spPr>
          <a:xfrm>
            <a:off x="777240" y="3584448"/>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694176"/>
            <a:ext cx="2651760" cy="566928"/>
          </a:xfrm>
          <a:prstGeom prst="rect">
            <a:avLst/>
          </a:prstGeom>
          <a:noFill/>
        </p:spPr>
        <p:txBody>
          <a:bodyPr wrap="square">
            <a:spAutoFit/>
          </a:bodyPr>
          <a:lstStyle/>
          <a:p>
            <a:pPr algn="l">
              <a:spcAft>
                <a:spcPts val="0"/>
              </a:spcAft>
            </a:pPr>
            <a:r>
              <a:rPr sz="1300" b="1">
                <a:solidFill>
                  <a:srgbClr val="1A1D1B"/>
                </a:solidFill>
                <a:latin typeface="Helvetica Neue"/>
              </a:rPr>
              <a:t>Mobile reach</a:t>
            </a:r>
          </a:p>
        </p:txBody>
      </p:sp>
      <p:sp>
        <p:nvSpPr>
          <p:cNvPr id="18" name="TextBox 17"/>
          <p:cNvSpPr txBox="1"/>
          <p:nvPr/>
        </p:nvSpPr>
        <p:spPr>
          <a:xfrm>
            <a:off x="3566160" y="3694176"/>
            <a:ext cx="4663440" cy="566928"/>
          </a:xfrm>
          <a:prstGeom prst="rect">
            <a:avLst/>
          </a:prstGeom>
          <a:noFill/>
        </p:spPr>
        <p:txBody>
          <a:bodyPr wrap="square">
            <a:spAutoFit/>
          </a:bodyPr>
          <a:lstStyle/>
          <a:p>
            <a:pPr algn="l">
              <a:lnSpc>
                <a:spcPct val="130000"/>
              </a:lnSpc>
              <a:spcAft>
                <a:spcPts val="0"/>
              </a:spcAft>
            </a:pPr>
            <a:r>
              <a:rPr sz="1200" b="0">
                <a:solidFill>
                  <a:srgbClr val="6F6D66"/>
                </a:solidFill>
                <a:latin typeface="Helvetica Neue"/>
              </a:rPr>
              <a:t>38.3m connections, 110% of population; 69.9% use the internet</a:t>
            </a:r>
          </a:p>
        </p:txBody>
      </p:sp>
      <p:sp>
        <p:nvSpPr>
          <p:cNvPr id="19" name="TextBox 18"/>
          <p:cNvSpPr txBox="1"/>
          <p:nvPr/>
        </p:nvSpPr>
        <p:spPr>
          <a:xfrm>
            <a:off x="8503920" y="3694176"/>
            <a:ext cx="3017520" cy="566928"/>
          </a:xfrm>
          <a:prstGeom prst="rect">
            <a:avLst/>
          </a:prstGeom>
          <a:noFill/>
        </p:spPr>
        <p:txBody>
          <a:bodyPr wrap="square">
            <a:spAutoFit/>
          </a:bodyPr>
          <a:lstStyle/>
          <a:p>
            <a:pPr algn="l">
              <a:lnSpc>
                <a:spcPct val="130000"/>
              </a:lnSpc>
              <a:spcAft>
                <a:spcPts val="0"/>
              </a:spcAft>
            </a:pPr>
            <a:r>
              <a:rPr sz="1100" b="0">
                <a:solidFill>
                  <a:srgbClr val="0E6E63"/>
                </a:solidFill>
                <a:latin typeface="Helvetica Neue"/>
              </a:rPr>
              <a:t>GSMA Intelligence / DataReportal, Digital 2025 Ghana</a:t>
            </a:r>
          </a:p>
        </p:txBody>
      </p:sp>
      <p:sp>
        <p:nvSpPr>
          <p:cNvPr id="20" name="Rectangle 19"/>
          <p:cNvSpPr/>
          <p:nvPr/>
        </p:nvSpPr>
        <p:spPr>
          <a:xfrm>
            <a:off x="777240" y="425196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361688"/>
            <a:ext cx="2651760" cy="566928"/>
          </a:xfrm>
          <a:prstGeom prst="rect">
            <a:avLst/>
          </a:prstGeom>
          <a:noFill/>
        </p:spPr>
        <p:txBody>
          <a:bodyPr wrap="square">
            <a:spAutoFit/>
          </a:bodyPr>
          <a:lstStyle/>
          <a:p>
            <a:pPr algn="l">
              <a:spcAft>
                <a:spcPts val="0"/>
              </a:spcAft>
            </a:pPr>
            <a:r>
              <a:rPr sz="1300" b="1">
                <a:solidFill>
                  <a:srgbClr val="1A1D1B"/>
                </a:solidFill>
                <a:latin typeface="Helvetica Neue"/>
              </a:rPr>
              <a:t>Climate data</a:t>
            </a:r>
          </a:p>
        </p:txBody>
      </p:sp>
      <p:sp>
        <p:nvSpPr>
          <p:cNvPr id="22" name="TextBox 21"/>
          <p:cNvSpPr txBox="1"/>
          <p:nvPr/>
        </p:nvSpPr>
        <p:spPr>
          <a:xfrm>
            <a:off x="3566160" y="4361688"/>
            <a:ext cx="4663440" cy="566928"/>
          </a:xfrm>
          <a:prstGeom prst="rect">
            <a:avLst/>
          </a:prstGeom>
          <a:noFill/>
        </p:spPr>
        <p:txBody>
          <a:bodyPr wrap="square">
            <a:spAutoFit/>
          </a:bodyPr>
          <a:lstStyle/>
          <a:p>
            <a:pPr algn="l">
              <a:lnSpc>
                <a:spcPct val="130000"/>
              </a:lnSpc>
              <a:spcAft>
                <a:spcPts val="0"/>
              </a:spcAft>
            </a:pPr>
            <a:r>
              <a:rPr sz="1200" b="0">
                <a:solidFill>
                  <a:srgbClr val="6F6D66"/>
                </a:solidFill>
                <a:latin typeface="Helvetica Neue"/>
              </a:rPr>
              <a:t>Daily observations and forecast for all 260 districts</a:t>
            </a:r>
          </a:p>
        </p:txBody>
      </p:sp>
      <p:sp>
        <p:nvSpPr>
          <p:cNvPr id="23" name="TextBox 22"/>
          <p:cNvSpPr txBox="1"/>
          <p:nvPr/>
        </p:nvSpPr>
        <p:spPr>
          <a:xfrm>
            <a:off x="8503920" y="4361688"/>
            <a:ext cx="3017520" cy="566928"/>
          </a:xfrm>
          <a:prstGeom prst="rect">
            <a:avLst/>
          </a:prstGeom>
          <a:noFill/>
        </p:spPr>
        <p:txBody>
          <a:bodyPr wrap="square">
            <a:spAutoFit/>
          </a:bodyPr>
          <a:lstStyle/>
          <a:p>
            <a:pPr algn="l">
              <a:lnSpc>
                <a:spcPct val="130000"/>
              </a:lnSpc>
              <a:spcAft>
                <a:spcPts val="0"/>
              </a:spcAft>
            </a:pPr>
            <a:r>
              <a:rPr sz="1100" b="0">
                <a:solidFill>
                  <a:srgbClr val="0E6E63"/>
                </a:solidFill>
                <a:latin typeface="Helvetica Neue"/>
              </a:rPr>
              <a:t>Open-Meteo, live in the product</a:t>
            </a:r>
          </a:p>
        </p:txBody>
      </p:sp>
      <p:sp>
        <p:nvSpPr>
          <p:cNvPr id="24" name="Rectangle 23"/>
          <p:cNvSpPr/>
          <p:nvPr/>
        </p:nvSpPr>
        <p:spPr>
          <a:xfrm>
            <a:off x="777240" y="4919472"/>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029200"/>
            <a:ext cx="2651760" cy="566928"/>
          </a:xfrm>
          <a:prstGeom prst="rect">
            <a:avLst/>
          </a:prstGeom>
          <a:noFill/>
        </p:spPr>
        <p:txBody>
          <a:bodyPr wrap="square">
            <a:spAutoFit/>
          </a:bodyPr>
          <a:lstStyle/>
          <a:p>
            <a:pPr algn="l">
              <a:spcAft>
                <a:spcPts val="0"/>
              </a:spcAft>
            </a:pPr>
            <a:r>
              <a:rPr sz="1300" b="1">
                <a:solidFill>
                  <a:srgbClr val="1A1D1B"/>
                </a:solidFill>
                <a:latin typeface="Helvetica Neue"/>
              </a:rPr>
              <a:t>Behaviour change</a:t>
            </a:r>
          </a:p>
        </p:txBody>
      </p:sp>
      <p:sp>
        <p:nvSpPr>
          <p:cNvPr id="26" name="TextBox 25"/>
          <p:cNvSpPr txBox="1"/>
          <p:nvPr/>
        </p:nvSpPr>
        <p:spPr>
          <a:xfrm>
            <a:off x="3566160" y="5029200"/>
            <a:ext cx="4663440" cy="566928"/>
          </a:xfrm>
          <a:prstGeom prst="rect">
            <a:avLst/>
          </a:prstGeom>
          <a:noFill/>
        </p:spPr>
        <p:txBody>
          <a:bodyPr wrap="square">
            <a:spAutoFit/>
          </a:bodyPr>
          <a:lstStyle/>
          <a:p>
            <a:pPr algn="l">
              <a:lnSpc>
                <a:spcPct val="130000"/>
              </a:lnSpc>
              <a:spcAft>
                <a:spcPts val="0"/>
              </a:spcAft>
            </a:pPr>
            <a:r>
              <a:rPr sz="1200" b="0">
                <a:solidFill>
                  <a:srgbClr val="6F6D66"/>
                </a:solidFill>
                <a:latin typeface="Helvetica Neue"/>
              </a:rPr>
              <a:t>Severity, vulnerability and a doable action are all required</a:t>
            </a:r>
          </a:p>
        </p:txBody>
      </p:sp>
      <p:sp>
        <p:nvSpPr>
          <p:cNvPr id="27" name="TextBox 26"/>
          <p:cNvSpPr txBox="1"/>
          <p:nvPr/>
        </p:nvSpPr>
        <p:spPr>
          <a:xfrm>
            <a:off x="8503920" y="5029200"/>
            <a:ext cx="3017520" cy="566928"/>
          </a:xfrm>
          <a:prstGeom prst="rect">
            <a:avLst/>
          </a:prstGeom>
          <a:noFill/>
        </p:spPr>
        <p:txBody>
          <a:bodyPr wrap="square">
            <a:spAutoFit/>
          </a:bodyPr>
          <a:lstStyle/>
          <a:p>
            <a:pPr algn="l">
              <a:lnSpc>
                <a:spcPct val="130000"/>
              </a:lnSpc>
              <a:spcAft>
                <a:spcPts val="0"/>
              </a:spcAft>
            </a:pPr>
            <a:r>
              <a:rPr sz="1100" b="0">
                <a:solidFill>
                  <a:srgbClr val="0E6E63"/>
                </a:solidFill>
                <a:latin typeface="Helvetica Neue"/>
              </a:rPr>
              <a:t>Protection Motivation Theory, Rogers 1975; Health Belief Model</a:t>
            </a:r>
          </a:p>
        </p:txBody>
      </p:sp>
      <p:sp>
        <p:nvSpPr>
          <p:cNvPr id="28" name="Rectangle 27"/>
          <p:cNvSpPr/>
          <p:nvPr/>
        </p:nvSpPr>
        <p:spPr>
          <a:xfrm>
            <a:off x="777240" y="5586984"/>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96712"/>
            <a:ext cx="2651760" cy="566928"/>
          </a:xfrm>
          <a:prstGeom prst="rect">
            <a:avLst/>
          </a:prstGeom>
          <a:noFill/>
        </p:spPr>
        <p:txBody>
          <a:bodyPr wrap="square">
            <a:spAutoFit/>
          </a:bodyPr>
          <a:lstStyle/>
          <a:p>
            <a:pPr algn="l">
              <a:spcAft>
                <a:spcPts val="0"/>
              </a:spcAft>
            </a:pPr>
            <a:r>
              <a:rPr sz="1300" b="1">
                <a:solidFill>
                  <a:srgbClr val="1A1D1B"/>
                </a:solidFill>
                <a:latin typeface="Helvetica Neue"/>
              </a:rPr>
              <a:t>District boundaries</a:t>
            </a:r>
          </a:p>
        </p:txBody>
      </p:sp>
      <p:sp>
        <p:nvSpPr>
          <p:cNvPr id="30" name="TextBox 29"/>
          <p:cNvSpPr txBox="1"/>
          <p:nvPr/>
        </p:nvSpPr>
        <p:spPr>
          <a:xfrm>
            <a:off x="3566160" y="5696712"/>
            <a:ext cx="4663440" cy="566928"/>
          </a:xfrm>
          <a:prstGeom prst="rect">
            <a:avLst/>
          </a:prstGeom>
          <a:noFill/>
        </p:spPr>
        <p:txBody>
          <a:bodyPr wrap="square">
            <a:spAutoFit/>
          </a:bodyPr>
          <a:lstStyle/>
          <a:p>
            <a:pPr algn="l">
              <a:lnSpc>
                <a:spcPct val="130000"/>
              </a:lnSpc>
              <a:spcAft>
                <a:spcPts val="0"/>
              </a:spcAft>
            </a:pPr>
            <a:r>
              <a:rPr sz="1200" b="0">
                <a:solidFill>
                  <a:srgbClr val="6F6D66"/>
                </a:solidFill>
                <a:latin typeface="Helvetica Neue"/>
              </a:rPr>
              <a:t>260 district polygons drawn on the map</a:t>
            </a:r>
          </a:p>
        </p:txBody>
      </p:sp>
      <p:sp>
        <p:nvSpPr>
          <p:cNvPr id="31" name="TextBox 30"/>
          <p:cNvSpPr txBox="1"/>
          <p:nvPr/>
        </p:nvSpPr>
        <p:spPr>
          <a:xfrm>
            <a:off x="8503920" y="5696712"/>
            <a:ext cx="3017520" cy="566928"/>
          </a:xfrm>
          <a:prstGeom prst="rect">
            <a:avLst/>
          </a:prstGeom>
          <a:noFill/>
        </p:spPr>
        <p:txBody>
          <a:bodyPr wrap="square">
            <a:spAutoFit/>
          </a:bodyPr>
          <a:lstStyle/>
          <a:p>
            <a:pPr algn="l">
              <a:lnSpc>
                <a:spcPct val="130000"/>
              </a:lnSpc>
              <a:spcAft>
                <a:spcPts val="0"/>
              </a:spcAft>
            </a:pPr>
            <a:r>
              <a:rPr sz="1100" b="0">
                <a:solidFill>
                  <a:srgbClr val="0E6E63"/>
                </a:solidFill>
                <a:latin typeface="Helvetica Neue"/>
              </a:rPr>
              <a:t>geoBoundaries, CC BY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66928"/>
            <a:ext cx="10637215" cy="274320"/>
          </a:xfrm>
          <a:prstGeom prst="rect">
            <a:avLst/>
          </a:prstGeom>
          <a:noFill/>
        </p:spPr>
        <p:txBody>
          <a:bodyPr wrap="square">
            <a:spAutoFit/>
          </a:bodyPr>
          <a:lstStyle/>
          <a:p>
            <a:pPr algn="l">
              <a:spcAft>
                <a:spcPts val="0"/>
              </a:spcAft>
            </a:pPr>
            <a:r>
              <a:rPr sz="1100" b="1" spc="160">
                <a:solidFill>
                  <a:srgbClr val="6F6D66"/>
                </a:solidFill>
                <a:latin typeface="Helvetica Neue"/>
              </a:rPr>
              <a:t>BACKUP · FOR QUESTIONS</a:t>
            </a:r>
          </a:p>
        </p:txBody>
      </p:sp>
      <p:sp>
        <p:nvSpPr>
          <p:cNvPr id="3" name="TextBox 2"/>
          <p:cNvSpPr txBox="1"/>
          <p:nvPr/>
        </p:nvSpPr>
        <p:spPr>
          <a:xfrm>
            <a:off x="777240" y="960120"/>
            <a:ext cx="10607040" cy="640080"/>
          </a:xfrm>
          <a:prstGeom prst="rect">
            <a:avLst/>
          </a:prstGeom>
          <a:noFill/>
        </p:spPr>
        <p:txBody>
          <a:bodyPr wrap="square">
            <a:spAutoFit/>
          </a:bodyPr>
          <a:lstStyle/>
          <a:p>
            <a:pPr algn="l">
              <a:spcAft>
                <a:spcPts val="0"/>
              </a:spcAft>
            </a:pPr>
            <a:r>
              <a:rPr sz="3000" b="0">
                <a:solidFill>
                  <a:srgbClr val="1A1D1B"/>
                </a:solidFill>
                <a:latin typeface="Georgia"/>
              </a:rPr>
              <a:t>How it is built.</a:t>
            </a:r>
          </a:p>
        </p:txBody>
      </p:sp>
      <p:sp>
        <p:nvSpPr>
          <p:cNvPr id="4" name="TextBox 3"/>
          <p:cNvSpPr txBox="1"/>
          <p:nvPr/>
        </p:nvSpPr>
        <p:spPr>
          <a:xfrm>
            <a:off x="777240" y="2011680"/>
            <a:ext cx="3291840" cy="2560320"/>
          </a:xfrm>
          <a:prstGeom prst="rect">
            <a:avLst/>
          </a:prstGeom>
          <a:noFill/>
        </p:spPr>
        <p:txBody>
          <a:bodyPr wrap="square">
            <a:spAutoFit/>
          </a:bodyPr>
          <a:lstStyle/>
          <a:p>
            <a:pPr algn="l">
              <a:spcAft>
                <a:spcPts val="1000"/>
              </a:spcAft>
            </a:pPr>
            <a:r>
              <a:rPr sz="1100" b="1" spc="160">
                <a:solidFill>
                  <a:srgbClr val="0E6E63"/>
                </a:solidFill>
                <a:latin typeface="Helvetica Neue"/>
              </a:rPr>
              <a:t>ARCHITECTURE</a:t>
            </a:r>
          </a:p>
          <a:p>
            <a:pPr>
              <a:lnSpc>
                <a:spcPct val="150000"/>
              </a:lnSpc>
              <a:spcAft>
                <a:spcPts val="0"/>
              </a:spcAft>
            </a:pPr>
            <a:r>
              <a:rPr sz="1400" b="0">
                <a:solidFill>
                  <a:srgbClr val="6F6D66"/>
                </a:solidFill>
                <a:latin typeface="Helvetica Neue"/>
              </a:rPr>
              <a:t>Pure rules engine with no framework, no I/O, no AI. Services depend on interfaces. An automated test fails the build if a layer imports upward.</a:t>
            </a:r>
          </a:p>
        </p:txBody>
      </p:sp>
      <p:sp>
        <p:nvSpPr>
          <p:cNvPr id="5" name="TextBox 4"/>
          <p:cNvSpPr txBox="1"/>
          <p:nvPr/>
        </p:nvSpPr>
        <p:spPr>
          <a:xfrm>
            <a:off x="4343400" y="2011680"/>
            <a:ext cx="3291840" cy="2560320"/>
          </a:xfrm>
          <a:prstGeom prst="rect">
            <a:avLst/>
          </a:prstGeom>
          <a:noFill/>
        </p:spPr>
        <p:txBody>
          <a:bodyPr wrap="square">
            <a:spAutoFit/>
          </a:bodyPr>
          <a:lstStyle/>
          <a:p>
            <a:pPr algn="l">
              <a:spcAft>
                <a:spcPts val="1000"/>
              </a:spcAft>
            </a:pPr>
            <a:r>
              <a:rPr sz="1100" b="1" spc="160">
                <a:solidFill>
                  <a:srgbClr val="0E6E63"/>
                </a:solidFill>
                <a:latin typeface="Helvetica Neue"/>
              </a:rPr>
              <a:t>DATA</a:t>
            </a:r>
          </a:p>
          <a:p>
            <a:pPr>
              <a:lnSpc>
                <a:spcPct val="150000"/>
              </a:lnSpc>
              <a:spcAft>
                <a:spcPts val="0"/>
              </a:spcAft>
            </a:pPr>
            <a:r>
              <a:rPr sz="1400" b="0">
                <a:solidFill>
                  <a:srgbClr val="6F6D66"/>
                </a:solidFill>
                <a:latin typeface="Helvetica Neue"/>
              </a:rPr>
              <a:t>Open-Meteo for all 260 districts, fetched concurrently and cached in Postgres. Photos in Cloudinary. Reports, stages and timelines persisted.</a:t>
            </a:r>
          </a:p>
        </p:txBody>
      </p:sp>
      <p:sp>
        <p:nvSpPr>
          <p:cNvPr id="6" name="TextBox 5"/>
          <p:cNvSpPr txBox="1"/>
          <p:nvPr/>
        </p:nvSpPr>
        <p:spPr>
          <a:xfrm>
            <a:off x="7909560" y="2011680"/>
            <a:ext cx="3291840" cy="2560320"/>
          </a:xfrm>
          <a:prstGeom prst="rect">
            <a:avLst/>
          </a:prstGeom>
          <a:noFill/>
        </p:spPr>
        <p:txBody>
          <a:bodyPr wrap="square">
            <a:spAutoFit/>
          </a:bodyPr>
          <a:lstStyle/>
          <a:p>
            <a:pPr algn="l">
              <a:spcAft>
                <a:spcPts val="1000"/>
              </a:spcAft>
            </a:pPr>
            <a:r>
              <a:rPr sz="1100" b="1" spc="160">
                <a:solidFill>
                  <a:srgbClr val="0E6E63"/>
                </a:solidFill>
                <a:latin typeface="Helvetica Neue"/>
              </a:rPr>
              <a:t>HONESTY</a:t>
            </a:r>
          </a:p>
          <a:p>
            <a:pPr>
              <a:lnSpc>
                <a:spcPct val="150000"/>
              </a:lnSpc>
              <a:spcAft>
                <a:spcPts val="0"/>
              </a:spcAft>
            </a:pPr>
            <a:r>
              <a:rPr sz="1400" b="0">
                <a:solidFill>
                  <a:srgbClr val="6F6D66"/>
                </a:solidFill>
                <a:latin typeface="Helvetica Neue"/>
              </a:rPr>
              <a:t>Twi wording is composed, never machine-translated, and carries a provenance field. Voice never reads a language the phone has no voice for.</a:t>
            </a:r>
          </a:p>
        </p:txBody>
      </p:sp>
      <p:sp>
        <p:nvSpPr>
          <p:cNvPr id="7" name="Rectangle 6"/>
          <p:cNvSpPr/>
          <p:nvPr/>
        </p:nvSpPr>
        <p:spPr>
          <a:xfrm>
            <a:off x="777240" y="4754880"/>
            <a:ext cx="10637215" cy="9525"/>
          </a:xfrm>
          <a:prstGeom prst="rect">
            <a:avLst/>
          </a:prstGeom>
          <a:solidFill>
            <a:srgbClr val="E4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983480"/>
            <a:ext cx="10637215" cy="1280160"/>
          </a:xfrm>
          <a:prstGeom prst="rect">
            <a:avLst/>
          </a:prstGeom>
          <a:noFill/>
        </p:spPr>
        <p:txBody>
          <a:bodyPr wrap="square">
            <a:spAutoFit/>
          </a:bodyPr>
          <a:lstStyle/>
          <a:p>
            <a:pPr algn="l">
              <a:spcAft>
                <a:spcPts val="800"/>
              </a:spcAft>
            </a:pPr>
            <a:r>
              <a:rPr sz="1600" b="1">
                <a:solidFill>
                  <a:srgbClr val="1A1D1B"/>
                </a:solidFill>
                <a:latin typeface="Helvetica Neue"/>
              </a:rPr>
              <a:t>Known limits, stated plainly.</a:t>
            </a:r>
          </a:p>
          <a:p>
            <a:pPr>
              <a:lnSpc>
                <a:spcPct val="145000"/>
              </a:lnSpc>
              <a:spcAft>
                <a:spcPts val="0"/>
              </a:spcAft>
            </a:pPr>
            <a:r>
              <a:rPr sz="1400" b="0">
                <a:solidFill>
                  <a:srgbClr val="6F6D66"/>
                </a:solidFill>
                <a:latin typeface="Helvetica Neue"/>
              </a:rPr>
              <a:t>The engine has not yet been backtested against DHIMS2 case data. That is the next piece of work, and it is the one that turns a defensible model into a validated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