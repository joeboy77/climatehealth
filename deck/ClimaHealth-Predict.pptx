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 sentence. Do not read the subtitle. Say: every agency here already has weather data. Nobody turns it into who gets sick, where, and when. That gap is the whole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lag window. This is the single idea the whole system rests on. Say the numbers out loud: two to six weeks for malaria. That is how much warning we can give.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credibility slide. Judges asked whether the prediction is real. Answer: deterministic rules from published thresholds, reproducible, explainable. The AI is a translator, not a decider. Say that sentence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figure, then the map, then the ranked list. Say: this is running against live Open-Meteo data for all 260 districts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the note about every agency seeing only health. Say: an air quality officer should not have to hunt for air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said institutional integration was unproven. This is the answer: a named role, a permission model, an append-only trail, and the citizen sees it close. Say: the agencies do not have to trust the app, they have to trust their own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short: fifteen seconds. The app is the reach story, not the technical one. If time is tight, this is the slide to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Kofi Mensah: 20 points to go. Say: that is one more day of use. This is the screen that makes the reward real to an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questioned reward feasibility directly. This slide is the rebuttal. Emphasise: we removed the cash payout entirely. There is nothing to fund and nothing to regulate. GHS already collects these premiums.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flagged USSD and SMS as not implemented. USSD now runs on Africa's Talking and answers a full dial-through. If asked, offer to show the terminal transcript in the backup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wins or loses it. Say the criticism out loud before the answer. Judges remember being listened to. Do not rush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 line, then stop talking. Let the numbers sit. Have the backup slides ready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if asked. Volunteering the DHIMS2 gap before being asked reads as confident; being caught without it reads as careless.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011680"/>
            <a:ext cx="106372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200" b="1" spc="220">
                <a:solidFill>
                  <a:srgbClr val="0E6E63"/>
                </a:solidFill>
                <a:latin typeface="Helvetica Neue"/>
              </a:rPr>
              <a:t>CLIMAHEALTH PREDICT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4600" b="0">
                <a:solidFill>
                  <a:srgbClr val="1A1D1B"/>
                </a:solidFill>
                <a:latin typeface="Georgia"/>
              </a:rPr>
              <a:t>Ghana knows the weather.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4600" b="0">
                <a:solidFill>
                  <a:srgbClr val="1A1D1B"/>
                </a:solidFill>
                <a:latin typeface="Georgia"/>
              </a:rPr>
              <a:t>It does not yet know what the weather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4600" b="0">
                <a:solidFill>
                  <a:srgbClr val="0E6E63"/>
                </a:solidFill>
                <a:latin typeface="Georgia"/>
              </a:rPr>
              <a:t>is about to do to people.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89204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A climate-health early-warning platform: it turns today's climate into a ranked, explained health warning for the weeks ahead.</a:t>
            </a:r>
          </a:p>
          <a:p>
            <a:pPr>
              <a:spcAft>
                <a:spcPts val="0"/>
              </a:spcAft>
            </a:pPr>
            <a:r>
              <a:rPr sz="1200" b="1" spc="140">
                <a:solidFill>
                  <a:srgbClr val="A8A59E"/>
                </a:solidFill>
                <a:latin typeface="Helvetica Neue"/>
              </a:rPr>
              <a:t>GreenRes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5852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800" b="0">
                <a:solidFill>
                  <a:srgbClr val="1A1D1B"/>
                </a:solidFill>
                <a:latin typeface="Georgia"/>
              </a:rPr>
              <a:t>Cases arrive weeks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3800" b="0">
                <a:solidFill>
                  <a:srgbClr val="1A1D1B"/>
                </a:solidFill>
                <a:latin typeface="Georgia"/>
              </a:rPr>
              <a:t>after the rain that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3800" b="0">
                <a:solidFill>
                  <a:srgbClr val="A32118"/>
                </a:solidFill>
                <a:latin typeface="Georgia"/>
              </a:rPr>
              <a:t>caused them.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That delay is not a problem. It is the opportunity. It is the only window in which a district can still act before people fall ill.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234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MALARIA</a:t>
            </a:r>
          </a:p>
          <a:p>
            <a:pPr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2 to 6 weeks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after rainfall and standing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CHOLERA</a:t>
            </a:r>
          </a:p>
          <a:p>
            <a:pPr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1 to 3 weeks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after flooding and unsafe water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520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MENINGITIS</a:t>
            </a:r>
          </a:p>
          <a:p>
            <a:pPr>
              <a:spcAft>
                <a:spcPts val="200"/>
              </a:spcAft>
            </a:pPr>
            <a:r>
              <a:rPr sz="2600" b="0">
                <a:solidFill>
                  <a:srgbClr val="0E6E63"/>
                </a:solidFill>
                <a:latin typeface="Georgia"/>
              </a:rPr>
              <a:t>2 to 8 weeks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after dry, dusty harmattan 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39496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Today Ghana reacts when the cases appear. The information to act earlier already exists.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HOW IT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0">
                <a:solidFill>
                  <a:srgbClr val="1A1D1B"/>
                </a:solidFill>
                <a:latin typeface="Georgia"/>
              </a:rPr>
              <a:t>The brain is a rules engine, not a guess.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Published epidemiological thresholds, evaluated the same way every time. Same inputs, same output. Every warning can name the conditions that caused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Open-Meteo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live climate for all 260 districts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A59E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Features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7-day rain, humidity, heat, dust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A59E"/>
                </a:solidFill>
                <a:latin typeface="Helvetica Neue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Pathways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one per disease, weighted 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8A59E"/>
                </a:solidFill>
                <a:latin typeface="Helvetica Neue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880360"/>
            <a:ext cx="2606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Ranked risk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level, score, lag window, reasons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70916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9377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AI never decides risk. It only phrases what the engine already decided, in English or Twi.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This is what makes the system defensible to a health ministry: an officer can ask why a district was flagged and get the exact thresholds back, not a model's opinion.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NATIONAL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51 of 260 districts are at high risk or above, today.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Every district evaluated against every pathway, ranked, and explained. This is live output, not a mock.</a:t>
            </a:r>
          </a:p>
        </p:txBody>
      </p:sp>
      <p:pic>
        <p:nvPicPr>
          <p:cNvPr id="4" name="Picture 3" descr="w1-na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965960"/>
            <a:ext cx="6656832" cy="4160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67431" y="1965960"/>
            <a:ext cx="6656832" cy="4160520"/>
          </a:xfrm>
          <a:prstGeom prst="rect">
            <a:avLst/>
          </a:prstGeom>
          <a:noFill/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8A59E"/>
                </a:solidFill>
                <a:latin typeface="Helvetica Neue"/>
              </a:rPr>
              <a:t>ClimaHealth Predict · Agency Command Platform · signed in as Ghana Health Service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ONE PLATFORM, FIVE MANDATES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Each agency opens on the layer it is responsible for.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EPA lands on dust and PM10. NADMO on rainfall. GMet on humidity. GHS on health risk. Same engine, same districts, different question.</a:t>
            </a:r>
          </a:p>
        </p:txBody>
      </p:sp>
      <p:pic>
        <p:nvPicPr>
          <p:cNvPr id="4" name="Picture 3" descr="w3-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965960"/>
            <a:ext cx="6656832" cy="4160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67431" y="1965960"/>
            <a:ext cx="6656832" cy="4160520"/>
          </a:xfrm>
          <a:prstGeom prst="rect">
            <a:avLst/>
          </a:prstGeom>
          <a:noFill/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8A59E"/>
                </a:solidFill>
                <a:latin typeface="Helvetica Neue"/>
              </a:rPr>
              <a:t>Signed in as Environmental Protection Agency · Dust &amp; PM10 layer active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INSTITUTIONAL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A report is a claim until somebody goes and looks.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Ɔhwɛfoɔ is an on-ground officer role in the platform. Validation and repair are different jobs held by different people, and neither can take the other's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Citizen reports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photo, location, note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Dawuro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Ɔhwɛfoɔ validates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goes to the site, confirms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25% →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Agency works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GHS, NADMO, EPA, Assembly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50% → 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651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6E63"/>
                </a:solidFill>
                <a:latin typeface="Georgia"/>
              </a:rPr>
              <a:t>04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Resolved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closed with what was done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E6E63"/>
                </a:solidFill>
                <a:latin typeface="Helvetica Neue"/>
              </a:rPr>
              <a:t>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7200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00600"/>
            <a:ext cx="106372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Every step is written down: who moved it, when, and what they found.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The person who filed the report watches the same bar the officers do. Reporting a hazard into a form that never answers is how people learn not to bother.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IN THE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Dawuro: the warning, the weather, and the reason.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Named after the gong-gong that has carried public warnings in Ghana for centuries. English and Twi, read aloud for anybody who cannot read the screen.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3080" y="2148840"/>
            <a:ext cx="1920240" cy="3657600"/>
          </a:xfrm>
          <a:prstGeom prst="rect">
            <a:avLst/>
          </a:prstGeom>
          <a:solidFill>
            <a:srgbClr val="F5F4F1"/>
          </a:solidFill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A8A59E"/>
                </a:solidFill>
                <a:latin typeface="Helvetica Neue"/>
              </a:rPr>
              <a:t>[ m1-home.png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5943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F6D66"/>
                </a:solidFill>
                <a:latin typeface="Helvetica Neue"/>
              </a:rPr>
              <a:t>Today's warning, with the conditions behind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2148840"/>
            <a:ext cx="1920240" cy="3657600"/>
          </a:xfrm>
          <a:prstGeom prst="rect">
            <a:avLst/>
          </a:prstGeom>
          <a:solidFill>
            <a:srgbClr val="F5F4F1"/>
          </a:solidFill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A8A59E"/>
                </a:solidFill>
                <a:latin typeface="Helvetica Neue"/>
              </a:rPr>
              <a:t>[ m2-quiz.png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5943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F6D66"/>
                </a:solidFill>
                <a:latin typeface="Helvetica Neue"/>
              </a:rPr>
              <a:t>The daily run: points, streak, and why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2148840"/>
            <a:ext cx="1920240" cy="3657600"/>
          </a:xfrm>
          <a:prstGeom prst="rect">
            <a:avLst/>
          </a:prstGeom>
          <a:solidFill>
            <a:srgbClr val="F5F4F1"/>
          </a:solidFill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A8A59E"/>
                </a:solidFill>
                <a:latin typeface="Helvetica Neue"/>
              </a:rPr>
              <a:t>[ m3-report.png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943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F6D66"/>
                </a:solidFill>
                <a:latin typeface="Helvetica Neue"/>
              </a:rPr>
              <a:t>What you reported, and how far it has got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THE RENEWAL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Ghana Health Service sees who has earned cover, and who is close.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Ranked by points, with the phone number to reach them on. Under-18s are flagged as already exempt rather than shown a target.</a:t>
            </a:r>
          </a:p>
        </p:txBody>
      </p:sp>
      <p:pic>
        <p:nvPicPr>
          <p:cNvPr id="4" name="Picture 3" descr="w2-renew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965960"/>
            <a:ext cx="6656832" cy="4160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67431" y="1965960"/>
            <a:ext cx="6656832" cy="4160520"/>
          </a:xfrm>
          <a:prstGeom prst="rect">
            <a:avLst/>
          </a:prstGeom>
          <a:noFill/>
          <a:ln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A8A59E"/>
                </a:solidFill>
                <a:latin typeface="Helvetica Neue"/>
              </a:rPr>
              <a:t>NHIS renewals · Ghana Health Service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REWARD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Points buy health cover,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3200" b="0">
                <a:solidFill>
                  <a:srgbClr val="0E6E63"/>
                </a:solidFill>
                <a:latin typeface="Georgia"/>
              </a:rPr>
              <a:t>not cash.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3,500 points is one year of NHIS cover. The number is derived, not chosen: the adult premium is about GHS 35, and the platform values a point at one pesewa.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600" b="1">
                <a:solidFill>
                  <a:srgbClr val="1A1D1B"/>
                </a:solidFill>
                <a:latin typeface="Helvetica Neue"/>
              </a:rPr>
              <a:t>No money leaves the platform. No float to hold, no payout licence, no transfer that cannot be recalled.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0" y="118872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0">
                <a:solidFill>
                  <a:srgbClr val="0E6E63"/>
                </a:solidFill>
                <a:latin typeface="Georgia"/>
              </a:rPr>
              <a:t>3,500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points for a year of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237744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0">
                <a:solidFill>
                  <a:srgbClr val="0E6E63"/>
                </a:solidFill>
                <a:latin typeface="Georgia"/>
              </a:rPr>
              <a:t>~35 days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of daily use to earn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566160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0">
                <a:solidFill>
                  <a:srgbClr val="0E6E63"/>
                </a:solidFill>
                <a:latin typeface="Georgia"/>
              </a:rPr>
              <a:t>0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cedis of platform liability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D1B"/>
                </a:solidFill>
                <a:latin typeface="Helvetica Neue"/>
              </a:rPr>
              <a:t>The platform never says a renewal happened.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6F6D66"/>
                </a:solidFill>
                <a:latin typeface="Helvetica Neue"/>
              </a:rPr>
              <a:t>It records who earned one and hands that to Ghana Health Service, who renew and confirm. Claiming otherwise would be the platform speaking for a government scheme.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A smartphone is not a requirement.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6F6D66"/>
                </a:solidFill>
                <a:latin typeface="Helvetica Neue"/>
              </a:rPr>
              <a:t>The people most exposed to climate-driven illness are the least likely to own one. Three front doors, one engine behind all of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D1B"/>
                </a:solidFill>
                <a:latin typeface="Georgia"/>
              </a:rPr>
              <a:t>Dawuro app</a:t>
            </a:r>
          </a:p>
          <a:p>
            <a:pPr>
              <a:spcAft>
                <a:spcPts val="1000"/>
              </a:spcAft>
            </a:pPr>
            <a:r>
              <a:rPr sz="1100" b="1" spc="140">
                <a:solidFill>
                  <a:srgbClr val="0E6E63"/>
                </a:solidFill>
                <a:latin typeface="Helvetica Neue"/>
              </a:rPr>
              <a:t>ANDROID AND IOS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Forecast, weather, daily quiz, hazard reporting with photo, progress on what you reported. English and Twi, read aloud.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26517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D1B"/>
                </a:solidFill>
                <a:latin typeface="Georgia"/>
              </a:rPr>
              <a:t>USSD</a:t>
            </a:r>
          </a:p>
          <a:p>
            <a:pPr>
              <a:spcAft>
                <a:spcPts val="1000"/>
              </a:spcAft>
            </a:pPr>
            <a:r>
              <a:rPr sz="1100" b="1" spc="140">
                <a:solidFill>
                  <a:srgbClr val="0E6E63"/>
                </a:solidFill>
                <a:latin typeface="Helvetica Neue"/>
              </a:rPr>
              <a:t>AFRICA'S TALKING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Any feature phone, no data, no app. Dial the shortcode, choose language and district, get today's warning.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6517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D1B"/>
                </a:solidFill>
                <a:latin typeface="Georgia"/>
              </a:rPr>
              <a:t>SMS</a:t>
            </a:r>
          </a:p>
          <a:p>
            <a:pPr>
              <a:spcAft>
                <a:spcPts val="1000"/>
              </a:spcAft>
            </a:pPr>
            <a:r>
              <a:rPr sz="1100" b="1" spc="140">
                <a:solidFill>
                  <a:srgbClr val="0E6E63"/>
                </a:solidFill>
                <a:latin typeface="Helvetica Neue"/>
              </a:rPr>
              <a:t>MOOLRE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Push warnings to a district when risk crosses the threshold, for people who never open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30352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USSD is built and answering: dial, choose English, choose region, choose district, get the warning.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WHAT YOU ASKED US LAST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A1D1B"/>
                </a:solidFill>
                <a:latin typeface="Georgia"/>
              </a:rPr>
              <a:t>Three criticisms, three answers.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A32118"/>
                </a:solidFill>
                <a:latin typeface="Helvetica Neue"/>
              </a:rPr>
              <a:t>Field validation unproven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Ɔhwɛfoɔ role: an officer stands where the report was filed and confirms it before any agency spends a truck. Every validation is signed and timestamped.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04495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A32118"/>
                </a:solidFill>
                <a:latin typeface="Helvetica Neue"/>
              </a:rPr>
              <a:t>Institutional integration unproven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2461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Reports move through named agency stages with a permission model. Role-scoped views for GHS, EPA, GMet, NADMO and the District Assembly.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62272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A32118"/>
                </a:solidFill>
                <a:latin typeface="Helvetica Neue"/>
              </a:rPr>
              <a:t>Reward feasibility unproven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6634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1A1D1B"/>
                </a:solidFill>
                <a:latin typeface="Helvetica Neue"/>
              </a:rPr>
              <a:t>Cash removed. Points buy NHIS cover at a rate derived from the real premium, issued by Ghana Health Service, not by 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2880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200" b="1" spc="220">
                <a:solidFill>
                  <a:srgbClr val="0E6E63"/>
                </a:solidFill>
                <a:latin typeface="Helvetica Neue"/>
              </a:rPr>
              <a:t>CLIMAHEALTH PREDICT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3600" b="0">
                <a:solidFill>
                  <a:srgbClr val="1A1D1B"/>
                </a:solidFill>
                <a:latin typeface="Georgia"/>
              </a:rPr>
              <a:t>The climate signal is already there.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3600" b="0">
                <a:solidFill>
                  <a:srgbClr val="1A1D1B"/>
                </a:solidFill>
                <a:latin typeface="Georgia"/>
              </a:rPr>
              <a:t>We turn it into a warning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600" b="0">
                <a:solidFill>
                  <a:srgbClr val="0E6E63"/>
                </a:solidFill>
                <a:latin typeface="Georgia"/>
              </a:rPr>
              <a:t>somebody can act 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57200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0E6E63"/>
                </a:solidFill>
                <a:latin typeface="Georgia"/>
              </a:rPr>
              <a:t>260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districts,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0E6E63"/>
                </a:solidFill>
                <a:latin typeface="Georgia"/>
              </a:rPr>
              <a:t>5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disease pathways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0E6E63"/>
                </a:solidFill>
                <a:latin typeface="Georgia"/>
              </a:rPr>
              <a:t>963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6F6D66"/>
                </a:solidFill>
                <a:latin typeface="Helvetica Neue"/>
              </a:rPr>
              <a:t>tests passing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60">
                <a:solidFill>
                  <a:srgbClr val="6F6D66"/>
                </a:solidFill>
                <a:latin typeface="Helvetica Neue"/>
              </a:rPr>
              <a:t>BACKUP · FOR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A1D1B"/>
                </a:solidFill>
                <a:latin typeface="Georgia"/>
              </a:rPr>
              <a:t>How it is built.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spc="160">
                <a:solidFill>
                  <a:srgbClr val="0E6E63"/>
                </a:solidFill>
                <a:latin typeface="Helvetica Neue"/>
              </a:rPr>
              <a:t>ARCHITECTURE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Pure rules engine with no framework, no I/O, no AI. Services depend on interfaces. An automated test fails the build if a layer imports upward.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spc="160">
                <a:solidFill>
                  <a:srgbClr val="0E6E63"/>
                </a:solidFill>
                <a:latin typeface="Helvetica Neue"/>
              </a:rPr>
              <a:t>DATA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Open-Meteo for all 260 districts, fetched concurrently and cached in Postgres. Photos in Cloudinary. Reports, stages and timelines persisted.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spc="160">
                <a:solidFill>
                  <a:srgbClr val="0E6E63"/>
                </a:solidFill>
                <a:latin typeface="Helvetica Neue"/>
              </a:rPr>
              <a:t>HONESTY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Twi wording is composed, never machine-translated, and carries a provenance field. Voice never reads a language the phone has no voice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54880"/>
            <a:ext cx="10637215" cy="9525"/>
          </a:xfrm>
          <a:prstGeom prst="rect">
            <a:avLst/>
          </a:prstGeom>
          <a:solidFill>
            <a:srgbClr val="E4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A1D1B"/>
                </a:solidFill>
                <a:latin typeface="Helvetica Neue"/>
              </a:rPr>
              <a:t>Known limits, stated plainly.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6F6D66"/>
                </a:solidFill>
                <a:latin typeface="Helvetica Neue"/>
              </a:rPr>
              <a:t>The engine has not yet been backtested against DHIMS2 case data. That is the next piece of work, and it is the one that turns a defensible model into a validated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